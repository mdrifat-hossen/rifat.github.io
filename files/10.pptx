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21"/>
  </p:notesMasterIdLst>
  <p:handoutMasterIdLst>
    <p:handoutMasterId r:id="rId22"/>
  </p:handoutMasterIdLst>
  <p:sldIdLst>
    <p:sldId id="256" r:id="rId2"/>
    <p:sldId id="318" r:id="rId3"/>
    <p:sldId id="319" r:id="rId4"/>
    <p:sldId id="305" r:id="rId5"/>
    <p:sldId id="320" r:id="rId6"/>
    <p:sldId id="322" r:id="rId7"/>
    <p:sldId id="321" r:id="rId8"/>
    <p:sldId id="323" r:id="rId9"/>
    <p:sldId id="342" r:id="rId10"/>
    <p:sldId id="341" r:id="rId11"/>
    <p:sldId id="340" r:id="rId12"/>
    <p:sldId id="339" r:id="rId13"/>
    <p:sldId id="338" r:id="rId14"/>
    <p:sldId id="337" r:id="rId15"/>
    <p:sldId id="336" r:id="rId16"/>
    <p:sldId id="335" r:id="rId17"/>
    <p:sldId id="334" r:id="rId18"/>
    <p:sldId id="333" r:id="rId19"/>
    <p:sldId id="31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000"/>
    <a:srgbClr val="454486"/>
    <a:srgbClr val="FAA41A"/>
    <a:srgbClr val="00A0E3"/>
    <a:srgbClr val="C81E8A"/>
    <a:srgbClr val="286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061" autoAdjust="0"/>
  </p:normalViewPr>
  <p:slideViewPr>
    <p:cSldViewPr snapToGrid="0">
      <p:cViewPr varScale="1">
        <p:scale>
          <a:sx n="77" d="100"/>
          <a:sy n="77" d="100"/>
        </p:scale>
        <p:origin x="1066" y="72"/>
      </p:cViewPr>
      <p:guideLst>
        <p:guide orient="horz" pos="2160"/>
        <p:guide pos="3840"/>
        <p:guide pos="7296"/>
        <p:guide orient="horz" pos="41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6" d="100"/>
          <a:sy n="76" d="100"/>
        </p:scale>
        <p:origin x="25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96EA6-6F25-4F19-87BA-7ADCC16DAEFF}" type="datetimeFigureOut">
              <a:rPr lang="en-US" smtClean="0"/>
              <a:pPr/>
              <a:t>9/18/2025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E50CC-F33A-4EF4-9F12-93EC4A21A0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C172E-A8B5-46F6-B05C-DFA3E2E0F207}" type="datetimeFigureOut">
              <a:rPr lang="en-US" smtClean="0"/>
              <a:pPr/>
              <a:t>9/18/2025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74CE4-FBD8-4481-AEFB-CA53E599A74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3" name="Rectangle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4" name="Rectangle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5" name="Rectangle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6" name="Rectangle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7" name="Rectangle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1" name="Rectangle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dirty="0"/>
              <a:t>Add a footer</a:t>
            </a:r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dirty="0"/>
              <a:t>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5pPr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/>
          <a:lstStyle>
            <a:lvl1pPr>
              <a:defRPr/>
            </a:lvl1pPr>
          </a:lstStyle>
          <a:p>
            <a:r>
              <a:rPr kumimoji="0" lang="en-US" dirty="0"/>
              <a:t>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/>
          <a:lstStyle>
            <a:lvl5pPr>
              <a:defRPr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0" name="Rectangle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1" name="Rectangle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2" name="Rectangle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9469714-8E3D-B880-07E6-6653E38116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sp>
        <p:nvSpPr>
          <p:cNvPr id="18" name="Freeform 5">
            <a:extLst>
              <a:ext uri="{FF2B5EF4-FFF2-40B4-BE49-F238E27FC236}">
                <a16:creationId xmlns:a16="http://schemas.microsoft.com/office/drawing/2014/main" id="{955EEA55-CBB0-9819-77D7-A383AD5922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41273" y="6014553"/>
            <a:ext cx="630587" cy="157647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0" name="AutoShape 5">
            <a:extLst>
              <a:ext uri="{FF2B5EF4-FFF2-40B4-BE49-F238E27FC236}">
                <a16:creationId xmlns:a16="http://schemas.microsoft.com/office/drawing/2014/main" id="{25C60911-8721-C876-F3B7-F30583B50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8372" y="4350123"/>
            <a:ext cx="11244902" cy="0"/>
          </a:xfrm>
          <a:prstGeom prst="line">
            <a:avLst/>
          </a:prstGeom>
          <a:ln w="38100" cap="flat">
            <a:solidFill>
              <a:srgbClr val="1772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D801C05-9BDF-1C3C-CF6A-19A01A73576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25651"/>
            <a:chOff x="0" y="0"/>
            <a:chExt cx="12192000" cy="625651"/>
          </a:xfrm>
        </p:grpSpPr>
        <p:sp>
          <p:nvSpPr>
            <p:cNvPr id="22" name="Flowchart: Process 21">
              <a:extLst>
                <a:ext uri="{FF2B5EF4-FFF2-40B4-BE49-F238E27FC236}">
                  <a16:creationId xmlns:a16="http://schemas.microsoft.com/office/drawing/2014/main" id="{2BACE5DC-8689-EC2D-4CE4-8E173E7566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441885"/>
            </a:xfrm>
            <a:prstGeom prst="flowChartProcess">
              <a:avLst/>
            </a:prstGeom>
            <a:solidFill>
              <a:srgbClr val="FAA4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lowchart: Process 22">
              <a:extLst>
                <a:ext uri="{FF2B5EF4-FFF2-40B4-BE49-F238E27FC236}">
                  <a16:creationId xmlns:a16="http://schemas.microsoft.com/office/drawing/2014/main" id="{C1611C6D-11C4-B6F2-4086-A5A27FBC5E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9086" y="441885"/>
              <a:ext cx="4992913" cy="183766"/>
            </a:xfrm>
            <a:prstGeom prst="flowChartProcess">
              <a:avLst/>
            </a:prstGeom>
            <a:solidFill>
              <a:srgbClr val="4544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4DCFF666-11C7-6A44-EA7D-FF3285909D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67" y="4652664"/>
            <a:ext cx="1700983" cy="1700983"/>
          </a:xfrm>
          <a:prstGeom prst="rect">
            <a:avLst/>
          </a:prstGeom>
        </p:spPr>
      </p:pic>
      <p:sp>
        <p:nvSpPr>
          <p:cNvPr id="28" name="Subtitle 2"/>
          <p:cNvSpPr txBox="1">
            <a:spLocks/>
          </p:cNvSpPr>
          <p:nvPr/>
        </p:nvSpPr>
        <p:spPr>
          <a:xfrm>
            <a:off x="2327448" y="4805804"/>
            <a:ext cx="8193686" cy="1832024"/>
          </a:xfrm>
          <a:prstGeom prst="rect">
            <a:avLst/>
          </a:prstGeom>
        </p:spPr>
        <p:txBody>
          <a:bodyPr>
            <a:no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>
                  <a:lumMod val="75000"/>
                </a:schemeClr>
              </a:buClr>
              <a:buFont typeface="Georgia"/>
              <a:buChar char="•"/>
              <a:defRPr kumimoji="0"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>
                  <a:lumMod val="75000"/>
                </a:schemeClr>
              </a:buClr>
              <a:buFont typeface="Georgia"/>
              <a:buChar char="▫"/>
              <a:defRPr kumimoji="0"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lnSpc>
                <a:spcPct val="11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Garamond" pitchFamily="18" charset="0"/>
              </a:rPr>
              <a:t>Md. Rifat Hossen</a:t>
            </a:r>
            <a:br>
              <a:rPr lang="en-US" sz="2200" b="1" dirty="0">
                <a:solidFill>
                  <a:srgbClr val="000000"/>
                </a:solidFill>
                <a:latin typeface="Garamond" pitchFamily="18" charset="0"/>
              </a:rPr>
            </a:br>
            <a:r>
              <a:rPr lang="en-US" sz="2200" b="1" dirty="0">
                <a:solidFill>
                  <a:srgbClr val="000000"/>
                </a:solidFill>
                <a:latin typeface="Garamond" pitchFamily="18" charset="0"/>
              </a:rPr>
              <a:t>Department of Information and Communication Engineering.</a:t>
            </a:r>
          </a:p>
          <a:p>
            <a:pPr marL="109728" indent="0">
              <a:lnSpc>
                <a:spcPct val="11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Garamond" pitchFamily="18" charset="0"/>
              </a:rPr>
              <a:t>Pabna University of Science and Technology, Pabna, Bangladesh.</a:t>
            </a:r>
          </a:p>
        </p:txBody>
      </p:sp>
      <p:sp>
        <p:nvSpPr>
          <p:cNvPr id="29" name="Title 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0567" y="3548290"/>
            <a:ext cx="1364384" cy="62132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002060"/>
                </a:solidFill>
                <a:latin typeface="Garamond" pitchFamily="18" charset="0"/>
              </a:rPr>
              <a:t>Topic:</a:t>
            </a:r>
            <a:endParaRPr lang="en-US" b="1" dirty="0">
              <a:solidFill>
                <a:srgbClr val="002060"/>
              </a:solidFill>
              <a:latin typeface="Baskerville Old Face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723717-82FC-4CCE-FF24-8E793EF5080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0566" y="3009534"/>
            <a:ext cx="1859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Paper ID: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2A9F14B-158E-A713-935C-C186A9DDAC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50520" y="904070"/>
            <a:ext cx="1285237" cy="53839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FF75EB1-B75A-7055-AEB4-E2666B879C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01012" y="1083670"/>
            <a:ext cx="753324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BIM 2025 3rd International Conference on Big Data, IoT and Machine Learning</a:t>
            </a:r>
            <a:endParaRPr lang="en-US" sz="2850" b="1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64755C-015B-0675-D16D-F3CE1708D0FD}"/>
              </a:ext>
            </a:extLst>
          </p:cNvPr>
          <p:cNvSpPr txBox="1">
            <a:spLocks/>
          </p:cNvSpPr>
          <p:nvPr/>
        </p:nvSpPr>
        <p:spPr>
          <a:xfrm>
            <a:off x="2148132" y="2033231"/>
            <a:ext cx="723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Bahnschrift" panose="020B0502040204020203" pitchFamily="34" charset="0"/>
                <a:cs typeface="Poppins" panose="00000500000000000000" pitchFamily="2" charset="0"/>
              </a:rPr>
              <a:t>Dhaka Internation University, Dhaka</a:t>
            </a:r>
            <a:r>
              <a:rPr lang="en-GB" sz="1800" dirty="0">
                <a:latin typeface="Bahnschrift" panose="020B0502040204020203" pitchFamily="34" charset="0"/>
                <a:cs typeface="Poppins" panose="00000500000000000000" pitchFamily="2" charset="0"/>
              </a:rPr>
              <a:t>, Bangladesh</a:t>
            </a:r>
          </a:p>
          <a:p>
            <a:pPr algn="ctr"/>
            <a:r>
              <a:rPr lang="en-GB" dirty="0">
                <a:latin typeface="Bahnschrift" panose="020B0502040204020203" pitchFamily="34" charset="0"/>
                <a:cs typeface="Poppins" panose="00000500000000000000" pitchFamily="2" charset="0"/>
              </a:rPr>
              <a:t> 25</a:t>
            </a:r>
            <a:r>
              <a:rPr lang="en-GB" baseline="30000" dirty="0">
                <a:latin typeface="Bahnschrift" panose="020B0502040204020203" pitchFamily="34" charset="0"/>
                <a:cs typeface="Poppins" panose="00000500000000000000" pitchFamily="2" charset="0"/>
              </a:rPr>
              <a:t>th  </a:t>
            </a:r>
            <a:r>
              <a:rPr lang="en-GB" dirty="0">
                <a:latin typeface="Bahnschrift" panose="020B0502040204020203" pitchFamily="34" charset="0"/>
                <a:cs typeface="Poppins" panose="00000500000000000000" pitchFamily="2" charset="0"/>
              </a:rPr>
              <a:t>- 27</a:t>
            </a:r>
            <a:r>
              <a:rPr lang="en-GB" baseline="30000" dirty="0">
                <a:latin typeface="Bahnschrift" panose="020B0502040204020203" pitchFamily="34" charset="0"/>
                <a:cs typeface="Poppins" panose="00000500000000000000" pitchFamily="2" charset="0"/>
              </a:rPr>
              <a:t>th </a:t>
            </a:r>
            <a:r>
              <a:rPr lang="en-GB" dirty="0">
                <a:latin typeface="Bahnschrift" panose="020B0502040204020203" pitchFamily="34" charset="0"/>
                <a:cs typeface="Poppins" panose="00000500000000000000" pitchFamily="2" charset="0"/>
              </a:rPr>
              <a:t> September 2025</a:t>
            </a:r>
            <a:endParaRPr lang="en-US" sz="1800" dirty="0">
              <a:latin typeface="Bahnschrift" panose="020B0502040204020203" pitchFamily="34" charset="0"/>
              <a:cs typeface="Poppins" panose="000005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B2E8D1-7F04-8869-F69E-F91CAEEFFB7C}"/>
              </a:ext>
            </a:extLst>
          </p:cNvPr>
          <p:cNvSpPr txBox="1"/>
          <p:nvPr/>
        </p:nvSpPr>
        <p:spPr>
          <a:xfrm>
            <a:off x="1970283" y="3028829"/>
            <a:ext cx="26026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Garamond" pitchFamily="18" charset="0"/>
              </a:rPr>
              <a:t>10</a:t>
            </a:r>
            <a:endParaRPr lang="en-US" sz="3200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45951AEC-3C41-58F7-03F4-F7EF708A2621}"/>
              </a:ext>
            </a:extLst>
          </p:cNvPr>
          <p:cNvSpPr txBox="1">
            <a:spLocks/>
          </p:cNvSpPr>
          <p:nvPr/>
        </p:nvSpPr>
        <p:spPr>
          <a:xfrm>
            <a:off x="1390382" y="3651319"/>
            <a:ext cx="10661051" cy="1088641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300" b="1" dirty="0">
                <a:solidFill>
                  <a:srgbClr val="002060"/>
                </a:solidFill>
                <a:latin typeface="Garamond" pitchFamily="18" charset="0"/>
              </a:rPr>
              <a:t>Evaluation Targeted Productivity in Bangladesh’s Garment Sector Using Machine Learning and Deep Learning with Explainable AI: A Data-Driven Method for Enhanced Production Planning</a:t>
            </a:r>
            <a:endParaRPr lang="en-US" sz="2300" b="1" dirty="0">
              <a:solidFill>
                <a:srgbClr val="002060"/>
              </a:solidFill>
              <a:latin typeface="Baskerville Old Face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09844E-52C7-8D54-CBBC-A5C720CC69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372" y="611103"/>
            <a:ext cx="1468003" cy="14680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129701-2010-BAB3-1209-71693D63C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8EBC9A-456C-E4E1-4906-C7272EB36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94" y="425835"/>
            <a:ext cx="960998" cy="960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2D4944C-7CC5-519E-1A86-C5476A2F5E05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University, Dhaka,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F1DFE6EF-2074-2E52-2644-32BD1D97CF6D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8C14C1AD-B90A-26BB-B0FF-7499B4225B2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31D74EE7-EE12-B2EF-F421-6F92F6F776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E782BB2C-D48F-C77F-2B1F-505DA21DDC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FB967855-C455-9900-5420-89C0D4FC52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ADC15B-F18B-5986-2461-6E96C564F8A6}"/>
              </a:ext>
            </a:extLst>
          </p:cNvPr>
          <p:cNvSpPr txBox="1"/>
          <p:nvPr/>
        </p:nvSpPr>
        <p:spPr>
          <a:xfrm>
            <a:off x="3905416" y="699213"/>
            <a:ext cx="4735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AFF45A-ED77-D1BA-ED4F-33FC06E1C8D9}"/>
              </a:ext>
            </a:extLst>
          </p:cNvPr>
          <p:cNvSpPr txBox="1"/>
          <p:nvPr/>
        </p:nvSpPr>
        <p:spPr>
          <a:xfrm>
            <a:off x="314371" y="1722120"/>
            <a:ext cx="11601277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Garment Industry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backbone of Bangladesh’s economy, contributing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80%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export earnings and employing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planning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crucial but often relies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judgment,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leading to unrealistic targets and inefficiency.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Research: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present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framework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Machine Learning, Deep Learning, and Explainable AI to predict targeted productivity, enabling smarter, Transparent planning accurately.</a:t>
            </a:r>
          </a:p>
        </p:txBody>
      </p:sp>
    </p:spTree>
    <p:extLst>
      <p:ext uri="{BB962C8B-B14F-4D97-AF65-F5344CB8AC3E}">
        <p14:creationId xmlns:p14="http://schemas.microsoft.com/office/powerpoint/2010/main" val="3430100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5C8A89-0575-ABD0-41D1-36F8D8A23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FDE61-5EF9-FBCD-61F0-1EDD06BF5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94" y="425835"/>
            <a:ext cx="960998" cy="960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B59BF41-31AD-D6CC-3DDA-96F978E87D3B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University, Dhaka,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CE75A531-862F-3B05-3F1F-EB7156FCE7EB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4E72FCC2-DADE-6257-1C58-ED0A0AC1405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13DE07CB-C357-B368-14E2-C5E85F66A51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Times New Roman" panose="02020603050405020304" pitchFamily="18" charset="0"/>
                  <a:ea typeface="Gotham"/>
                  <a:cs typeface="Times New Roman" panose="02020603050405020304" pitchFamily="18" charset="0"/>
                  <a:sym typeface="Gotham"/>
                </a:rPr>
                <a:t>1</a:t>
              </a:r>
            </a:p>
          </p:txBody>
        </p:sp>
      </p:grp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1E224FD1-1824-B579-3F16-E25A7E7CBF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0EDB9090-955A-181A-497D-7B1DC8364E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697767-9E02-2183-1479-9560C28FEB3C}"/>
              </a:ext>
            </a:extLst>
          </p:cNvPr>
          <p:cNvSpPr txBox="1"/>
          <p:nvPr/>
        </p:nvSpPr>
        <p:spPr>
          <a:xfrm>
            <a:off x="1561660" y="625651"/>
            <a:ext cx="93379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(The Challenge: Manual vs Data-Driven Targets)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7D4D56-6DAF-CF4D-F0EC-64B206724BF0}"/>
              </a:ext>
            </a:extLst>
          </p:cNvPr>
          <p:cNvSpPr txBox="1"/>
          <p:nvPr/>
        </p:nvSpPr>
        <p:spPr>
          <a:xfrm>
            <a:off x="807720" y="1493520"/>
            <a:ext cx="11343640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Practice is that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managers set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“Targeted Productivity”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experience and manual estimates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manual process is-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Influenced by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personal judgment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Inaccuracies often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ignore real-time operational data (SVM, WIP, Idle time)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unrealistic goals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wasted resources, and missed deadlines.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Previous work focused on predicting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productivity. Predicting the optimal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itself remains an under-explored challenge critical for effective planning.</a:t>
            </a: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D8CD33-AC4D-0712-3CEF-0A4BCD009419}"/>
              </a:ext>
            </a:extLst>
          </p:cNvPr>
          <p:cNvSpPr txBox="1"/>
          <p:nvPr/>
        </p:nvSpPr>
        <p:spPr>
          <a:xfrm>
            <a:off x="346131" y="5850447"/>
            <a:ext cx="4701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SMV -Standard Minute Value for a specific task</a:t>
            </a:r>
          </a:p>
          <a:p>
            <a:r>
              <a:rPr lang="en-US" sz="1000" i="1" dirty="0"/>
              <a:t>WIP- Work in Progress</a:t>
            </a:r>
          </a:p>
        </p:txBody>
      </p:sp>
    </p:spTree>
    <p:extLst>
      <p:ext uri="{BB962C8B-B14F-4D97-AF65-F5344CB8AC3E}">
        <p14:creationId xmlns:p14="http://schemas.microsoft.com/office/powerpoint/2010/main" val="3092907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97A1EC-F37F-C860-F24F-AC8E294F9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94" y="425835"/>
            <a:ext cx="960998" cy="9609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6BF4A8-D391-B3E1-8172-B3C2EA424BFD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University, Dhaka,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443D8BA2-03A0-6336-CE74-6A43CBCE6B01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ECABB491-5EAB-7C54-3ED9-97C6D6056F4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947BAC2F-2E4D-0802-2B20-CF13EC498CB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B7EA9F02-9350-8DA8-7B49-439BB52C51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12836029-CB8D-97B0-1FE7-90E088CCB5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4F6747-D394-52E6-E19F-8470FDD98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812237"/>
              </p:ext>
            </p:extLst>
          </p:nvPr>
        </p:nvGraphicFramePr>
        <p:xfrm>
          <a:off x="259079" y="1424007"/>
          <a:ext cx="11311536" cy="4275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7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7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7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61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Study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Contribution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Limitation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Our Difference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179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Begum et al. [7]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800"/>
                        <a:t>Hybrid model (Decision Tree + CatBoost) with preprocessing for predicting actual productivity.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Focused on actual, not targeted, productivity. </a:t>
                      </a:r>
                      <a:r>
                        <a:rPr sz="1800" b="1" dirty="0"/>
                        <a:t>No interpretability (XAI).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We </a:t>
                      </a:r>
                      <a:r>
                        <a:rPr sz="1800" b="1" dirty="0"/>
                        <a:t>predict the target and use XAI t</a:t>
                      </a:r>
                      <a:r>
                        <a:rPr sz="1800" dirty="0"/>
                        <a:t>o explain why a target is set.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179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800"/>
                        <a:t>Biswas et al. [8]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800"/>
                        <a:t>Predicted actual productivity and used optimization (Particle Filter) for incentive and overtime.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Complex optimization, not easily deployable</a:t>
                      </a:r>
                      <a:r>
                        <a:rPr sz="1800" b="1" dirty="0"/>
                        <a:t>. No explainability.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We directly predict the target and </a:t>
                      </a:r>
                      <a:r>
                        <a:rPr sz="1800" b="1" dirty="0"/>
                        <a:t>use SHAP/LIME for transparency.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179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800"/>
                        <a:t>Imran et al. [10] &amp; Goyzueta et al. [12]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800"/>
                        <a:t>[10] DNN lowers error for actual productivity. [12] XGBoost outperforms traditional methods.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Focused only on actual productivity post-operation. </a:t>
                      </a:r>
                      <a:r>
                        <a:rPr sz="1800" b="1" dirty="0"/>
                        <a:t>Did not use DL for target setting.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We apply </a:t>
                      </a:r>
                      <a:r>
                        <a:rPr sz="1800" b="1" dirty="0"/>
                        <a:t>Neural Network + XAI</a:t>
                      </a:r>
                      <a:r>
                        <a:rPr sz="1800" dirty="0"/>
                        <a:t> for targeted productivity prediction, bridging planning and execution.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A2B9E64-9256-FF4C-3246-8B33C86D2BA6}"/>
              </a:ext>
            </a:extLst>
          </p:cNvPr>
          <p:cNvSpPr txBox="1"/>
          <p:nvPr/>
        </p:nvSpPr>
        <p:spPr>
          <a:xfrm>
            <a:off x="4139979" y="400581"/>
            <a:ext cx="4663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Related Work</a:t>
            </a:r>
          </a:p>
        </p:txBody>
      </p:sp>
    </p:spTree>
    <p:extLst>
      <p:ext uri="{BB962C8B-B14F-4D97-AF65-F5344CB8AC3E}">
        <p14:creationId xmlns:p14="http://schemas.microsoft.com/office/powerpoint/2010/main" val="45842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D05665-5805-A170-1D93-002C521EB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3BC641-3664-566A-5346-F0C8EFE9E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94" y="425835"/>
            <a:ext cx="960998" cy="960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72E17FA-5A3B-994A-85C1-48FFC6C2D900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University, Dhaka,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074F00BF-0095-2FF0-F383-57010145F892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39A4D3CF-BFCB-1ED8-5E24-2B448B549BB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41A41100-7705-473F-EB75-A8E01384D56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F1CF517B-8F90-09BD-02E6-6B43833C4D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9CC3A0DE-CB5E-D224-EF5A-F0D72D90E4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91AEB0-CD89-6B4B-53A1-7DF10AB72FEC}"/>
              </a:ext>
            </a:extLst>
          </p:cNvPr>
          <p:cNvSpPr txBox="1"/>
          <p:nvPr/>
        </p:nvSpPr>
        <p:spPr>
          <a:xfrm>
            <a:off x="3992880" y="778978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Research Questions</a:t>
            </a:r>
            <a:endParaRPr lang="en-US" sz="3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232BA7-AF48-1C71-84FC-BA3FC8FA81C7}"/>
              </a:ext>
            </a:extLst>
          </p:cNvPr>
          <p:cNvSpPr txBox="1"/>
          <p:nvPr/>
        </p:nvSpPr>
        <p:spPr>
          <a:xfrm>
            <a:off x="502920" y="1615440"/>
            <a:ext cx="1121664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Machine and Deep Learning models accurately predict targeted productivity in the garment sector using operational data?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model architecture delivers the best performance for this prediction task?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Explainable AI (XAI) techniques make the model's predictions interpretable and actionable for factory managers?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397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EB2DD5-2913-86D7-4DB2-7E2810DE5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26B232-9E1C-22BA-9DE6-16F7DF137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94" y="425835"/>
            <a:ext cx="960998" cy="960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3E15E5B-94DA-F3A5-2737-7063901B3286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University, Dhaka,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D7D522BD-49B2-6F22-A46F-0A4ACC891741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CB2761FA-2141-65B9-70E2-F2BF50C68C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0B627025-1C2E-0316-822A-D0677F8536B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AEED3CE4-54F6-96AE-44A2-143872F80E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6DA3E3C0-C77D-8A80-1CFF-44CE3984B8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53B134-06AE-3F57-1FEF-54C2EE5A3C82}"/>
              </a:ext>
            </a:extLst>
          </p:cNvPr>
          <p:cNvSpPr txBox="1"/>
          <p:nvPr/>
        </p:nvSpPr>
        <p:spPr>
          <a:xfrm>
            <a:off x="3840480" y="662825"/>
            <a:ext cx="4511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EAFDDA-9A5A-A4F7-22C7-B217EC8E0DCD}"/>
              </a:ext>
            </a:extLst>
          </p:cNvPr>
          <p:cNvSpPr txBox="1"/>
          <p:nvPr/>
        </p:nvSpPr>
        <p:spPr>
          <a:xfrm>
            <a:off x="1013792" y="1798320"/>
            <a:ext cx="106752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and compare ML/DL models for predicting targeted productivity.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most influential operational features driving productivity targets.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XAI tools (SHAP and LIME) to interpret and validate the model's predictions.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transparent, data-driven framework for setting realistic production goals.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330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3F4167-2AEB-170F-B921-78E70F0E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CD96FC-5BD2-EE14-5B9A-0898C8CCC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94" y="425835"/>
            <a:ext cx="960998" cy="960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36D155B-0159-D0E7-29DD-F37378C501D2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University, Dhaka,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D8580182-62CE-7938-A5FD-7EDE4A8E5646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5B6BDF65-812A-1597-0360-4F57ED871D6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60C49491-CCEA-FFFB-62D9-96B0CB6E04D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002B874F-D32D-678A-58A9-AD26267BA1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ECD0EBBD-FE6D-A4A0-2E51-EF74BE1D13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01BD3E-21D7-8C03-4482-2B1CB3180294}"/>
              </a:ext>
            </a:extLst>
          </p:cNvPr>
          <p:cNvSpPr txBox="1"/>
          <p:nvPr/>
        </p:nvSpPr>
        <p:spPr>
          <a:xfrm>
            <a:off x="2796540" y="699504"/>
            <a:ext cx="6263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Outcomes and Impacts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ABDBEF-A7D7-7DF9-1718-EA4A389932FA}"/>
              </a:ext>
            </a:extLst>
          </p:cNvPr>
          <p:cNvSpPr txBox="1"/>
          <p:nvPr/>
        </p:nvSpPr>
        <p:spPr>
          <a:xfrm>
            <a:off x="1158240" y="1706880"/>
            <a:ext cx="10757408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A Neural Network model achieving </a:t>
            </a:r>
            <a:r>
              <a:rPr lang="en-US" sz="2400" b="1" dirty="0"/>
              <a:t>R² = 0.987</a:t>
            </a:r>
            <a:r>
              <a:rPr lang="en-US" sz="2400" dirty="0"/>
              <a:t>, significantly outperforming traditional methods.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 Identification of key drivers: </a:t>
            </a:r>
            <a:r>
              <a:rPr lang="en-US" sz="2400" b="1" dirty="0"/>
              <a:t>SMV, Idle Men, and Style Changes</a:t>
            </a:r>
            <a:r>
              <a:rPr lang="en-US" sz="24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XAI integration provides clear explanations for every prediction, building trust.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Enables managers to set </a:t>
            </a:r>
            <a:r>
              <a:rPr lang="en-US" sz="2400" b="1" dirty="0"/>
              <a:t>realistic, optimized targets</a:t>
            </a:r>
            <a:r>
              <a:rPr lang="en-US" sz="2400" dirty="0"/>
              <a:t>, reducing inefficiency and improving resource allocation.</a:t>
            </a:r>
          </a:p>
        </p:txBody>
      </p:sp>
    </p:spTree>
    <p:extLst>
      <p:ext uri="{BB962C8B-B14F-4D97-AF65-F5344CB8AC3E}">
        <p14:creationId xmlns:p14="http://schemas.microsoft.com/office/powerpoint/2010/main" val="2651760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EC16DE-AB41-70C1-47D0-859F073FC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C0816-C98D-0F4E-7632-B86502579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94" y="425835"/>
            <a:ext cx="960998" cy="960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A6BB838-0342-02D9-066B-A9783F7CE6FF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University, Dhaka,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A18ED4EF-E85A-E8DA-97E9-2C8AA2A41279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B40C6A3F-E9AE-66DC-BF0B-AC9D83EFAC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F2F06A26-5A11-BD1E-2871-2C089CD6AD3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31608929-8FA6-1380-00BE-FACF582302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31B28BCC-8593-A548-9942-32A9FD3DF2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6AFC54-E8AD-DE47-F30D-FC163394E676}"/>
              </a:ext>
            </a:extLst>
          </p:cNvPr>
          <p:cNvSpPr txBox="1"/>
          <p:nvPr/>
        </p:nvSpPr>
        <p:spPr>
          <a:xfrm>
            <a:off x="3853889" y="729693"/>
            <a:ext cx="6097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Methodology</a:t>
            </a:r>
            <a:endParaRPr lang="en-US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EB10EF-CEB0-98BC-4EFE-6043D6E4EDBD}"/>
              </a:ext>
            </a:extLst>
          </p:cNvPr>
          <p:cNvSpPr txBox="1"/>
          <p:nvPr/>
        </p:nvSpPr>
        <p:spPr>
          <a:xfrm>
            <a:off x="706781" y="1319436"/>
            <a:ext cx="10832076" cy="4890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"Productivity Prediction of Garment Employees" dataset from Kaggle (1197 instances, 15 attributes). We also collect similar data (350 cases, 15 attributes) from Square Food and beverage.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Values: Interpolation.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Removal: Using IQR method.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Encoding: Label Encoding for categorical variables.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Scaling: Standardization (Z-score normalization).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94E6F-FE94-4169-BA8E-EA7064B000A1}"/>
              </a:ext>
            </a:extLst>
          </p:cNvPr>
          <p:cNvSpPr txBox="1"/>
          <p:nvPr/>
        </p:nvSpPr>
        <p:spPr>
          <a:xfrm>
            <a:off x="52794" y="6005196"/>
            <a:ext cx="49133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[https://www.kaggle.com/datasets/ishadss/productivity-prediction-ofgarment-employees</a:t>
            </a:r>
          </a:p>
        </p:txBody>
      </p:sp>
    </p:spTree>
    <p:extLst>
      <p:ext uri="{BB962C8B-B14F-4D97-AF65-F5344CB8AC3E}">
        <p14:creationId xmlns:p14="http://schemas.microsoft.com/office/powerpoint/2010/main" val="97090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8FC5CA-46FF-9CCA-9934-7DCB28A6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F51E19-6789-0259-15B9-4A891B24E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94" y="425835"/>
            <a:ext cx="960998" cy="960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AF0A9C4-96AB-7045-8DA6-AE561807D3E0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University, Dhaka,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D4442464-B2D6-7A7E-062D-27542EBBCFE9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2D7BEDBC-2061-B289-EF2E-62526111DD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3C2EDEF1-5F27-1F6B-796A-F66E0E5C2BC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3CFA1836-04B9-A64D-5C54-547C85BA16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1837616B-4016-104B-0653-665EEA3582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9A07262-224E-0D59-95B4-63D80FEC6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92" y="1557651"/>
            <a:ext cx="6538067" cy="4486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D268F0B-1C18-EED9-F6F2-42FD1A57D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522" y="1526910"/>
            <a:ext cx="4857478" cy="4117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0CF7D0-FE81-F027-1B12-1E97EDF0151F}"/>
              </a:ext>
            </a:extLst>
          </p:cNvPr>
          <p:cNvSpPr txBox="1"/>
          <p:nvPr/>
        </p:nvSpPr>
        <p:spPr>
          <a:xfrm>
            <a:off x="2642724" y="640404"/>
            <a:ext cx="7120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Methodology: Models and Evaluation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56560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1CA9A4-68B6-31CB-CD3E-3DD6A2A22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9294C8-8F5C-BC62-7F8E-922DB9694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94" y="425835"/>
            <a:ext cx="960998" cy="960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A6592C-306A-EF65-F112-5B1808F7C389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University, Dhaka,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4CE9FA29-BE22-209E-ABD6-0A8BFBFCDA03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686BD046-2E93-63BE-66E5-66C2646AC11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B8BAA6AB-B8A4-1270-68F4-03E82EE1926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2C1A673F-2293-9F0A-ECB4-61DECE1086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B97B3067-1B66-7737-7371-A70AB4C977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72BA5E-399B-102C-D482-D03EE36879EC}"/>
              </a:ext>
            </a:extLst>
          </p:cNvPr>
          <p:cNvSpPr txBox="1"/>
          <p:nvPr/>
        </p:nvSpPr>
        <p:spPr>
          <a:xfrm>
            <a:off x="2484120" y="621971"/>
            <a:ext cx="7912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Model Interpretability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65BD3B-99B9-A5B3-840B-13E4BE4E6ECB}"/>
              </a:ext>
            </a:extLst>
          </p:cNvPr>
          <p:cNvSpPr txBox="1"/>
          <p:nvPr/>
        </p:nvSpPr>
        <p:spPr>
          <a:xfrm>
            <a:off x="807720" y="1752600"/>
            <a:ext cx="111079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(Global Explainability):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Provides a consistent measure of each feature's overall contribution to the model's predictions.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LIME (Local Explainability):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Explains individual predictions by approximating the model locally around a specific instance.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answer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"Why did the model set this specific target?"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25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3C0A2-C230-CF10-2574-FB2F0EB1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669F17-B564-B895-BA24-0ABB6CCE5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94" y="425835"/>
            <a:ext cx="960998" cy="960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0CF937-8C4A-1B65-D237-D10DB3ACC4F8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University, Dhaka,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20A9D699-4C72-2096-EF6C-104C506EEC4A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76C9C4DC-1CEA-67F8-DF33-BD2D7C8E54D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78646470-7EE1-A6A5-C655-A5AE49FFE8C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2700D8C3-FC84-91FE-0FEA-E86A0191A4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F20CF9C0-F5A4-9C97-9DCD-D1194F32FB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F96B61-8B76-FB4C-7F0E-3A91355470A0}"/>
              </a:ext>
            </a:extLst>
          </p:cNvPr>
          <p:cNvSpPr txBox="1"/>
          <p:nvPr/>
        </p:nvSpPr>
        <p:spPr>
          <a:xfrm>
            <a:off x="2331720" y="699504"/>
            <a:ext cx="6583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Model Performance Comparison</a:t>
            </a:r>
            <a:endParaRPr lang="en-US" sz="32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1E9193C-42CC-82DF-3D50-1BF5EA9AC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27943"/>
              </p:ext>
            </p:extLst>
          </p:nvPr>
        </p:nvGraphicFramePr>
        <p:xfrm>
          <a:off x="533293" y="2122043"/>
          <a:ext cx="5486400" cy="332486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501629">
                  <a:extLst>
                    <a:ext uri="{9D8B030D-6E8A-4147-A177-3AD203B41FA5}">
                      <a16:colId xmlns:a16="http://schemas.microsoft.com/office/drawing/2014/main" val="536218927"/>
                    </a:ext>
                  </a:extLst>
                </a:gridCol>
                <a:gridCol w="1003852">
                  <a:extLst>
                    <a:ext uri="{9D8B030D-6E8A-4147-A177-3AD203B41FA5}">
                      <a16:colId xmlns:a16="http://schemas.microsoft.com/office/drawing/2014/main" val="842744354"/>
                    </a:ext>
                  </a:extLst>
                </a:gridCol>
                <a:gridCol w="1023730">
                  <a:extLst>
                    <a:ext uri="{9D8B030D-6E8A-4147-A177-3AD203B41FA5}">
                      <a16:colId xmlns:a16="http://schemas.microsoft.com/office/drawing/2014/main" val="1923551961"/>
                    </a:ext>
                  </a:extLst>
                </a:gridCol>
                <a:gridCol w="859909">
                  <a:extLst>
                    <a:ext uri="{9D8B030D-6E8A-4147-A177-3AD203B41FA5}">
                      <a16:colId xmlns:a16="http://schemas.microsoft.com/office/drawing/2014/main" val="274331828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2710199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Model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MAE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MSE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RMSE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R2 Score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5090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Linear Regression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0.052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0.027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0.166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0.037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29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KNN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0.045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0.026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0.160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0.069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1240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Random Forest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0.039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0.019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0.130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0.330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3780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XGBoost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0.0436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0.024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0.150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0.150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1928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>
                          <a:effectLst/>
                        </a:rPr>
                        <a:t>NN</a:t>
                      </a:r>
                      <a:endParaRPr lang="en-US" sz="2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>
                          <a:effectLst/>
                        </a:rPr>
                        <a:t>0.080</a:t>
                      </a:r>
                      <a:endParaRPr lang="en-US" sz="2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>
                          <a:effectLst/>
                        </a:rPr>
                        <a:t>0.010</a:t>
                      </a:r>
                      <a:endParaRPr lang="en-US" sz="2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>
                          <a:effectLst/>
                        </a:rPr>
                        <a:t>0.0100</a:t>
                      </a:r>
                      <a:endParaRPr lang="en-US" sz="2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0.987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2751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DNN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0.209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0.066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0.258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0.923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5094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CNN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0.220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0.081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0.284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0.905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2049027"/>
                  </a:ext>
                </a:extLst>
              </a:tr>
            </a:tbl>
          </a:graphicData>
        </a:graphic>
      </p:graphicFrame>
      <p:sp>
        <p:nvSpPr>
          <p:cNvPr id="16" name="Rectangle 1">
            <a:extLst>
              <a:ext uri="{FF2B5EF4-FFF2-40B4-BE49-F238E27FC236}">
                <a16:creationId xmlns:a16="http://schemas.microsoft.com/office/drawing/2014/main" id="{25831C2A-FB25-86C5-1FFB-10DE8C333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46" y="1470765"/>
            <a:ext cx="5039959" cy="866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Table 1.3 Model-wise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0D3E6EF-7DEC-3746-7EFA-01B62EE11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662823"/>
              </p:ext>
            </p:extLst>
          </p:nvPr>
        </p:nvGraphicFramePr>
        <p:xfrm>
          <a:off x="6359469" y="2081502"/>
          <a:ext cx="5486400" cy="3607758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34300419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48754805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80385099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88713475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725815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Fold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MAE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MSE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RMSE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R2 Score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4662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0.0870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0.0120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0.1130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0.9880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8643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0.0816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0.0102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0.1008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0.9874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1542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3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0.0887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0.0131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0.1143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0.9855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4130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4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0.0856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0.0114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0.1067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0.9862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6705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5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0.0809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0.0098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0.0992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0.9879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93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0.0710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0.0079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0.0891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0.9921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8714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7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0.0879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0.0118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0.1086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0.9872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3668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8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0.0810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0.0106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0.1030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0.9849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1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9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0.0772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0.0094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0.0970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0.9881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842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10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0.0784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0.0096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0.0981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0.9907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352736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D9C0712-B09B-9954-8A00-E7BD1C5C5650}"/>
              </a:ext>
            </a:extLst>
          </p:cNvPr>
          <p:cNvSpPr txBox="1"/>
          <p:nvPr/>
        </p:nvSpPr>
        <p:spPr>
          <a:xfrm>
            <a:off x="6359469" y="1573061"/>
            <a:ext cx="4638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Table 1.4 Fold-wise Performance of Best Model</a:t>
            </a:r>
          </a:p>
        </p:txBody>
      </p:sp>
    </p:spTree>
    <p:extLst>
      <p:ext uri="{BB962C8B-B14F-4D97-AF65-F5344CB8AC3E}">
        <p14:creationId xmlns:p14="http://schemas.microsoft.com/office/powerpoint/2010/main" val="299987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43E657-7D4A-D412-92E5-850ED9671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C1A8F1-C8AC-BD0B-95AD-4EB80B871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94" y="425835"/>
            <a:ext cx="960998" cy="960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B76DD25-0EA8-4121-E4E1-D8A85D49F1C8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University, Dhaka,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8DF3788D-171C-7B3C-E2F2-E1E7C0F0134E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3D9E29DD-1EE5-1C95-938B-94298AE249D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91A10036-A8D2-159C-3934-F3B7F6D82FD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5F708D4D-D724-384E-D1F4-2EC46832B0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87E3444E-3871-56F4-6E26-DC82ABE617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D904D0-AAD4-DA7C-9D2B-CEE1E90F3295}"/>
              </a:ext>
            </a:extLst>
          </p:cNvPr>
          <p:cNvSpPr txBox="1"/>
          <p:nvPr/>
        </p:nvSpPr>
        <p:spPr>
          <a:xfrm>
            <a:off x="1180768" y="533768"/>
            <a:ext cx="8168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2: Key Drivers of Productivity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FFCD81-77AB-0201-C643-04FE0D2634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386833"/>
            <a:ext cx="9845040" cy="473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426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5D15A7-F95C-085D-83D7-69EB3025E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17F138-FC7B-2FBA-7CBE-4EDEDDEEE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94" y="425835"/>
            <a:ext cx="960998" cy="960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5281804-834A-A2E9-88AF-D95837DC288E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University, Dhaka,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E791679A-7832-9DF4-A4BA-361165AC867B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B0E6554C-34C4-9825-113D-9869469782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51D6E8E5-A671-49B0-162F-C201A5BF05C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8F5E633C-2769-8A2B-51D0-55B683655E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72047A74-33D8-DD4E-7075-3E14744B99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2CA962-2FA9-5401-2357-1304A84B3E24}"/>
              </a:ext>
            </a:extLst>
          </p:cNvPr>
          <p:cNvSpPr txBox="1"/>
          <p:nvPr/>
        </p:nvSpPr>
        <p:spPr>
          <a:xfrm>
            <a:off x="2206172" y="368032"/>
            <a:ext cx="4992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Explainable AI in Action</a:t>
            </a:r>
            <a:endParaRPr lang="en-US" sz="3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A47B9A-4C50-0B0F-6588-81B4EFA3C4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417" y="1309156"/>
            <a:ext cx="3884319" cy="34448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F3CD882-152B-8489-4FE2-431F30B76B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230" y="1408815"/>
            <a:ext cx="7022769" cy="33613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6F39AF2-6AA7-B1CB-5AA3-B930BCD25435}"/>
              </a:ext>
            </a:extLst>
          </p:cNvPr>
          <p:cNvSpPr txBox="1"/>
          <p:nvPr/>
        </p:nvSpPr>
        <p:spPr>
          <a:xfrm>
            <a:off x="162339" y="5027751"/>
            <a:ext cx="118673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SHAP Summary Plot:</a:t>
            </a:r>
            <a:r>
              <a:rPr lang="en-US" dirty="0"/>
              <a:t> Shows global feature importance and impact direction (e.g., high </a:t>
            </a:r>
            <a:r>
              <a:rPr lang="en-US" dirty="0" err="1"/>
              <a:t>actual_productivity</a:t>
            </a:r>
            <a:r>
              <a:rPr lang="en-US" dirty="0"/>
              <a:t> increases the target prediction).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LIME Explanation:</a:t>
            </a:r>
            <a:r>
              <a:rPr lang="en-US" dirty="0"/>
              <a:t> For a single instance, it shows how features like overtime or </a:t>
            </a:r>
            <a:r>
              <a:rPr lang="en-US" dirty="0" err="1"/>
              <a:t>idle_men</a:t>
            </a:r>
            <a:r>
              <a:rPr lang="en-US" dirty="0"/>
              <a:t> locally pushed the prediction up or down.</a:t>
            </a:r>
          </a:p>
        </p:txBody>
      </p:sp>
    </p:spTree>
    <p:extLst>
      <p:ext uri="{BB962C8B-B14F-4D97-AF65-F5344CB8AC3E}">
        <p14:creationId xmlns:p14="http://schemas.microsoft.com/office/powerpoint/2010/main" val="396754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F186A2-D421-B717-6107-ECC435D9F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34E44-7429-F0BE-6199-B31C1820E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94" y="425835"/>
            <a:ext cx="960998" cy="960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536B0D3-9AA0-6573-4D62-49A727E8DC12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University, Dhaka,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A3D4F04B-B945-1F13-6862-F68BCEDEA1CD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222DA827-8205-4165-38AE-773D6EF6A4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8D6AFE58-644C-8653-46FC-11D1AB137A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00B18AC4-CEAF-C396-A8A7-F8E73A4615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192E285F-45DC-BD85-FAFA-4D4CE0F9AF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71AB6E1-194E-FB16-06E1-22FF4A24A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271381"/>
              </p:ext>
            </p:extLst>
          </p:nvPr>
        </p:nvGraphicFramePr>
        <p:xfrm>
          <a:off x="785191" y="1751530"/>
          <a:ext cx="11060679" cy="4247625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580097">
                  <a:extLst>
                    <a:ext uri="{9D8B030D-6E8A-4147-A177-3AD203B41FA5}">
                      <a16:colId xmlns:a16="http://schemas.microsoft.com/office/drawing/2014/main" val="1961438508"/>
                    </a:ext>
                  </a:extLst>
                </a:gridCol>
                <a:gridCol w="1580097">
                  <a:extLst>
                    <a:ext uri="{9D8B030D-6E8A-4147-A177-3AD203B41FA5}">
                      <a16:colId xmlns:a16="http://schemas.microsoft.com/office/drawing/2014/main" val="4234294976"/>
                    </a:ext>
                  </a:extLst>
                </a:gridCol>
                <a:gridCol w="1580097">
                  <a:extLst>
                    <a:ext uri="{9D8B030D-6E8A-4147-A177-3AD203B41FA5}">
                      <a16:colId xmlns:a16="http://schemas.microsoft.com/office/drawing/2014/main" val="3706620465"/>
                    </a:ext>
                  </a:extLst>
                </a:gridCol>
                <a:gridCol w="1580097">
                  <a:extLst>
                    <a:ext uri="{9D8B030D-6E8A-4147-A177-3AD203B41FA5}">
                      <a16:colId xmlns:a16="http://schemas.microsoft.com/office/drawing/2014/main" val="2139682865"/>
                    </a:ext>
                  </a:extLst>
                </a:gridCol>
                <a:gridCol w="1580097">
                  <a:extLst>
                    <a:ext uri="{9D8B030D-6E8A-4147-A177-3AD203B41FA5}">
                      <a16:colId xmlns:a16="http://schemas.microsoft.com/office/drawing/2014/main" val="1288004461"/>
                    </a:ext>
                  </a:extLst>
                </a:gridCol>
                <a:gridCol w="1580097">
                  <a:extLst>
                    <a:ext uri="{9D8B030D-6E8A-4147-A177-3AD203B41FA5}">
                      <a16:colId xmlns:a16="http://schemas.microsoft.com/office/drawing/2014/main" val="61855971"/>
                    </a:ext>
                  </a:extLst>
                </a:gridCol>
                <a:gridCol w="1580097">
                  <a:extLst>
                    <a:ext uri="{9D8B030D-6E8A-4147-A177-3AD203B41FA5}">
                      <a16:colId xmlns:a16="http://schemas.microsoft.com/office/drawing/2014/main" val="909728495"/>
                    </a:ext>
                  </a:extLst>
                </a:gridCol>
              </a:tblGrid>
              <a:tr h="2533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Study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Best Model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MAE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R2 Score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Prediction Target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Dataset (with Size)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XAI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extLst>
                  <a:ext uri="{0D108BD9-81ED-4DB2-BD59-A6C34878D82A}">
                    <a16:rowId xmlns:a16="http://schemas.microsoft.com/office/drawing/2014/main" val="519322107"/>
                  </a:ext>
                </a:extLst>
              </a:tr>
              <a:tr h="5405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[7]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 err="1">
                          <a:effectLst/>
                        </a:rPr>
                        <a:t>CatBoost</a:t>
                      </a:r>
                      <a:r>
                        <a:rPr lang="en-US" sz="1400" dirty="0">
                          <a:effectLst/>
                        </a:rPr>
                        <a:t> Regressor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–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Higher than Decision Tree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Actual team productivity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–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–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extLst>
                  <a:ext uri="{0D108BD9-81ED-4DB2-BD59-A6C34878D82A}">
                    <a16:rowId xmlns:a16="http://schemas.microsoft.com/office/drawing/2014/main" val="1842874317"/>
                  </a:ext>
                </a:extLst>
              </a:tr>
              <a:tr h="9547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[8]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HGBR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0.0428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0.7142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Actual productivity + required incentive &amp; overtime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1197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–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extLst>
                  <a:ext uri="{0D108BD9-81ED-4DB2-BD59-A6C34878D82A}">
                    <a16:rowId xmlns:a16="http://schemas.microsoft.com/office/drawing/2014/main" val="3890897019"/>
                  </a:ext>
                </a:extLst>
              </a:tr>
              <a:tr h="4024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[9]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Stacking Ensemble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0.04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0.65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Actual productivity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1197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–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extLst>
                  <a:ext uri="{0D108BD9-81ED-4DB2-BD59-A6C34878D82A}">
                    <a16:rowId xmlns:a16="http://schemas.microsoft.com/office/drawing/2014/main" val="1111623010"/>
                  </a:ext>
                </a:extLst>
              </a:tr>
              <a:tr h="5405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[10]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Deep Neural Network (DNN)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0.086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–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Actual productivity (0–1)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1197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–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extLst>
                  <a:ext uri="{0D108BD9-81ED-4DB2-BD59-A6C34878D82A}">
                    <a16:rowId xmlns:a16="http://schemas.microsoft.com/office/drawing/2014/main" val="1056259522"/>
                  </a:ext>
                </a:extLst>
              </a:tr>
              <a:tr h="5405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[11]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Logistic Regression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–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–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Worker status (stay/leave)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512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–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extLst>
                  <a:ext uri="{0D108BD9-81ED-4DB2-BD59-A6C34878D82A}">
                    <a16:rowId xmlns:a16="http://schemas.microsoft.com/office/drawing/2014/main" val="2703353138"/>
                  </a:ext>
                </a:extLst>
              </a:tr>
              <a:tr h="4024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[12]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Gradient Boosting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0.084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–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Actual productivity (0–1)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1197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–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extLst>
                  <a:ext uri="{0D108BD9-81ED-4DB2-BD59-A6C34878D82A}">
                    <a16:rowId xmlns:a16="http://schemas.microsoft.com/office/drawing/2014/main" val="2207202576"/>
                  </a:ext>
                </a:extLst>
              </a:tr>
              <a:tr h="5405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Proposed Neural Network (NN)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NN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0.080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0.987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Targeted Productivity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1197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YES (SHAP, LIME)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116" marR="49116" marT="0" marB="0"/>
                </a:tc>
                <a:extLst>
                  <a:ext uri="{0D108BD9-81ED-4DB2-BD59-A6C34878D82A}">
                    <a16:rowId xmlns:a16="http://schemas.microsoft.com/office/drawing/2014/main" val="2717030772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D1E233AD-FE39-FD59-A16A-522789D73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792" y="1030346"/>
            <a:ext cx="8375178" cy="71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Table 1.5 Comparison of Previous Studies on Productivity Prediction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74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A72CFF-0110-8019-E2E7-35E0BAC10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F5700A-7BC2-0EAC-4A9F-405F57F3B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94" y="425835"/>
            <a:ext cx="960998" cy="960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BCA61BE-D5C8-992F-8CBF-DCBA41962592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University, Dhaka,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BF94B47E-AA7D-28C9-F333-6186AD4D3EFE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D690EC64-8826-6476-09B7-CD87E88F5C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56D79417-6BFC-8C5B-D973-F9E87543283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4B5336BF-5775-1691-573E-EBC79DAA8F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B1F9A753-1435-563D-D551-EA547337D8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69A9C1-55D9-31AB-AE63-9BA07501B947}"/>
              </a:ext>
            </a:extLst>
          </p:cNvPr>
          <p:cNvSpPr txBox="1"/>
          <p:nvPr/>
        </p:nvSpPr>
        <p:spPr>
          <a:xfrm>
            <a:off x="1490870" y="1659835"/>
            <a:ext cx="10047987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We successfully developed a </a:t>
            </a:r>
            <a:r>
              <a:rPr lang="en-US" sz="2000" b="1" dirty="0"/>
              <a:t>data-driven framework</a:t>
            </a:r>
            <a:r>
              <a:rPr lang="en-US" sz="2000" dirty="0"/>
              <a:t> for predicting targeted productivity.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 </a:t>
            </a:r>
            <a:r>
              <a:rPr lang="en-US" sz="2000" b="1" dirty="0"/>
              <a:t>Neural Network model</a:t>
            </a:r>
            <a:r>
              <a:rPr lang="en-US" sz="2000" dirty="0"/>
              <a:t> proved most accurate, capturing complex patterns in the data.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The integration of </a:t>
            </a:r>
            <a:r>
              <a:rPr lang="en-US" sz="2000" b="1" dirty="0"/>
              <a:t>XAI (SHAP &amp; LIME)</a:t>
            </a:r>
            <a:r>
              <a:rPr lang="en-US" sz="2000" dirty="0"/>
              <a:t> provides crucial interpretability, making the framework a </a:t>
            </a:r>
            <a:r>
              <a:rPr lang="en-US" sz="2000" b="1" dirty="0"/>
              <a:t>trustworthy and practical tool</a:t>
            </a:r>
            <a:r>
              <a:rPr lang="en-US" sz="2000" dirty="0"/>
              <a:t> for intelligent production planning in the garment industry.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2C4B13-A7DC-CEF7-14FB-A5298F101C8A}"/>
              </a:ext>
            </a:extLst>
          </p:cNvPr>
          <p:cNvSpPr txBox="1"/>
          <p:nvPr/>
        </p:nvSpPr>
        <p:spPr>
          <a:xfrm>
            <a:off x="2763079" y="479059"/>
            <a:ext cx="3965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23510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3F6C3B-62F9-98F6-2D57-0FD32565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948E92-603C-91BE-D901-FAC0C7751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94" y="425835"/>
            <a:ext cx="960998" cy="960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0B214C-1011-8219-080B-7B1148451549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University, Dhaka,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5D5F71C2-9C80-4BE0-B82C-2A293FE4D4FF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23035A49-1CB6-5624-016C-50D7EE782AA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ED1B3AD7-7FE6-801E-FB74-1342FCAD6D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1FD28DA8-8500-7522-D91A-350133E41F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55174A35-61E3-C31A-2B35-2555737C61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B2ED05-649F-DE06-BB1C-EFFD142DF0D3}"/>
              </a:ext>
            </a:extLst>
          </p:cNvPr>
          <p:cNvSpPr txBox="1"/>
          <p:nvPr/>
        </p:nvSpPr>
        <p:spPr>
          <a:xfrm>
            <a:off x="884583" y="1657660"/>
            <a:ext cx="108137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Integrate </a:t>
            </a:r>
            <a:r>
              <a:rPr lang="en-US" sz="2400" b="1" dirty="0"/>
              <a:t>real-time data streams</a:t>
            </a:r>
            <a:r>
              <a:rPr lang="en-US" sz="2400" dirty="0"/>
              <a:t> for dynamic target adjustment.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Test and validate the model across </a:t>
            </a:r>
            <a:r>
              <a:rPr lang="en-US" sz="2400" b="1" dirty="0"/>
              <a:t>multiple garment factories</a:t>
            </a:r>
            <a:r>
              <a:rPr lang="en-US" sz="2400" dirty="0"/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Explore </a:t>
            </a:r>
            <a:r>
              <a:rPr lang="en-US" sz="2400" b="1" dirty="0"/>
              <a:t>temporal models</a:t>
            </a:r>
            <a:r>
              <a:rPr lang="en-US" sz="2400" dirty="0"/>
              <a:t> (e.g., RNNs, LSTMs) to capture time-series patterns.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Develop a full </a:t>
            </a:r>
            <a:r>
              <a:rPr lang="en-US" sz="2400" b="1" dirty="0"/>
              <a:t>Decision Support System (DSS)</a:t>
            </a:r>
            <a:r>
              <a:rPr lang="en-US" sz="2400" dirty="0"/>
              <a:t> dashboard for factory managers.</a:t>
            </a:r>
          </a:p>
          <a:p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EB456-09F0-3047-B766-E07D64ED1524}"/>
              </a:ext>
            </a:extLst>
          </p:cNvPr>
          <p:cNvSpPr txBox="1"/>
          <p:nvPr/>
        </p:nvSpPr>
        <p:spPr>
          <a:xfrm>
            <a:off x="3031435" y="403441"/>
            <a:ext cx="3677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Future Work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3947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6E03FE-3EDE-5BAF-78CF-16A27CCCE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3DB74-E737-238F-7DD9-ED9E31FD1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94" y="425835"/>
            <a:ext cx="960998" cy="960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B7BE2D-E54F-ADCD-553C-D5835FF0673D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University, Dhaka,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368EDCE3-31B9-505F-301E-0AC9782F8AF6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C10AE72B-6FE6-D68D-A2D1-6CC4A569E17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60DBCD0D-5236-8A43-3C5A-E2EE28E23BF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3C0695C3-FF60-83FB-E7E7-917957E340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6A9CCEB8-1180-C0CE-420C-C2B55F42D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4C0D92-1A84-5D0A-9D2A-7F442492C608}"/>
              </a:ext>
            </a:extLst>
          </p:cNvPr>
          <p:cNvSpPr txBox="1"/>
          <p:nvPr/>
        </p:nvSpPr>
        <p:spPr>
          <a:xfrm>
            <a:off x="2965175" y="533768"/>
            <a:ext cx="3488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8A96AC-337C-40F3-0899-FAF19342ADEB}"/>
              </a:ext>
            </a:extLst>
          </p:cNvPr>
          <p:cNvSpPr txBox="1"/>
          <p:nvPr/>
        </p:nvSpPr>
        <p:spPr>
          <a:xfrm>
            <a:off x="833467" y="1268300"/>
            <a:ext cx="1115312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i="1" dirty="0"/>
              <a:t>[7] Begum, Z., Anjan, A., </a:t>
            </a:r>
            <a:r>
              <a:rPr lang="en-US" sz="1600" i="1" dirty="0" err="1"/>
              <a:t>Abhivardhan</a:t>
            </a:r>
            <a:r>
              <a:rPr lang="en-US" sz="1600" i="1" dirty="0"/>
              <a:t>, G., Tej, M. V., &amp; </a:t>
            </a:r>
            <a:r>
              <a:rPr lang="en-US" sz="1600" i="1" dirty="0" err="1"/>
              <a:t>Hashwanthratna</a:t>
            </a:r>
            <a:r>
              <a:rPr lang="en-US" sz="1600" i="1" dirty="0"/>
              <a:t>, E. (2025). Machine learning models for </a:t>
            </a:r>
            <a:r>
              <a:rPr lang="en-US" sz="1600" i="1" dirty="0" err="1"/>
              <a:t>analysing</a:t>
            </a:r>
            <a:r>
              <a:rPr lang="en-US" sz="1600" i="1" dirty="0"/>
              <a:t> and predicting team productivity in garment manufacturing. International Journal of Information and Electronics Engineering, 15(4), 171–179.</a:t>
            </a:r>
          </a:p>
          <a:p>
            <a:pPr algn="just"/>
            <a:r>
              <a:rPr lang="en-US" sz="1600" i="1" dirty="0"/>
              <a:t>[8] Biswas, M. E., </a:t>
            </a:r>
            <a:r>
              <a:rPr lang="en-US" sz="1600" i="1" dirty="0" err="1"/>
              <a:t>Shahzamal</a:t>
            </a:r>
            <a:r>
              <a:rPr lang="en-US" sz="1600" i="1" dirty="0"/>
              <a:t>, M., &amp; Haque, M. D. (2024). Machine learning approach to estimate requirements for target productivity of garments employees. 2024 6th International Conference on Electrical Engineering and Information &amp; Communication Technology (ICEEICT), 921–926. IEEE.</a:t>
            </a:r>
          </a:p>
          <a:p>
            <a:pPr algn="just"/>
            <a:r>
              <a:rPr lang="en-US" sz="1600" i="1" dirty="0"/>
              <a:t>[9] Hosen, M. H., Tasnia, N., Amran, M., Chowdhury, R., Uddin, A., &amp; Saha, A. (2024). Stacking ensemble techniques for productivity forecasting in Bangladesh’s garment industry. 2024 IEEE International Conference on Computing, Applications and Systems (COMPAS), 1–6. IEEE.</a:t>
            </a:r>
          </a:p>
          <a:p>
            <a:pPr algn="just"/>
            <a:r>
              <a:rPr lang="nl-NL" sz="1600" i="1" dirty="0"/>
              <a:t>[10] Al Imran, A., Amin, M. N., Rifat, M. R. I., &amp; Mehreen, S. (2019). Deep neural </a:t>
            </a:r>
            <a:r>
              <a:rPr lang="en-US" sz="1600" i="1" dirty="0"/>
              <a:t>network approach for predicting the productivity of garment employees. 2019 6th International Conference on Control, Decision and Information Technologies (CoDIT), 1402–1407. IEEE.</a:t>
            </a:r>
          </a:p>
          <a:p>
            <a:pPr algn="just"/>
            <a:r>
              <a:rPr lang="sv-SE" sz="1600" i="1" dirty="0"/>
              <a:t>[11] Keya, M. S., Emon, M. U., Akter, H., Imran, M. A. M., Hassan, M. K., &amp; Mojumdar, </a:t>
            </a:r>
            <a:r>
              <a:rPr lang="en-US" sz="1600" i="1" dirty="0"/>
              <a:t>M. U. (2021). Predicting performance analysis of garments women working status in Bangladesh using machine learning approaches. 2021 6th International Conference on Inventive Computation Technologies (ICICT), 602–608. IEEE.</a:t>
            </a:r>
          </a:p>
          <a:p>
            <a:pPr algn="just"/>
            <a:r>
              <a:rPr lang="pt-BR" sz="1600" i="1" dirty="0"/>
              <a:t>[12] Goyzueta, C. A. R., De la Cruz, J. E. C., &amp; Machaca, W. A. M. (2021). Advantages </a:t>
            </a:r>
            <a:r>
              <a:rPr lang="en-US" sz="1600" i="1" dirty="0"/>
              <a:t>of assembly machine learning models for predicting employee productivity in a garment manufacturing company. 2021 IEEE Engineering International Research Conference (EIRCON), 1–4. IEEE.</a:t>
            </a:r>
          </a:p>
        </p:txBody>
      </p:sp>
    </p:spTree>
    <p:extLst>
      <p:ext uri="{BB962C8B-B14F-4D97-AF65-F5344CB8AC3E}">
        <p14:creationId xmlns:p14="http://schemas.microsoft.com/office/powerpoint/2010/main" val="79748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FE1C6F-A1E8-701F-5D78-EAA396FB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B8C659-81A5-A36F-C4B9-2143E34BE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94" y="425835"/>
            <a:ext cx="960998" cy="960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7BCCAD0-BD0D-828E-3DDD-2E563616C337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University, Dhaka,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8ED03243-2476-5B00-75D7-607A1579DC7B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3D345E2D-F3C7-5E91-2C11-E7E73064E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06551DB8-A6B2-ACA7-795D-E160C43E217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4AB3A676-0EDE-F822-C0CE-9A105F3FC3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EF845547-4BD3-37C6-64E5-546A6A3586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1AA124-6913-0F8B-E1C2-F16BFE0422C0}"/>
              </a:ext>
            </a:extLst>
          </p:cNvPr>
          <p:cNvSpPr txBox="1"/>
          <p:nvPr/>
        </p:nvSpPr>
        <p:spPr>
          <a:xfrm>
            <a:off x="3438940" y="805926"/>
            <a:ext cx="4234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Acknowledgement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7CC7AA-2B5D-DA46-0641-9A4B9076FFD2}"/>
              </a:ext>
            </a:extLst>
          </p:cNvPr>
          <p:cNvSpPr txBox="1"/>
          <p:nvPr/>
        </p:nvSpPr>
        <p:spPr>
          <a:xfrm>
            <a:off x="795131" y="2335696"/>
            <a:ext cx="107437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We thank Square Food Beverage LTD, Pabna, for its support.</a:t>
            </a:r>
          </a:p>
        </p:txBody>
      </p:sp>
    </p:spTree>
    <p:extLst>
      <p:ext uri="{BB962C8B-B14F-4D97-AF65-F5344CB8AC3E}">
        <p14:creationId xmlns:p14="http://schemas.microsoft.com/office/powerpoint/2010/main" val="1292960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3CC0DB22-899F-A913-A453-5786488FF444}"/>
              </a:ext>
            </a:extLst>
          </p:cNvPr>
          <p:cNvSpPr txBox="1">
            <a:spLocks/>
          </p:cNvSpPr>
          <p:nvPr/>
        </p:nvSpPr>
        <p:spPr>
          <a:xfrm>
            <a:off x="1839924" y="2201500"/>
            <a:ext cx="7880272" cy="2372106"/>
          </a:xfrm>
          <a:prstGeom prst="rect">
            <a:avLst/>
          </a:prstGeom>
        </p:spPr>
        <p:txBody>
          <a:bodyPr vert="horz" anchor="ctr">
            <a:normAutofit fontScale="52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07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dwardian Script ITC" pitchFamily="66" charset="0"/>
              </a:rPr>
              <a:t>Thank you for your Kind attention</a:t>
            </a:r>
          </a:p>
          <a:p>
            <a:pPr algn="ctr"/>
            <a:r>
              <a:rPr lang="en-US" sz="107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dwardian Script ITC" pitchFamily="66" charset="0"/>
              </a:rPr>
              <a:t>Have any questions?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F0C2E0-C1BE-3DD1-5A2C-32E30A01B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94" y="425835"/>
            <a:ext cx="960998" cy="96099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14662BB-F8BD-3840-0719-037D0D8EDB6A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University, Dhaka,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0A595DE-FC2C-663F-BFB8-2588D746E300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349AC6B-FD2D-6F3E-6B19-CD99B811DE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857E98F-E04B-FD3D-0E7A-670A80C5080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9838AC0D-F4D6-DEE5-9B0D-992B6234DB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45A54192-3A54-EABF-BEE9-D0F3012DB4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06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f03460604_win32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ining presentation.potx" id="{7B9FCAFE-DDE5-4198-9987-54DFCAD80598}" vid="{6015A8B0-C387-4E39-945C-0F39E3EB10B6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tf03460604_win32</Template>
  <TotalTime>765</TotalTime>
  <Words>1803</Words>
  <Application>Microsoft Office PowerPoint</Application>
  <PresentationFormat>Widescreen</PresentationFormat>
  <Paragraphs>317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3" baseType="lpstr">
      <vt:lpstr>Arial</vt:lpstr>
      <vt:lpstr>Bahnschrift</vt:lpstr>
      <vt:lpstr>Baskerville Old Face</vt:lpstr>
      <vt:lpstr>Calibri</vt:lpstr>
      <vt:lpstr>Cambria</vt:lpstr>
      <vt:lpstr>Edwardian Script ITC</vt:lpstr>
      <vt:lpstr>Garamond</vt:lpstr>
      <vt:lpstr>Georgia</vt:lpstr>
      <vt:lpstr>Gotham</vt:lpstr>
      <vt:lpstr>Poppins</vt:lpstr>
      <vt:lpstr>Times New Roman</vt:lpstr>
      <vt:lpstr>Wingdings</vt:lpstr>
      <vt:lpstr>Wingdings 2</vt:lpstr>
      <vt:lpstr>tf03460604_win32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Training Presentation</dc:title>
  <dc:creator>joo</dc:creator>
  <cp:lastModifiedBy>Md Rifat Hossen</cp:lastModifiedBy>
  <cp:revision>38</cp:revision>
  <dcterms:created xsi:type="dcterms:W3CDTF">2021-03-30T06:05:31Z</dcterms:created>
  <dcterms:modified xsi:type="dcterms:W3CDTF">2025-09-18T15:55:22Z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