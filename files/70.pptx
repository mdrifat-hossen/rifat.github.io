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6" r:id="rId6"/>
    <p:sldId id="265" r:id="rId7"/>
    <p:sldId id="267" r:id="rId8"/>
    <p:sldId id="260" r:id="rId9"/>
    <p:sldId id="268" r:id="rId10"/>
    <p:sldId id="261" r:id="rId11"/>
    <p:sldId id="262" r:id="rId12"/>
    <p:sldId id="263" r:id="rId13"/>
    <p:sldId id="264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Roboto Condensed Bold" panose="020B0604020202020204" charset="0"/>
      <p:regular r:id="rId24"/>
    </p:embeddedFont>
    <p:embeddedFont>
      <p:font typeface="Times New Roman Bold" panose="02020803070505020304" pitchFamily="18" charset="0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B43019-CDCE-4791-9A73-2DF729D684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28BCFA-9760-4AD4-923B-7173336A0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0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4184383" y="6934913"/>
            <a:ext cx="18218013" cy="3163898"/>
            <a:chOff x="0" y="0"/>
            <a:chExt cx="812800" cy="14115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41158"/>
            </a:xfrm>
            <a:custGeom>
              <a:avLst/>
              <a:gdLst/>
              <a:ahLst/>
              <a:cxnLst/>
              <a:rect l="l" t="t" r="r" b="b"/>
              <a:pathLst>
                <a:path w="812800" h="141158">
                  <a:moveTo>
                    <a:pt x="812800" y="0"/>
                  </a:moveTo>
                  <a:lnTo>
                    <a:pt x="0" y="0"/>
                  </a:lnTo>
                  <a:lnTo>
                    <a:pt x="101600" y="70579"/>
                  </a:lnTo>
                  <a:lnTo>
                    <a:pt x="0" y="141158"/>
                  </a:lnTo>
                  <a:lnTo>
                    <a:pt x="812800" y="141158"/>
                  </a:lnTo>
                  <a:lnTo>
                    <a:pt x="711200" y="70579"/>
                  </a:lnTo>
                  <a:lnTo>
                    <a:pt x="812800" y="0"/>
                  </a:lnTo>
                  <a:close/>
                </a:path>
              </a:pathLst>
            </a:custGeom>
            <a:solidFill>
              <a:srgbClr val="FFF4F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88900" y="-47625"/>
              <a:ext cx="635000" cy="188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7250764"/>
            <a:ext cx="1891731" cy="2104847"/>
          </a:xfrm>
          <a:custGeom>
            <a:avLst/>
            <a:gdLst/>
            <a:ahLst/>
            <a:cxnLst/>
            <a:rect l="l" t="t" r="r" b="b"/>
            <a:pathLst>
              <a:path w="1891731" h="2104847">
                <a:moveTo>
                  <a:pt x="0" y="0"/>
                </a:moveTo>
                <a:lnTo>
                  <a:pt x="1891731" y="0"/>
                </a:lnTo>
                <a:lnTo>
                  <a:pt x="1891731" y="2104847"/>
                </a:lnTo>
                <a:lnTo>
                  <a:pt x="0" y="2104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71600" y="1782407"/>
            <a:ext cx="15852091" cy="139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10th International Conference on Electrical Engineering and Informatics (ICEEI 2025)</a:t>
            </a:r>
            <a:endParaRPr lang="en-US" sz="3999" b="1" spc="95" dirty="0">
              <a:solidFill>
                <a:srgbClr val="00629B"/>
              </a:solidFill>
              <a:latin typeface="Times New Roman" panose="02020603050405020304" pitchFamily="18" charset="0"/>
              <a:ea typeface="Roboto Condensed Bold"/>
              <a:cs typeface="Times New Roman" panose="02020603050405020304" pitchFamily="18" charset="0"/>
              <a:sym typeface="Roboto Condensed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343400" y="3393184"/>
            <a:ext cx="9179123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 spc="47" dirty="0">
                <a:solidFill>
                  <a:srgbClr val="000000"/>
                </a:solidFill>
                <a:latin typeface="Roboto Condensed Bold"/>
                <a:ea typeface="Roboto Condensed Bold"/>
                <a:cs typeface="Times New Roman" panose="02020603050405020304" pitchFamily="18" charset="0"/>
                <a:sym typeface="Roboto Condensed Bold"/>
              </a:rPr>
              <a:t>HOSTED BY: </a:t>
            </a:r>
            <a:r>
              <a:rPr lang="en-US" sz="2000" dirty="0" err="1">
                <a:latin typeface="Roboto Condensed Bold" panose="020B0604020202020204" charset="0"/>
                <a:ea typeface="Roboto Condensed Bold" panose="020B0604020202020204" charset="0"/>
                <a:cs typeface="Times New Roman" panose="02020603050405020304" pitchFamily="18" charset="0"/>
              </a:rPr>
              <a:t>Universiti</a:t>
            </a:r>
            <a:r>
              <a:rPr lang="en-US" sz="2000" dirty="0">
                <a:latin typeface="Roboto Condensed Bold" panose="020B0604020202020204" charset="0"/>
                <a:ea typeface="Roboto Condensed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Roboto Condensed Bold" panose="020B0604020202020204" charset="0"/>
                <a:ea typeface="Roboto Condensed Bold" panose="020B0604020202020204" charset="0"/>
                <a:cs typeface="Times New Roman" panose="02020603050405020304" pitchFamily="18" charset="0"/>
              </a:rPr>
              <a:t>Kebangsaan</a:t>
            </a:r>
            <a:r>
              <a:rPr lang="en-US" sz="2000" dirty="0">
                <a:latin typeface="Roboto Condensed Bold" panose="020B0604020202020204" charset="0"/>
                <a:ea typeface="Roboto Condensed Bold" panose="020B0604020202020204" charset="0"/>
                <a:cs typeface="Times New Roman" panose="02020603050405020304" pitchFamily="18" charset="0"/>
              </a:rPr>
              <a:t> Malaysia and </a:t>
            </a:r>
            <a:r>
              <a:rPr lang="en-US" sz="2000" dirty="0" err="1">
                <a:latin typeface="Roboto Condensed Bold" panose="020B0604020202020204" charset="0"/>
                <a:ea typeface="Roboto Condensed Bold" panose="020B0604020202020204" charset="0"/>
                <a:cs typeface="Times New Roman" panose="02020603050405020304" pitchFamily="18" charset="0"/>
              </a:rPr>
              <a:t>Institut</a:t>
            </a:r>
            <a:r>
              <a:rPr lang="en-US" sz="2000" dirty="0">
                <a:latin typeface="Roboto Condensed Bold" panose="020B0604020202020204" charset="0"/>
                <a:ea typeface="Roboto Condensed Bold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Roboto Condensed Bold" panose="020B0604020202020204" charset="0"/>
                <a:ea typeface="Roboto Condensed Bold" panose="020B0604020202020204" charset="0"/>
                <a:cs typeface="Times New Roman" panose="02020603050405020304" pitchFamily="18" charset="0"/>
              </a:rPr>
              <a:t>Teknologi</a:t>
            </a:r>
            <a:r>
              <a:rPr lang="en-US" sz="2000" dirty="0">
                <a:latin typeface="Roboto Condensed Bold" panose="020B0604020202020204" charset="0"/>
                <a:ea typeface="Roboto Condensed Bold" panose="020B0604020202020204" charset="0"/>
                <a:cs typeface="Times New Roman" panose="02020603050405020304" pitchFamily="18" charset="0"/>
              </a:rPr>
              <a:t> Bandung</a:t>
            </a:r>
            <a:endParaRPr lang="en-US" sz="2000" b="1" spc="47" dirty="0">
              <a:solidFill>
                <a:srgbClr val="000000"/>
              </a:solidFill>
              <a:latin typeface="Roboto Condensed Bold" panose="020B0604020202020204" charset="0"/>
              <a:ea typeface="Roboto Condensed Bold" panose="020B0604020202020204" charset="0"/>
              <a:cs typeface="Times New Roman" panose="02020603050405020304" pitchFamily="18" charset="0"/>
              <a:sym typeface="Roboto Condensed Bold"/>
            </a:endParaRPr>
          </a:p>
          <a:p>
            <a:pPr algn="ctr">
              <a:lnSpc>
                <a:spcPts val="2799"/>
              </a:lnSpc>
            </a:pPr>
            <a:r>
              <a:rPr lang="en-US" sz="2000" dirty="0">
                <a:latin typeface="Roboto Condensed Bold" panose="020B0604020202020204" charset="0"/>
                <a:ea typeface="Roboto Condensed Bold" panose="020B0604020202020204" charset="0"/>
                <a:cs typeface="Times New Roman" panose="02020603050405020304" pitchFamily="18" charset="0"/>
              </a:rPr>
              <a:t>13-15 November 2025</a:t>
            </a:r>
            <a:endParaRPr lang="en-US" sz="2000" b="1" spc="47" dirty="0">
              <a:solidFill>
                <a:srgbClr val="000000"/>
              </a:solidFill>
              <a:latin typeface="Roboto Condensed Bold" panose="020B0604020202020204" charset="0"/>
              <a:ea typeface="Roboto Condensed Bold" panose="020B0604020202020204" charset="0"/>
              <a:cs typeface="Times New Roman" panose="02020603050405020304" pitchFamily="18" charset="0"/>
              <a:sym typeface="Roboto Condense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58783" y="4981397"/>
            <a:ext cx="2555677" cy="2269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85"/>
              </a:lnSpc>
            </a:pPr>
            <a:r>
              <a:rPr lang="en-US" sz="3399" b="1" spc="8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Paper ID:</a:t>
            </a:r>
          </a:p>
          <a:p>
            <a:pPr algn="l">
              <a:lnSpc>
                <a:spcPts val="6085"/>
              </a:lnSpc>
            </a:pPr>
            <a:r>
              <a:rPr lang="en-US" sz="3399" b="1" spc="8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Paper Title : </a:t>
            </a:r>
          </a:p>
          <a:p>
            <a:pPr algn="l">
              <a:lnSpc>
                <a:spcPts val="6085"/>
              </a:lnSpc>
            </a:pPr>
            <a:endParaRPr lang="en-US" sz="3399" b="1" spc="8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056007" y="5105222"/>
            <a:ext cx="3573393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399" b="1" spc="8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349689" y="5887798"/>
            <a:ext cx="14079527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Robustness and Accuracy of Bone-Conducted Speech Emotion Recognition via Transformer Models</a:t>
            </a:r>
            <a:endParaRPr lang="en-US" sz="4000" b="1" spc="81" dirty="0">
              <a:solidFill>
                <a:srgbClr val="000000"/>
              </a:solidFill>
              <a:latin typeface="Times New Roman" panose="02020603050405020304" pitchFamily="18" charset="0"/>
              <a:ea typeface="Roboto Condensed Bold"/>
              <a:cs typeface="Times New Roman" panose="02020603050405020304" pitchFamily="18" charset="0"/>
              <a:sym typeface="Roboto Condensed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983982" y="7355539"/>
            <a:ext cx="8572500" cy="2212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 spc="59" dirty="0">
                <a:solidFill>
                  <a:srgbClr val="000000"/>
                </a:solidFill>
                <a:latin typeface="Roboto Condensed Bold"/>
                <a:ea typeface="Roboto Condensed Bold"/>
                <a:cs typeface="Times New Roman" panose="02020603050405020304" pitchFamily="18" charset="0"/>
                <a:sym typeface="Roboto Condensed Bold"/>
              </a:rPr>
              <a:t>Md. Rifat Hossen</a:t>
            </a:r>
          </a:p>
          <a:p>
            <a:pPr algn="just">
              <a:lnSpc>
                <a:spcPts val="3499"/>
              </a:lnSpc>
            </a:pPr>
            <a:r>
              <a:rPr lang="en-US" sz="2499" b="1" spc="59" dirty="0">
                <a:solidFill>
                  <a:srgbClr val="000000"/>
                </a:solidFill>
                <a:latin typeface="Roboto Condensed Bold"/>
                <a:ea typeface="Roboto Condensed Bold"/>
                <a:cs typeface="Times New Roman" panose="02020603050405020304" pitchFamily="18" charset="0"/>
                <a:sym typeface="Roboto Condensed Bold"/>
              </a:rPr>
              <a:t>Department of Information and Communication Engineering,</a:t>
            </a:r>
          </a:p>
          <a:p>
            <a:pPr algn="just">
              <a:lnSpc>
                <a:spcPts val="3499"/>
              </a:lnSpc>
            </a:pPr>
            <a:r>
              <a:rPr lang="en-US" sz="2499" b="1" spc="59" dirty="0">
                <a:solidFill>
                  <a:srgbClr val="000000"/>
                </a:solidFill>
                <a:latin typeface="Roboto Condensed Bold"/>
                <a:ea typeface="Roboto Condensed Bold"/>
                <a:cs typeface="Times New Roman" panose="02020603050405020304" pitchFamily="18" charset="0"/>
                <a:sym typeface="Roboto Condensed Bold"/>
              </a:rPr>
              <a:t>Pabna University of Science and Technology</a:t>
            </a:r>
          </a:p>
          <a:p>
            <a:pPr algn="just">
              <a:lnSpc>
                <a:spcPts val="3499"/>
              </a:lnSpc>
            </a:pPr>
            <a:r>
              <a:rPr lang="en-US" sz="2499" b="1" spc="59" dirty="0">
                <a:solidFill>
                  <a:srgbClr val="000000"/>
                </a:solidFill>
                <a:latin typeface="Roboto Condensed Bold"/>
                <a:ea typeface="Roboto Condensed Bold"/>
                <a:cs typeface="Times New Roman" panose="02020603050405020304" pitchFamily="18" charset="0"/>
                <a:sym typeface="Roboto Condensed Bold"/>
              </a:rPr>
              <a:t>Pabna, Bangladesh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 b="1" spc="59" dirty="0">
              <a:solidFill>
                <a:srgbClr val="000000"/>
              </a:solidFill>
              <a:latin typeface="Roboto Condensed Bold"/>
              <a:ea typeface="Roboto Condensed Bold"/>
              <a:cs typeface="Times New Roman" panose="02020603050405020304" pitchFamily="18" charset="0"/>
              <a:sym typeface="Roboto Condensed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BA98961-48E6-4EDD-1314-21837F85B2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756114F-4B38-2187-9076-770CACEA5E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232342"/>
            <a:ext cx="18300511" cy="1054658"/>
            <a:chOff x="0" y="-47625"/>
            <a:chExt cx="4819888" cy="277770"/>
          </a:xfrm>
        </p:grpSpPr>
        <p:sp>
          <p:nvSpPr>
            <p:cNvPr id="9" name="Freeform 9"/>
            <p:cNvSpPr/>
            <p:nvPr/>
          </p:nvSpPr>
          <p:spPr>
            <a:xfrm>
              <a:off x="3296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</a:t>
              </a:r>
              <a:r>
                <a:rPr lang="en-US" sz="1999" b="1" spc="47" dirty="0">
                  <a:solidFill>
                    <a:srgbClr val="000000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Universiti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Kebangsaan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Malaysia and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Institut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Teknologi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Bandung</a:t>
              </a:r>
              <a:endParaRPr lang="en-US" sz="1999" b="1" spc="47" dirty="0">
                <a:solidFill>
                  <a:schemeClr val="bg1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486400" y="1263058"/>
            <a:ext cx="1069092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95" dirty="0">
                <a:solidFill>
                  <a:srgbClr val="000000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rPr>
              <a:t>OUTLINE OF PRESENTATION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53200" y="2726929"/>
            <a:ext cx="5716190" cy="35536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499"/>
              </a:lnSpc>
              <a:buFont typeface="Wingdings" panose="05000000000000000000" pitchFamily="2" charset="2"/>
              <a:buChar char="q"/>
            </a:pPr>
            <a:r>
              <a:rPr lang="en-US" sz="2499" spc="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Motivation</a:t>
            </a:r>
          </a:p>
          <a:p>
            <a:pPr marL="342900" indent="-342900" algn="just">
              <a:lnSpc>
                <a:spcPts val="3499"/>
              </a:lnSpc>
              <a:buFont typeface="Wingdings" panose="05000000000000000000" pitchFamily="2" charset="2"/>
              <a:buChar char="q"/>
            </a:pPr>
            <a:r>
              <a:rPr lang="en-US" sz="2499" spc="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Research Question </a:t>
            </a:r>
          </a:p>
          <a:p>
            <a:pPr marL="342900" indent="-342900" algn="just">
              <a:lnSpc>
                <a:spcPts val="3499"/>
              </a:lnSpc>
              <a:buFont typeface="Wingdings" panose="05000000000000000000" pitchFamily="2" charset="2"/>
              <a:buChar char="q"/>
            </a:pPr>
            <a:r>
              <a:rPr lang="en-US" sz="2499" spc="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Objectives</a:t>
            </a:r>
          </a:p>
          <a:p>
            <a:pPr marL="342900" indent="-342900" algn="just">
              <a:lnSpc>
                <a:spcPts val="3499"/>
              </a:lnSpc>
              <a:buFont typeface="Wingdings" panose="05000000000000000000" pitchFamily="2" charset="2"/>
              <a:buChar char="q"/>
            </a:pPr>
            <a:r>
              <a:rPr lang="en-US" sz="2499" spc="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</a:t>
            </a:r>
          </a:p>
          <a:p>
            <a:pPr marL="342900" indent="-342900" algn="just">
              <a:lnSpc>
                <a:spcPts val="3499"/>
              </a:lnSpc>
              <a:buFont typeface="Wingdings" panose="05000000000000000000" pitchFamily="2" charset="2"/>
              <a:buChar char="q"/>
            </a:pPr>
            <a:r>
              <a:rPr lang="en-US" sz="2499" spc="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Methodology </a:t>
            </a:r>
          </a:p>
          <a:p>
            <a:pPr marL="342900" indent="-342900" algn="just">
              <a:lnSpc>
                <a:spcPts val="3499"/>
              </a:lnSpc>
              <a:buFont typeface="Wingdings" panose="05000000000000000000" pitchFamily="2" charset="2"/>
              <a:buChar char="q"/>
            </a:pPr>
            <a:r>
              <a:rPr lang="en-US" sz="2499" spc="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Result and Discussion</a:t>
            </a:r>
          </a:p>
          <a:p>
            <a:pPr marL="342900" indent="-342900" algn="just">
              <a:lnSpc>
                <a:spcPts val="3499"/>
              </a:lnSpc>
              <a:buFont typeface="Wingdings" panose="05000000000000000000" pitchFamily="2" charset="2"/>
              <a:buChar char="q"/>
            </a:pPr>
            <a:r>
              <a:rPr lang="en-US" sz="2499" spc="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Conclusion </a:t>
            </a:r>
          </a:p>
          <a:p>
            <a:pPr marL="342900" indent="-342900" algn="just">
              <a:lnSpc>
                <a:spcPts val="3499"/>
              </a:lnSpc>
              <a:buFont typeface="Wingdings" panose="05000000000000000000" pitchFamily="2" charset="2"/>
              <a:buChar char="q"/>
            </a:pPr>
            <a:r>
              <a:rPr lang="en-US" sz="2499" spc="59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CFA3590-62EC-C67A-5DC8-F750716FB7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843794-D0AF-D1B8-71D0-AC9A29D39A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A8329A-2835-ED4D-812B-124F58FA0E37}"/>
              </a:ext>
            </a:extLst>
          </p:cNvPr>
          <p:cNvSpPr txBox="1"/>
          <p:nvPr/>
        </p:nvSpPr>
        <p:spPr>
          <a:xfrm>
            <a:off x="17394580" y="8877300"/>
            <a:ext cx="5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9413168"/>
            <a:ext cx="18288000" cy="873832"/>
            <a:chOff x="0" y="0"/>
            <a:chExt cx="4816593" cy="2301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CENTRAL LABORATORY, ISLAMIC UNIVERSITY, KUSHTIA, BANGLADESH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BD76BF45-CF71-B20E-EB2A-C4D3D15DB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5CBD1B5-72BB-F8FA-D7B4-09B1FB9716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23EB1EA-49EF-3FA8-5AD1-925381C11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198" y="1201165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117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2pPr>
            <a:lvl3pPr marL="914235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3pPr>
            <a:lvl4pPr marL="1371352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4pPr>
            <a:lvl5pPr marL="1828470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5pPr>
            <a:lvl6pPr marL="457195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6pPr>
            <a:lvl7pPr marL="914390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7pPr>
            <a:lvl8pPr marL="1371586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8pPr>
            <a:lvl9pPr marL="1828784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Motivation</a:t>
            </a:r>
            <a:b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1384B8B8-CFCE-952F-4387-F74331994BC3}"/>
              </a:ext>
            </a:extLst>
          </p:cNvPr>
          <p:cNvSpPr txBox="1"/>
          <p:nvPr/>
        </p:nvSpPr>
        <p:spPr>
          <a:xfrm>
            <a:off x="990600" y="3187275"/>
            <a:ext cx="16403980" cy="36620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400050" marR="0" lvl="0" indent="-400050" algn="just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Address </a:t>
            </a: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speech emotion recognition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issues in deep neural networks including  degradation and information loss </a:t>
            </a:r>
          </a:p>
          <a:p>
            <a:pPr marL="400050" marR="0" lvl="0" indent="-400050" algn="just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Utilize </a:t>
            </a:r>
            <a:r>
              <a:rPr lang="en-US" altLang="ja-JP" sz="2800" b="1" dirty="0">
                <a:solidFill>
                  <a:prstClr val="black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Transformer Model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capture the temporal dynamics of emotional expression </a:t>
            </a:r>
          </a:p>
          <a:p>
            <a:pPr marL="400050" marR="0" lvl="0" indent="-400050" algn="just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Provide a </a:t>
            </a: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novel bone-conducted</a:t>
            </a:r>
            <a:r>
              <a:rPr kumimoji="0" lang="en-US" altLang="ja-JP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speech emotion identification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21AFC9-CAEB-EF92-4B7A-00CB80D5A261}"/>
              </a:ext>
            </a:extLst>
          </p:cNvPr>
          <p:cNvSpPr txBox="1"/>
          <p:nvPr/>
        </p:nvSpPr>
        <p:spPr>
          <a:xfrm>
            <a:off x="17394580" y="8877300"/>
            <a:ext cx="5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8">
            <a:extLst>
              <a:ext uri="{FF2B5EF4-FFF2-40B4-BE49-F238E27FC236}">
                <a16:creationId xmlns:a16="http://schemas.microsoft.com/office/drawing/2014/main" id="{90B5722E-A38A-5E63-A781-6C63B59C1F4D}"/>
              </a:ext>
            </a:extLst>
          </p:cNvPr>
          <p:cNvGrpSpPr/>
          <p:nvPr/>
        </p:nvGrpSpPr>
        <p:grpSpPr>
          <a:xfrm>
            <a:off x="0" y="9232342"/>
            <a:ext cx="18300511" cy="1054658"/>
            <a:chOff x="0" y="-47625"/>
            <a:chExt cx="4819888" cy="277770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0D1712DC-5F8D-E19B-31DB-00458B689B8E}"/>
                </a:ext>
              </a:extLst>
            </p:cNvPr>
            <p:cNvSpPr/>
            <p:nvPr/>
          </p:nvSpPr>
          <p:spPr>
            <a:xfrm>
              <a:off x="3296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3360C63E-6755-AE51-E9E7-A27B5D361686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</a:t>
              </a:r>
              <a:r>
                <a:rPr lang="en-US" sz="1999" b="1" spc="47" dirty="0">
                  <a:solidFill>
                    <a:srgbClr val="000000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Universiti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Kebangsaan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Malaysia and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Institut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Teknologi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Bandung</a:t>
              </a:r>
              <a:endParaRPr lang="en-US" sz="1999" b="1" spc="47" dirty="0">
                <a:solidFill>
                  <a:schemeClr val="bg1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304B5F4A-2B2A-44EF-7BCE-E0C01978E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DEB72A2-6CF7-73E1-E2E0-45FC1D48E1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23EB1EA-49EF-3FA8-5AD1-925381C11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659" y="5619483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117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2pPr>
            <a:lvl3pPr marL="914235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3pPr>
            <a:lvl4pPr marL="1371352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4pPr>
            <a:lvl5pPr marL="1828470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5pPr>
            <a:lvl6pPr marL="457195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6pPr>
            <a:lvl7pPr marL="914390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7pPr>
            <a:lvl8pPr marL="1371586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8pPr>
            <a:lvl9pPr marL="1828784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Objective</a:t>
            </a:r>
            <a:b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1384B8B8-CFCE-952F-4387-F74331994BC3}"/>
              </a:ext>
            </a:extLst>
          </p:cNvPr>
          <p:cNvSpPr txBox="1"/>
          <p:nvPr/>
        </p:nvSpPr>
        <p:spPr>
          <a:xfrm>
            <a:off x="3509961" y="6283693"/>
            <a:ext cx="11268078" cy="28003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develop and optimize a Transformer based model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evaluate and compare the performance of the model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attain </a:t>
            </a: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state-of-the-art EmoBone dataset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performance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5AB0B9-F27D-6697-6731-CB1F1182A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0939" y="1202988"/>
            <a:ext cx="8229600" cy="1116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117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2pPr>
            <a:lvl3pPr marL="914235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3pPr>
            <a:lvl4pPr marL="1371352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4pPr>
            <a:lvl5pPr marL="1828470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5pPr>
            <a:lvl6pPr marL="457195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6pPr>
            <a:lvl7pPr marL="914390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7pPr>
            <a:lvl8pPr marL="1371586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8pPr>
            <a:lvl9pPr marL="1828784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Research Question</a:t>
            </a: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lowchart: Punched Tape 25">
            <a:extLst>
              <a:ext uri="{FF2B5EF4-FFF2-40B4-BE49-F238E27FC236}">
                <a16:creationId xmlns:a16="http://schemas.microsoft.com/office/drawing/2014/main" id="{4D53C846-BBA7-351E-AF20-E180954A7A15}"/>
              </a:ext>
            </a:extLst>
          </p:cNvPr>
          <p:cNvSpPr/>
          <p:nvPr/>
        </p:nvSpPr>
        <p:spPr>
          <a:xfrm>
            <a:off x="1371600" y="1670155"/>
            <a:ext cx="14401799" cy="3691997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587" algn="l" defTabSz="914235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705" algn="l" defTabSz="914235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199822" algn="l" defTabSz="914235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6940" algn="l" defTabSz="914235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50000"/>
              </a:lnSpc>
              <a:buFont typeface="Wingdings" panose="020B0604020202020204" pitchFamily="34" charset="0"/>
              <a:buChar char="ü"/>
            </a:pPr>
            <a:r>
              <a:rPr lang="en-GB" altLang="ja-JP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How can a </a:t>
            </a:r>
            <a:r>
              <a:rPr lang="en-GB" altLang="ja-JP" sz="2800" b="1" dirty="0">
                <a:solidFill>
                  <a:srgbClr val="FF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Transformer Model</a:t>
            </a:r>
            <a:r>
              <a:rPr lang="en-GB" altLang="ja-JP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 enhance its performance in </a:t>
            </a:r>
            <a:r>
              <a:rPr lang="en-GB" altLang="ja-JP" sz="2800" b="1" dirty="0">
                <a:solidFill>
                  <a:srgbClr val="FF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emotion recognition </a:t>
            </a:r>
            <a:r>
              <a:rPr lang="en-GB" altLang="ja-JP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using </a:t>
            </a:r>
            <a:r>
              <a:rPr lang="en-GB" altLang="ja-JP" sz="2800" b="1" dirty="0">
                <a:solidFill>
                  <a:srgbClr val="FF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bone-conducted speech for Malaysian speakers</a:t>
            </a:r>
            <a:r>
              <a:rPr lang="en-GB" altLang="ja-JP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?</a:t>
            </a:r>
            <a:endParaRPr lang="ja-JP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ＭＳ ゴシック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C4E324-C886-8310-AF83-688AD27CC199}"/>
              </a:ext>
            </a:extLst>
          </p:cNvPr>
          <p:cNvSpPr txBox="1"/>
          <p:nvPr/>
        </p:nvSpPr>
        <p:spPr>
          <a:xfrm>
            <a:off x="17394580" y="8877300"/>
            <a:ext cx="5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282EE-5A68-4456-53B9-DB9469BA6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053389A-6110-7DAC-1FB4-72FC3E791238}"/>
              </a:ext>
            </a:extLst>
          </p:cNvPr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4134D73-D66F-A229-FDD0-24D3368F9015}"/>
                </a:ext>
              </a:extLst>
            </p:cNvPr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6C00189-C33D-D4BD-5E40-AF07B57E4221}"/>
                </a:ext>
              </a:extLst>
            </p:cNvPr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4DFFEB1-CF6C-E669-74B0-93278732E2C8}"/>
              </a:ext>
            </a:extLst>
          </p:cNvPr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D76B718-11BB-1CE4-151B-8136A823AC10}"/>
                </a:ext>
              </a:extLst>
            </p:cNvPr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D91CA3F-BBE6-A09F-3E53-600D18629963}"/>
                </a:ext>
              </a:extLst>
            </p:cNvPr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8">
            <a:extLst>
              <a:ext uri="{FF2B5EF4-FFF2-40B4-BE49-F238E27FC236}">
                <a16:creationId xmlns:a16="http://schemas.microsoft.com/office/drawing/2014/main" id="{BC95761D-47CE-03CB-00A1-347F796385C6}"/>
              </a:ext>
            </a:extLst>
          </p:cNvPr>
          <p:cNvGrpSpPr/>
          <p:nvPr/>
        </p:nvGrpSpPr>
        <p:grpSpPr>
          <a:xfrm>
            <a:off x="0" y="9232342"/>
            <a:ext cx="18300511" cy="1054658"/>
            <a:chOff x="0" y="-47625"/>
            <a:chExt cx="4819888" cy="277770"/>
          </a:xfrm>
        </p:grpSpPr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4C771BDD-7309-81C8-C96A-6BBB3DC9C0C9}"/>
                </a:ext>
              </a:extLst>
            </p:cNvPr>
            <p:cNvSpPr/>
            <p:nvPr/>
          </p:nvSpPr>
          <p:spPr>
            <a:xfrm>
              <a:off x="3296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06E732D5-C20B-4983-67AB-C2C5378B15A7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</a:t>
              </a:r>
              <a:r>
                <a:rPr lang="en-US" sz="1999" b="1" spc="47" dirty="0">
                  <a:solidFill>
                    <a:srgbClr val="000000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Universiti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Kebangsaan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Malaysia and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Institut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Teknologi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Bandung</a:t>
              </a:r>
              <a:endParaRPr lang="en-US" sz="1999" b="1" spc="47" dirty="0">
                <a:solidFill>
                  <a:schemeClr val="bg1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endParaRP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7ABF5A24-DB7B-535B-B921-1B9F3EFEB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4F22C08-CA91-9EFF-5626-197D24C601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1AB163-2EA6-248F-F95B-715FFD6AB7F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161496" y="1068280"/>
            <a:ext cx="1014016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b="1" u="sng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Introduction</a:t>
            </a:r>
            <a:br>
              <a:rPr lang="en-GB" b="1" u="sng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lang="en-US" b="1" u="sng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00B0F0"/>
              </a:solidFill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ECBA932-3CBE-0166-57A4-9BD666A5A75E}"/>
              </a:ext>
            </a:extLst>
          </p:cNvPr>
          <p:cNvSpPr txBox="1">
            <a:spLocks noGrp="1"/>
          </p:cNvSpPr>
          <p:nvPr/>
        </p:nvSpPr>
        <p:spPr bwMode="auto">
          <a:xfrm>
            <a:off x="685800" y="2030629"/>
            <a:ext cx="16916400" cy="7789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898" indent="-34289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3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46" indent="-28574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1">
                <a:solidFill>
                  <a:schemeClr val="tx1"/>
                </a:solidFill>
                <a:latin typeface="+mn-lt"/>
              </a:defRPr>
            </a:lvl2pPr>
            <a:lvl3pPr marL="1142987" indent="-228599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1">
                <a:solidFill>
                  <a:schemeClr val="tx1"/>
                </a:solidFill>
                <a:latin typeface="+mn-lt"/>
              </a:defRPr>
            </a:lvl3pPr>
            <a:lvl4pPr marL="1600185" indent="-22859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1">
                <a:solidFill>
                  <a:schemeClr val="tx1"/>
                </a:solidFill>
                <a:latin typeface="+mn-lt"/>
              </a:defRPr>
            </a:lvl4pPr>
            <a:lvl5pPr marL="2057384" indent="-228599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5pPr>
            <a:lvl6pPr marL="2514573" indent="-22859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6pPr>
            <a:lvl7pPr marL="2971770" indent="-22859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7pPr>
            <a:lvl8pPr marL="3428966" indent="-22859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8pPr>
            <a:lvl9pPr marL="3886161" indent="-22859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9pPr>
          </a:lstStyle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Speech: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Speech is a primary mode of human communication 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It conveys not just information but also emotions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Accurately recognizing emotions in speech is crucial for various applications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3841" lvl="1" indent="0">
              <a:buNone/>
            </a:pP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3841" lvl="1" indent="0">
              <a:lnSpc>
                <a:spcPct val="80000"/>
              </a:lnSpc>
              <a:buNone/>
            </a:pP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3841" lvl="1" indent="0">
              <a:lnSpc>
                <a:spcPct val="80000"/>
              </a:lnSpc>
              <a:buNone/>
            </a:pP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3841" lvl="1" indent="0">
              <a:lnSpc>
                <a:spcPct val="80000"/>
              </a:lnSpc>
              <a:buNone/>
            </a:pP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3841" lvl="1" indent="0">
              <a:lnSpc>
                <a:spcPct val="80000"/>
              </a:lnSpc>
              <a:buNone/>
            </a:pP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3841" lvl="1" indent="0">
              <a:lnSpc>
                <a:spcPct val="80000"/>
              </a:lnSpc>
              <a:buNone/>
            </a:pP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Speech Recognition:</a:t>
            </a:r>
            <a:endParaRPr lang="en-US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Computers can recognize our words and turn them into text.</a:t>
            </a:r>
            <a:endParaRPr lang="en-US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Speech recognition analyzes features like pitch, sound waves, and pronunciation</a:t>
            </a:r>
            <a:endParaRPr lang="en-US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Voice assistants (e.g., Siri, Alexa, Google Assistant)</a:t>
            </a:r>
          </a:p>
          <a:p>
            <a:pPr marL="0" indent="0" algn="just">
              <a:buNone/>
            </a:pPr>
            <a:endParaRPr lang="en-US"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FF8A56-F9AD-AAC3-2A0C-CFEFA9D80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634" y="4350569"/>
            <a:ext cx="4091397" cy="1743476"/>
          </a:xfrm>
          <a:prstGeom prst="rect">
            <a:avLst/>
          </a:prstGeom>
        </p:spPr>
      </p:pic>
      <p:pic>
        <p:nvPicPr>
          <p:cNvPr id="11" name="Picture 10" descr="What Did I Learn from My Speech Class? | UIC Radio | University of Illinois  Chicago">
            <a:extLst>
              <a:ext uri="{FF2B5EF4-FFF2-40B4-BE49-F238E27FC236}">
                <a16:creationId xmlns:a16="http://schemas.microsoft.com/office/drawing/2014/main" id="{1F276844-4B25-F4DB-1692-8F1C12E35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053" y="4166710"/>
            <a:ext cx="4147348" cy="174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4">
            <a:extLst>
              <a:ext uri="{FF2B5EF4-FFF2-40B4-BE49-F238E27FC236}">
                <a16:creationId xmlns:a16="http://schemas.microsoft.com/office/drawing/2014/main" id="{CDC58532-D036-3AAC-1A4E-ED60416D588F}"/>
              </a:ext>
            </a:extLst>
          </p:cNvPr>
          <p:cNvSpPr txBox="1"/>
          <p:nvPr/>
        </p:nvSpPr>
        <p:spPr>
          <a:xfrm>
            <a:off x="1415127" y="6091012"/>
            <a:ext cx="4582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Figure 1: Speech delivery</a:t>
            </a:r>
            <a:endParaRPr lang="en-GB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3FD9C189-F010-4DAC-C5D1-DF000026355B}"/>
              </a:ext>
            </a:extLst>
          </p:cNvPr>
          <p:cNvSpPr txBox="1"/>
          <p:nvPr/>
        </p:nvSpPr>
        <p:spPr>
          <a:xfrm>
            <a:off x="6852920" y="6297083"/>
            <a:ext cx="4582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Figure 2: Speech recognition</a:t>
            </a:r>
            <a:endParaRPr lang="en-GB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267D8F-1DE9-10D9-1114-9EA7C9293E11}"/>
              </a:ext>
            </a:extLst>
          </p:cNvPr>
          <p:cNvSpPr txBox="1"/>
          <p:nvPr/>
        </p:nvSpPr>
        <p:spPr>
          <a:xfrm>
            <a:off x="17394580" y="8877300"/>
            <a:ext cx="5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83861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8">
            <a:extLst>
              <a:ext uri="{FF2B5EF4-FFF2-40B4-BE49-F238E27FC236}">
                <a16:creationId xmlns:a16="http://schemas.microsoft.com/office/drawing/2014/main" id="{ED05C4EF-3D36-A1EE-7CD2-CA64F332F144}"/>
              </a:ext>
            </a:extLst>
          </p:cNvPr>
          <p:cNvGrpSpPr/>
          <p:nvPr/>
        </p:nvGrpSpPr>
        <p:grpSpPr>
          <a:xfrm>
            <a:off x="0" y="9232342"/>
            <a:ext cx="18300511" cy="1054658"/>
            <a:chOff x="0" y="-47625"/>
            <a:chExt cx="4819888" cy="277770"/>
          </a:xfrm>
        </p:grpSpPr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400C32C5-DA9C-E834-D068-5C37DC79DEB6}"/>
                </a:ext>
              </a:extLst>
            </p:cNvPr>
            <p:cNvSpPr/>
            <p:nvPr/>
          </p:nvSpPr>
          <p:spPr>
            <a:xfrm>
              <a:off x="3296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A84A09F3-4D85-0D7F-3BA8-3ABC30ADDD78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</a:t>
              </a:r>
              <a:r>
                <a:rPr lang="en-US" sz="1999" b="1" spc="47" dirty="0">
                  <a:solidFill>
                    <a:srgbClr val="000000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Universiti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Kebangsaan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Malaysia and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Institut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Teknologi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Bandung</a:t>
              </a:r>
              <a:endParaRPr lang="en-US" sz="1999" b="1" spc="47" dirty="0">
                <a:solidFill>
                  <a:schemeClr val="bg1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endParaRP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FB27F478-AEEF-494D-F059-F954412FD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090FFE2-6F5D-45BE-1935-FDDE8149D7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18F66CA-F40E-0B72-D5E5-6EC06B5D37E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029200" y="812126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b="1" u="sng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Introduction(Cont.) </a:t>
            </a:r>
            <a:br>
              <a:rPr lang="en-GB" b="1" u="sng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lang="en-US" b="1" u="sng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00B0F0"/>
              </a:solidFill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1B21C0AC-BDE2-F86D-8DC2-51254B2E99BE}"/>
              </a:ext>
            </a:extLst>
          </p:cNvPr>
          <p:cNvSpPr txBox="1">
            <a:spLocks noGrp="1"/>
          </p:cNvSpPr>
          <p:nvPr/>
        </p:nvSpPr>
        <p:spPr bwMode="auto">
          <a:xfrm>
            <a:off x="284650" y="1506217"/>
            <a:ext cx="17317550" cy="6675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898" indent="-34289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3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46" indent="-28574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1">
                <a:solidFill>
                  <a:schemeClr val="tx1"/>
                </a:solidFill>
                <a:latin typeface="+mn-lt"/>
              </a:defRPr>
            </a:lvl2pPr>
            <a:lvl3pPr marL="1142987" indent="-228599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1">
                <a:solidFill>
                  <a:schemeClr val="tx1"/>
                </a:solidFill>
                <a:latin typeface="+mn-lt"/>
              </a:defRPr>
            </a:lvl3pPr>
            <a:lvl4pPr marL="1600185" indent="-22859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1">
                <a:solidFill>
                  <a:schemeClr val="tx1"/>
                </a:solidFill>
                <a:latin typeface="+mn-lt"/>
              </a:defRPr>
            </a:lvl4pPr>
            <a:lvl5pPr marL="2057384" indent="-228599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5pPr>
            <a:lvl6pPr marL="2514573" indent="-22859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6pPr>
            <a:lvl7pPr marL="2971770" indent="-22859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7pPr>
            <a:lvl8pPr marL="3428966" indent="-22859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8pPr>
            <a:lvl9pPr marL="3886161" indent="-22859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9pPr>
          </a:lstStyle>
          <a:p>
            <a:pPr marL="457195" indent="-457195" algn="just" eaLnBrk="1" hangingPunct="1">
              <a:buFont typeface="Wingdings" panose="05000000000000000000" pitchFamily="2" charset="2"/>
              <a:buChar char="q"/>
              <a:defRPr/>
            </a:pPr>
            <a:endParaRPr lang="en-US" sz="2801" dirty="0"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10184" indent="-210184">
              <a:lnSpc>
                <a:spcPct val="80000"/>
              </a:lnSpc>
              <a:buFont typeface="Wingdings" panose="020B0604020202020204" pitchFamily="34" charset="0"/>
              <a:buChar char="v"/>
            </a:pP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Speech Emotion Recognition (SER):</a:t>
            </a:r>
          </a:p>
          <a:p>
            <a:pPr marL="741041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SER aims to recognize emotions from spoken language automatically.</a:t>
            </a:r>
          </a:p>
          <a:p>
            <a:pPr marL="741041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SER analyzes features like tone, pitch, and energy to identify emotions</a:t>
            </a:r>
          </a:p>
          <a:p>
            <a:pPr marL="741041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Emotion recognition is important for understanding human behavior</a:t>
            </a:r>
          </a:p>
          <a:p>
            <a:pPr marL="741041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It can be used to improve social interactions, human-computer interaction (HCI), and affective computing</a:t>
            </a:r>
          </a:p>
          <a:p>
            <a:pPr marL="741041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SER has applications in diverse areas, such as call centers, in-vehicle services, and medical services etc.</a:t>
            </a:r>
          </a:p>
          <a:p>
            <a:pPr marL="0" indent="0" algn="just">
              <a:buNone/>
            </a:pPr>
            <a:endParaRPr lang="en-US" sz="28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2B09E0F-33CF-8903-DDAA-A3F85D282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539" y="1576015"/>
            <a:ext cx="6934200" cy="1628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977F60-3EE2-A4D5-A2F1-9188B739584D}"/>
              </a:ext>
            </a:extLst>
          </p:cNvPr>
          <p:cNvSpPr txBox="1"/>
          <p:nvPr/>
        </p:nvSpPr>
        <p:spPr>
          <a:xfrm>
            <a:off x="17394580" y="8877300"/>
            <a:ext cx="5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28D97-08E7-D7AE-E8A5-EC76B94F5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070AF21-0C92-4204-7C77-E75AA908C750}"/>
              </a:ext>
            </a:extLst>
          </p:cNvPr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F04C1D9-3ADA-6FAA-4361-03BC65096135}"/>
                </a:ext>
              </a:extLst>
            </p:cNvPr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4DDDF18-D871-51AC-CA9E-E37C7CF04F2E}"/>
                </a:ext>
              </a:extLst>
            </p:cNvPr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94232ED-0879-ABCB-D75F-556E8F476461}"/>
              </a:ext>
            </a:extLst>
          </p:cNvPr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505A0E9-4424-0A17-D9B7-B3F6D70FFEC5}"/>
                </a:ext>
              </a:extLst>
            </p:cNvPr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5AFD1A0-772F-C451-2960-F8CD17FB1624}"/>
                </a:ext>
              </a:extLst>
            </p:cNvPr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8">
            <a:extLst>
              <a:ext uri="{FF2B5EF4-FFF2-40B4-BE49-F238E27FC236}">
                <a16:creationId xmlns:a16="http://schemas.microsoft.com/office/drawing/2014/main" id="{C9E9CAE8-5F56-4EAF-C533-4654F592A972}"/>
              </a:ext>
            </a:extLst>
          </p:cNvPr>
          <p:cNvGrpSpPr/>
          <p:nvPr/>
        </p:nvGrpSpPr>
        <p:grpSpPr>
          <a:xfrm>
            <a:off x="0" y="9232342"/>
            <a:ext cx="18300511" cy="1054658"/>
            <a:chOff x="0" y="-47625"/>
            <a:chExt cx="4819888" cy="277770"/>
          </a:xfrm>
        </p:grpSpPr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6B75C1AB-F03C-94A2-A1F5-D232C8114AC1}"/>
                </a:ext>
              </a:extLst>
            </p:cNvPr>
            <p:cNvSpPr/>
            <p:nvPr/>
          </p:nvSpPr>
          <p:spPr>
            <a:xfrm>
              <a:off x="3296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E599F0B1-CCB5-8ACE-E46E-522B944BED5A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</a:t>
              </a:r>
              <a:r>
                <a:rPr lang="en-US" sz="1999" b="1" spc="47" dirty="0">
                  <a:solidFill>
                    <a:srgbClr val="000000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Universiti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Kebangsaan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Malaysia and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Institut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Teknologi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Bandung</a:t>
              </a:r>
              <a:endParaRPr lang="en-US" sz="1999" b="1" spc="47" dirty="0">
                <a:solidFill>
                  <a:schemeClr val="bg1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endParaRP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0895ECAB-21D2-273B-E83C-E10E890D2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D1360EA-A2C0-9D64-C7C9-3E8DE294CD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03238BC-DA6D-48C8-871B-D1AA8F36D0F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888345" y="1438237"/>
            <a:ext cx="11243257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b="1" u="sng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Introduction(Cont.) </a:t>
            </a:r>
            <a:br>
              <a:rPr lang="en-GB" b="1" u="sng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lang="en-US" b="1" u="sng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00B0F0"/>
              </a:solidFill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7450B3-E660-5708-33E8-D5FC203D54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508063"/>
            <a:ext cx="14782800" cy="5864389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C5F1E483-58D0-47F0-BE54-E63D3C84EC2B}"/>
              </a:ext>
            </a:extLst>
          </p:cNvPr>
          <p:cNvSpPr txBox="1"/>
          <p:nvPr/>
        </p:nvSpPr>
        <p:spPr>
          <a:xfrm>
            <a:off x="6866179" y="8448652"/>
            <a:ext cx="62601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Figure 4: Bone conduction technology</a:t>
            </a:r>
            <a:endParaRPr lang="en-GB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084CF2-DE28-FE07-F024-30254815AE72}"/>
              </a:ext>
            </a:extLst>
          </p:cNvPr>
          <p:cNvSpPr txBox="1"/>
          <p:nvPr/>
        </p:nvSpPr>
        <p:spPr>
          <a:xfrm>
            <a:off x="17394580" y="8877300"/>
            <a:ext cx="5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74791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8">
            <a:extLst>
              <a:ext uri="{FF2B5EF4-FFF2-40B4-BE49-F238E27FC236}">
                <a16:creationId xmlns:a16="http://schemas.microsoft.com/office/drawing/2014/main" id="{6666228E-FE63-35AF-0B20-7DA75E7A7E2F}"/>
              </a:ext>
            </a:extLst>
          </p:cNvPr>
          <p:cNvGrpSpPr/>
          <p:nvPr/>
        </p:nvGrpSpPr>
        <p:grpSpPr>
          <a:xfrm>
            <a:off x="0" y="9232342"/>
            <a:ext cx="18300511" cy="1054658"/>
            <a:chOff x="0" y="-47625"/>
            <a:chExt cx="4819888" cy="277770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73715AF1-AA07-71E8-7B3F-F2F370E92275}"/>
                </a:ext>
              </a:extLst>
            </p:cNvPr>
            <p:cNvSpPr/>
            <p:nvPr/>
          </p:nvSpPr>
          <p:spPr>
            <a:xfrm>
              <a:off x="3296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C34829B2-1434-4AF8-11C2-3D48E6947506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</a:t>
              </a:r>
              <a:r>
                <a:rPr lang="en-US" sz="1999" b="1" spc="47" dirty="0">
                  <a:solidFill>
                    <a:srgbClr val="000000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Universiti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Kebangsaan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Malaysia and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Institut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Teknologi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Bandung</a:t>
              </a:r>
              <a:endParaRPr lang="en-US" sz="1999" b="1" spc="47" dirty="0">
                <a:solidFill>
                  <a:schemeClr val="bg1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264A928D-3521-D34D-44E4-7830FA181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4BDB3F1-1233-B642-6910-B41EB62D15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5E3E8AE-6A50-4978-9158-B9557513D4EC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964385" y="715915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b="1" u="sng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Introduction(Cont.) </a:t>
            </a:r>
            <a:br>
              <a:rPr lang="en-GB" b="1" u="sng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lang="en-US" b="1" u="sng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00B0F0"/>
              </a:solidFill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C2E80B6-A52A-E683-77E2-CC94591CF691}"/>
              </a:ext>
            </a:extLst>
          </p:cNvPr>
          <p:cNvSpPr txBox="1">
            <a:spLocks/>
          </p:cNvSpPr>
          <p:nvPr/>
        </p:nvSpPr>
        <p:spPr bwMode="auto">
          <a:xfrm>
            <a:off x="533400" y="2312354"/>
            <a:ext cx="5882784" cy="7010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US"/>
            </a:defPPr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235" rtl="0" eaLnBrk="1" fontAlgn="base" latinLnBrk="0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6pPr>
            <a:lvl7pPr marL="2971800" indent="-228600" algn="l" defTabSz="914235" rtl="0" eaLnBrk="1" fontAlgn="base" latinLnBrk="0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7pPr>
            <a:lvl8pPr marL="3429000" indent="-228600" algn="l" defTabSz="914235" rtl="0" eaLnBrk="1" fontAlgn="base" latinLnBrk="0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8pPr>
            <a:lvl9pPr marL="3886200" indent="-228600" algn="l" defTabSz="914235" rtl="0" eaLnBrk="1" fontAlgn="base" latinLnBrk="0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9pPr>
          </a:lstStyle>
          <a:p>
            <a:pPr marL="210184" indent="-210184">
              <a:buFont typeface="Wingdings" panose="020B0604020202020204" pitchFamily="34" charset="0"/>
              <a:buChar char="v"/>
            </a:pPr>
            <a:r>
              <a:rPr lang="en-US" sz="3000" b="1" kern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Human Computer Interaction :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kern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Smartphones and wearables devices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kern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Virtual assistants and chatbots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kern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Biometric authentication</a:t>
            </a:r>
          </a:p>
          <a:p>
            <a:pPr marL="210184" indent="-210184">
              <a:buFont typeface="Wingdings" panose="020B0604020202020204" pitchFamily="34" charset="0"/>
              <a:buChar char="v"/>
            </a:pPr>
            <a:r>
              <a:rPr lang="en-US" sz="3000" b="1" kern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Healthcare and Mental Health</a:t>
            </a:r>
            <a:r>
              <a:rPr lang="en-US" sz="3000" kern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</a:t>
            </a:r>
            <a:endParaRPr lang="en-US" sz="3000" kern="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kern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Mental health monitoring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kern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Telehealth and remote monitoring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kern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Speech therapy and language learning</a:t>
            </a:r>
          </a:p>
          <a:p>
            <a:pPr marL="210184" indent="-210184">
              <a:buFont typeface="Wingdings" panose="020B0604020202020204" pitchFamily="34" charset="0"/>
              <a:buChar char="v"/>
            </a:pPr>
            <a:r>
              <a:rPr lang="en-US" sz="2800" kern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3000" b="1" kern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Education and Learning</a:t>
            </a:r>
            <a:r>
              <a:rPr lang="en-US" sz="2800" kern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</a:t>
            </a:r>
            <a:endParaRPr lang="en-US" sz="2800" kern="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kern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Personalized learning environments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kern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Educational games and applications</a:t>
            </a:r>
          </a:p>
          <a:p>
            <a:pPr marL="438781" lvl="1" indent="-154940">
              <a:buFont typeface="Courier New" panose="020B0604020202020204" pitchFamily="34" charset="0"/>
              <a:buChar char="o"/>
            </a:pPr>
            <a:r>
              <a:rPr lang="en-US" kern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Sports training and performance analysis</a:t>
            </a:r>
          </a:p>
          <a:p>
            <a:pPr marL="283843" lvl="1" indent="0">
              <a:lnSpc>
                <a:spcPct val="80000"/>
              </a:lnSpc>
              <a:buNone/>
            </a:pPr>
            <a:endParaRPr lang="en-US" sz="280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F9A456E2-4AC9-220A-E019-39CB431FE338}"/>
              </a:ext>
            </a:extLst>
          </p:cNvPr>
          <p:cNvSpPr txBox="1">
            <a:spLocks/>
          </p:cNvSpPr>
          <p:nvPr/>
        </p:nvSpPr>
        <p:spPr>
          <a:xfrm>
            <a:off x="10855190" y="2573415"/>
            <a:ext cx="5768433" cy="703141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235" rtl="0" eaLnBrk="1" fontAlgn="base" latinLnBrk="0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6pPr>
            <a:lvl7pPr marL="2971800" indent="-228600" algn="l" defTabSz="914235" rtl="0" eaLnBrk="1" fontAlgn="base" latinLnBrk="0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7pPr>
            <a:lvl8pPr marL="3429000" indent="-228600" algn="l" defTabSz="914235" rtl="0" eaLnBrk="1" fontAlgn="base" latinLnBrk="0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8pPr>
            <a:lvl9pPr marL="3886200" indent="-228600" algn="l" defTabSz="914235" rtl="0" eaLnBrk="1" fontAlgn="base" latinLnBrk="0" hangingPunct="1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9pPr>
          </a:lstStyle>
          <a:p>
            <a:pPr marL="210184" indent="-210184">
              <a:lnSpc>
                <a:spcPct val="110000"/>
              </a:lnSpc>
              <a:buFont typeface="Wingdings" panose="020B0604020202020204" pitchFamily="34" charset="0"/>
              <a:buChar char="v"/>
            </a:pPr>
            <a:r>
              <a:rPr lang="en-US" sz="2600" kern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2800" b="1" kern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Security and Law Enforcement</a:t>
            </a:r>
            <a:r>
              <a:rPr lang="en-US" sz="2600" kern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</a:t>
            </a:r>
          </a:p>
          <a:p>
            <a:pPr marL="438781" lvl="1" indent="-154940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2600" kern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Stress detection in high-pressure situations</a:t>
            </a:r>
          </a:p>
          <a:p>
            <a:pPr marL="438781" lvl="1" indent="-154940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2600" kern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Passenger screening at airports or borders</a:t>
            </a:r>
          </a:p>
          <a:p>
            <a:pPr marL="438781" lvl="1" indent="-154940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2600" kern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Lie detection and deception analysis</a:t>
            </a:r>
          </a:p>
          <a:p>
            <a:pPr marL="283841" lvl="1" indent="0">
              <a:lnSpc>
                <a:spcPct val="110000"/>
              </a:lnSpc>
              <a:buNone/>
            </a:pPr>
            <a:endParaRPr lang="en-US" sz="2600" kern="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10184" indent="-210184">
              <a:lnSpc>
                <a:spcPct val="110000"/>
              </a:lnSpc>
              <a:buFont typeface="Wingdings" panose="020B0604020202020204" pitchFamily="34" charset="0"/>
              <a:buChar char="v"/>
            </a:pPr>
            <a:r>
              <a:rPr lang="en-US" sz="2600" kern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2600" b="1" kern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Customer Service and Marketing</a:t>
            </a:r>
            <a:r>
              <a:rPr lang="en-US" sz="2600" kern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</a:t>
            </a:r>
          </a:p>
          <a:p>
            <a:pPr marL="438781" lvl="1" indent="-154940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2600" kern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Empathy detection in call centers</a:t>
            </a:r>
          </a:p>
          <a:p>
            <a:pPr marL="438781" lvl="1" indent="-154940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2600" kern="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Targeted marketing and advertising</a:t>
            </a:r>
          </a:p>
          <a:p>
            <a:endParaRPr lang="en-GB" sz="3203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1">
            <a:extLst>
              <a:ext uri="{FF2B5EF4-FFF2-40B4-BE49-F238E27FC236}">
                <a16:creationId xmlns:a16="http://schemas.microsoft.com/office/drawing/2014/main" id="{995D5BB4-83C4-80F0-4441-17D8516D351E}"/>
              </a:ext>
            </a:extLst>
          </p:cNvPr>
          <p:cNvSpPr txBox="1"/>
          <p:nvPr/>
        </p:nvSpPr>
        <p:spPr>
          <a:xfrm>
            <a:off x="4791942" y="1500086"/>
            <a:ext cx="8381990" cy="4002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/>
            <a:r>
              <a:rPr lang="en-US" sz="2001" b="1" dirty="0">
                <a:solidFill>
                  <a:srgbClr val="00B05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Probable application areas of BC speech emotion recognition system</a:t>
            </a:r>
            <a:endParaRPr lang="en-US" sz="2001" dirty="0">
              <a:solidFill>
                <a:srgbClr val="00B05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08CEFB-DD66-4A96-02A5-05CBEEFCA7B0}"/>
              </a:ext>
            </a:extLst>
          </p:cNvPr>
          <p:cNvSpPr txBox="1"/>
          <p:nvPr/>
        </p:nvSpPr>
        <p:spPr>
          <a:xfrm>
            <a:off x="17394580" y="8877300"/>
            <a:ext cx="5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7BD40-3D3B-8313-00CC-787205EA3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7AC169D-D6F7-79B2-83B4-01CCF3123CC8}"/>
              </a:ext>
            </a:extLst>
          </p:cNvPr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60B9E64-37BF-DE50-9D2B-E64053FA1A0B}"/>
                </a:ext>
              </a:extLst>
            </p:cNvPr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DBF5BBE-8840-7E8C-851B-2A5B7D19A910}"/>
                </a:ext>
              </a:extLst>
            </p:cNvPr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BF58BE7-938E-596C-DE6D-303B800BBB71}"/>
              </a:ext>
            </a:extLst>
          </p:cNvPr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3CC7357-83D0-385D-FABB-56F07A2CFF53}"/>
                </a:ext>
              </a:extLst>
            </p:cNvPr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BDB8BCC-8D21-1CC3-407A-074844F5E64A}"/>
                </a:ext>
              </a:extLst>
            </p:cNvPr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8">
            <a:extLst>
              <a:ext uri="{FF2B5EF4-FFF2-40B4-BE49-F238E27FC236}">
                <a16:creationId xmlns:a16="http://schemas.microsoft.com/office/drawing/2014/main" id="{C6C4F504-5DBC-6C91-AE05-A98A1C20D170}"/>
              </a:ext>
            </a:extLst>
          </p:cNvPr>
          <p:cNvGrpSpPr/>
          <p:nvPr/>
        </p:nvGrpSpPr>
        <p:grpSpPr>
          <a:xfrm>
            <a:off x="0" y="9232342"/>
            <a:ext cx="18300511" cy="1054658"/>
            <a:chOff x="0" y="-47625"/>
            <a:chExt cx="4819888" cy="277770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4E17277D-AFD1-B922-FD49-D45644786194}"/>
                </a:ext>
              </a:extLst>
            </p:cNvPr>
            <p:cNvSpPr/>
            <p:nvPr/>
          </p:nvSpPr>
          <p:spPr>
            <a:xfrm>
              <a:off x="3296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91F0C3FD-4AFC-0E85-528B-AD174658877F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</a:t>
              </a:r>
              <a:r>
                <a:rPr lang="en-US" sz="1999" b="1" spc="47" dirty="0">
                  <a:solidFill>
                    <a:srgbClr val="000000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Universiti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Kebangsaan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Malaysia and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Institut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Teknologi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Bandung</a:t>
              </a:r>
              <a:endParaRPr lang="en-US" sz="1999" b="1" spc="47" dirty="0">
                <a:solidFill>
                  <a:schemeClr val="bg1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8FC99CC1-0BDB-943C-CCDA-D54DB4059D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EE3DE41-A05E-A1B6-4090-E8918DCD51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F055D36-64EE-BB3E-0821-72E686BE714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757554" y="1004205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95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9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86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8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b="1" u="sng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Dataset Preparation</a:t>
            </a:r>
            <a:br>
              <a:rPr lang="en-GB" b="1" u="sng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lang="en-US" b="1" u="sng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00B0F0"/>
              </a:solidFill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B6C84D92-6E43-58AD-3695-65D094EE2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601003"/>
            <a:ext cx="13258800" cy="4452275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3D6CF639-6E50-7395-F940-11BCF5BBC123}"/>
              </a:ext>
            </a:extLst>
          </p:cNvPr>
          <p:cNvSpPr txBox="1"/>
          <p:nvPr/>
        </p:nvSpPr>
        <p:spPr>
          <a:xfrm>
            <a:off x="6281554" y="6151167"/>
            <a:ext cx="4343400" cy="313162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defTabSz="877824">
              <a:spcAft>
                <a:spcPts val="600"/>
              </a:spcAft>
            </a:pPr>
            <a:endParaRPr lang="en-US" sz="355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  <a:p>
            <a:pPr marL="571500" indent="-571500" defTabSz="877824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55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Happy</a:t>
            </a:r>
          </a:p>
          <a:p>
            <a:pPr marL="571500" indent="-571500" defTabSz="877824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55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Angry</a:t>
            </a:r>
          </a:p>
          <a:p>
            <a:pPr marL="571500" indent="-571500" defTabSz="877824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55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Sad</a:t>
            </a:r>
          </a:p>
          <a:p>
            <a:pPr marL="571500" indent="-571500" defTabSz="877824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55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Calm</a:t>
            </a:r>
            <a:r>
              <a:rPr lang="en-US" sz="3550" kern="1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​</a:t>
            </a:r>
            <a:endParaRPr lang="en-US" sz="355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108067D5-7F01-09FB-E7D5-A2679AB634AB}"/>
              </a:ext>
            </a:extLst>
          </p:cNvPr>
          <p:cNvSpPr txBox="1"/>
          <p:nvPr/>
        </p:nvSpPr>
        <p:spPr>
          <a:xfrm>
            <a:off x="9481954" y="6750568"/>
            <a:ext cx="4343400" cy="250837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571500" indent="-571500" defTabSz="877824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55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Disgust</a:t>
            </a:r>
          </a:p>
          <a:p>
            <a:pPr marL="571500" indent="-571500" defTabSz="877824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55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Neutral</a:t>
            </a:r>
          </a:p>
          <a:p>
            <a:pPr marL="571500" indent="-571500" defTabSz="877824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55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Fear</a:t>
            </a:r>
          </a:p>
          <a:p>
            <a:pPr marL="571500" indent="-571500" defTabSz="877824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55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Surprise</a:t>
            </a:r>
            <a:r>
              <a:rPr lang="en-US" sz="3550" kern="1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​</a:t>
            </a:r>
            <a:endParaRPr lang="en-US" sz="355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51BBF426-ADF6-1079-122B-ECBCA3B7CC25}"/>
              </a:ext>
            </a:extLst>
          </p:cNvPr>
          <p:cNvSpPr txBox="1"/>
          <p:nvPr/>
        </p:nvSpPr>
        <p:spPr>
          <a:xfrm>
            <a:off x="7043554" y="6098439"/>
            <a:ext cx="5943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Emotion</a:t>
            </a:r>
            <a:r>
              <a:rPr lang="en-US" sz="4000" kern="1200" dirty="0">
                <a:solidFill>
                  <a:srgbClr val="C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 </a:t>
            </a:r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Categories</a:t>
            </a:r>
            <a:endParaRPr lang="en-GB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9A115919-76C7-9074-B1DB-F5EC071912F6}"/>
              </a:ext>
            </a:extLst>
          </p:cNvPr>
          <p:cNvSpPr txBox="1"/>
          <p:nvPr/>
        </p:nvSpPr>
        <p:spPr>
          <a:xfrm>
            <a:off x="7785873" y="5910644"/>
            <a:ext cx="4582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Figure 5: Emotion categories</a:t>
            </a:r>
            <a:endParaRPr lang="en-GB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E90A9D-F422-02D2-3F5C-489C19B6725C}"/>
              </a:ext>
            </a:extLst>
          </p:cNvPr>
          <p:cNvSpPr txBox="1"/>
          <p:nvPr/>
        </p:nvSpPr>
        <p:spPr>
          <a:xfrm>
            <a:off x="17394580" y="8877300"/>
            <a:ext cx="5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91411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8">
            <a:extLst>
              <a:ext uri="{FF2B5EF4-FFF2-40B4-BE49-F238E27FC236}">
                <a16:creationId xmlns:a16="http://schemas.microsoft.com/office/drawing/2014/main" id="{190DB1DE-0E5A-1A87-ED3C-BF5596B645FD}"/>
              </a:ext>
            </a:extLst>
          </p:cNvPr>
          <p:cNvGrpSpPr/>
          <p:nvPr/>
        </p:nvGrpSpPr>
        <p:grpSpPr>
          <a:xfrm>
            <a:off x="0" y="9232342"/>
            <a:ext cx="18300511" cy="1054658"/>
            <a:chOff x="0" y="-47625"/>
            <a:chExt cx="4819888" cy="277770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016DA361-DF69-EF74-585B-F2B04460D08B}"/>
                </a:ext>
              </a:extLst>
            </p:cNvPr>
            <p:cNvSpPr/>
            <p:nvPr/>
          </p:nvSpPr>
          <p:spPr>
            <a:xfrm>
              <a:off x="3296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55B3DB68-FD19-2343-B208-751371361DC5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</a:t>
              </a:r>
              <a:r>
                <a:rPr lang="en-US" sz="1999" b="1" spc="47" dirty="0">
                  <a:solidFill>
                    <a:srgbClr val="000000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Universiti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Kebangsaan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Malaysia and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Institut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Teknologi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Bandung</a:t>
              </a:r>
              <a:endParaRPr lang="en-US" sz="1999" b="1" spc="47" dirty="0">
                <a:solidFill>
                  <a:schemeClr val="bg1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D4D2E129-4151-2BBC-326E-47D216E7C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9C6C70E-68BF-0C2A-8667-D454F948F9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23EB1EA-49EF-3FA8-5AD1-925381C11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4900" y="1038225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117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2pPr>
            <a:lvl3pPr marL="914235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3pPr>
            <a:lvl4pPr marL="1371352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4pPr>
            <a:lvl5pPr marL="1828470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5pPr>
            <a:lvl6pPr marL="457195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6pPr>
            <a:lvl7pPr marL="914390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7pPr>
            <a:lvl8pPr marL="1371586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8pPr>
            <a:lvl9pPr marL="1828784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en-GB" b="1" u="sng" kern="0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Dataset Preparation(Cont.)</a:t>
            </a:r>
            <a:br>
              <a:rPr lang="en-GB" b="1" u="sng" kern="0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lang="en-US" b="1" u="sng" kern="0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lang="en-US" b="1" kern="0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lang="en-US" b="1" kern="0" dirty="0">
              <a:solidFill>
                <a:srgbClr val="00B0F0"/>
              </a:solidFill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Content Placeholder 3" descr="A diagram of a recording process&#10;&#10;Description automatically generated">
            <a:extLst>
              <a:ext uri="{FF2B5EF4-FFF2-40B4-BE49-F238E27FC236}">
                <a16:creationId xmlns:a16="http://schemas.microsoft.com/office/drawing/2014/main" id="{9A23708D-699B-F14A-A505-B958F4A16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2767263" y="1682466"/>
            <a:ext cx="13601700" cy="3288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extBox 7">
            <a:extLst>
              <a:ext uri="{FF2B5EF4-FFF2-40B4-BE49-F238E27FC236}">
                <a16:creationId xmlns:a16="http://schemas.microsoft.com/office/drawing/2014/main" id="{15A864EA-B325-BA6B-38E2-3BA62DA60EAE}"/>
              </a:ext>
            </a:extLst>
          </p:cNvPr>
          <p:cNvSpPr txBox="1"/>
          <p:nvPr/>
        </p:nvSpPr>
        <p:spPr>
          <a:xfrm>
            <a:off x="6857770" y="4705619"/>
            <a:ext cx="7277329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77824"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Figure 6: Flowchart for dataset preparation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table">
            <a:extLst>
              <a:ext uri="{FF2B5EF4-FFF2-40B4-BE49-F238E27FC236}">
                <a16:creationId xmlns:a16="http://schemas.microsoft.com/office/drawing/2014/main" id="{B7D4EA8E-0BB7-FC45-BF75-EB49062D0D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600" y="5576285"/>
            <a:ext cx="6362700" cy="3728590"/>
          </a:xfrm>
          <a:prstGeom prst="rect">
            <a:avLst/>
          </a:prstGeom>
        </p:spPr>
      </p:pic>
      <p:sp>
        <p:nvSpPr>
          <p:cNvPr id="27" name="TextBox 18">
            <a:extLst>
              <a:ext uri="{FF2B5EF4-FFF2-40B4-BE49-F238E27FC236}">
                <a16:creationId xmlns:a16="http://schemas.microsoft.com/office/drawing/2014/main" id="{0AD7FF36-B13E-BF56-23DF-2F6B59281BFD}"/>
              </a:ext>
            </a:extLst>
          </p:cNvPr>
          <p:cNvSpPr txBox="1"/>
          <p:nvPr/>
        </p:nvSpPr>
        <p:spPr>
          <a:xfrm>
            <a:off x="6057900" y="5094527"/>
            <a:ext cx="4322444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defTabSz="877824"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Table 1: Sentences used for dataset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33811D-50AD-5DA4-2D47-0AA6FC5BE741}"/>
              </a:ext>
            </a:extLst>
          </p:cNvPr>
          <p:cNvSpPr txBox="1"/>
          <p:nvPr/>
        </p:nvSpPr>
        <p:spPr>
          <a:xfrm>
            <a:off x="17394580" y="8877300"/>
            <a:ext cx="5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8">
            <a:extLst>
              <a:ext uri="{FF2B5EF4-FFF2-40B4-BE49-F238E27FC236}">
                <a16:creationId xmlns:a16="http://schemas.microsoft.com/office/drawing/2014/main" id="{62B3ED0D-3B8A-8FED-0390-ADACBDD9DC2D}"/>
              </a:ext>
            </a:extLst>
          </p:cNvPr>
          <p:cNvGrpSpPr/>
          <p:nvPr/>
        </p:nvGrpSpPr>
        <p:grpSpPr>
          <a:xfrm>
            <a:off x="0" y="9232342"/>
            <a:ext cx="18300511" cy="1054658"/>
            <a:chOff x="0" y="-47625"/>
            <a:chExt cx="4819888" cy="277770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FD2712D1-8089-C4BB-283B-3991DBDDCFE2}"/>
                </a:ext>
              </a:extLst>
            </p:cNvPr>
            <p:cNvSpPr/>
            <p:nvPr/>
          </p:nvSpPr>
          <p:spPr>
            <a:xfrm>
              <a:off x="3296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C2679B6D-BFBD-1307-E221-661517D43B50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</a:t>
              </a:r>
              <a:r>
                <a:rPr lang="en-US" sz="1999" b="1" spc="47" dirty="0">
                  <a:solidFill>
                    <a:srgbClr val="000000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Universiti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Kebangsaan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Malaysia and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Institut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Teknologi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Bandung</a:t>
              </a:r>
              <a:endParaRPr lang="en-US" sz="1999" b="1" spc="47" dirty="0">
                <a:solidFill>
                  <a:schemeClr val="bg1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ECB43C6B-4004-E484-5E4F-EB9242B3D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56E5092-B235-9D38-027C-250CDE3EAC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23EB1EA-49EF-3FA8-5AD1-925381C11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1742" y="1243034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117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2pPr>
            <a:lvl3pPr marL="914235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3pPr>
            <a:lvl4pPr marL="1371352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4pPr>
            <a:lvl5pPr marL="1828470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5pPr>
            <a:lvl6pPr marL="457195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6pPr>
            <a:lvl7pPr marL="914390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7pPr>
            <a:lvl8pPr marL="1371586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8pPr>
            <a:lvl9pPr marL="1828784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en-GB" b="1" u="sng" kern="0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Dataset Preparation(Cont.)</a:t>
            </a:r>
            <a:br>
              <a:rPr lang="en-GB" b="1" u="sng" kern="0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lang="en-US" b="1" u="sng" kern="0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lang="en-US" b="1" kern="0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lang="en-US" b="1" kern="0" dirty="0">
              <a:solidFill>
                <a:srgbClr val="00B0F0"/>
              </a:solidFill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510F0439-D584-DE30-D382-07944171C964}"/>
              </a:ext>
            </a:extLst>
          </p:cNvPr>
          <p:cNvSpPr txBox="1"/>
          <p:nvPr/>
        </p:nvSpPr>
        <p:spPr>
          <a:xfrm>
            <a:off x="1387342" y="1740163"/>
            <a:ext cx="4322444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defTabSz="877824"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Table 2: Dataset summary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table">
            <a:extLst>
              <a:ext uri="{FF2B5EF4-FFF2-40B4-BE49-F238E27FC236}">
                <a16:creationId xmlns:a16="http://schemas.microsoft.com/office/drawing/2014/main" id="{FBA5FED1-924C-BBF8-F333-E23813C9E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580" y="2179605"/>
            <a:ext cx="7025924" cy="6864360"/>
          </a:xfrm>
          <a:prstGeom prst="rect">
            <a:avLst/>
          </a:prstGeom>
        </p:spPr>
      </p:pic>
      <p:pic>
        <p:nvPicPr>
          <p:cNvPr id="26" name="table">
            <a:extLst>
              <a:ext uri="{FF2B5EF4-FFF2-40B4-BE49-F238E27FC236}">
                <a16:creationId xmlns:a16="http://schemas.microsoft.com/office/drawing/2014/main" id="{BC9F7818-836B-C193-3E5A-B9AF73CBCD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9185" y="2300814"/>
            <a:ext cx="7537815" cy="6893484"/>
          </a:xfrm>
          <a:prstGeom prst="rect">
            <a:avLst/>
          </a:prstGeom>
        </p:spPr>
      </p:pic>
      <p:sp>
        <p:nvSpPr>
          <p:cNvPr id="27" name="TextBox 10">
            <a:extLst>
              <a:ext uri="{FF2B5EF4-FFF2-40B4-BE49-F238E27FC236}">
                <a16:creationId xmlns:a16="http://schemas.microsoft.com/office/drawing/2014/main" id="{089F7B8F-EF6E-7939-4C1E-8F980C4E5BD7}"/>
              </a:ext>
            </a:extLst>
          </p:cNvPr>
          <p:cNvSpPr txBox="1"/>
          <p:nvPr/>
        </p:nvSpPr>
        <p:spPr>
          <a:xfrm>
            <a:off x="10888283" y="1817967"/>
            <a:ext cx="7025924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defTabSz="877824"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Table 3: Speaker number and language status by country</a:t>
            </a:r>
          </a:p>
          <a:p>
            <a:pPr defTabSz="877824">
              <a:spcAft>
                <a:spcPts val="600"/>
              </a:spcAft>
            </a:pPr>
            <a:endParaRPr lang="en-US" sz="16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B39F22-B23F-A459-4E38-B347F2863420}"/>
              </a:ext>
            </a:extLst>
          </p:cNvPr>
          <p:cNvSpPr txBox="1"/>
          <p:nvPr/>
        </p:nvSpPr>
        <p:spPr>
          <a:xfrm>
            <a:off x="17394580" y="8877300"/>
            <a:ext cx="5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8">
            <a:extLst>
              <a:ext uri="{FF2B5EF4-FFF2-40B4-BE49-F238E27FC236}">
                <a16:creationId xmlns:a16="http://schemas.microsoft.com/office/drawing/2014/main" id="{FBC4ADF2-2474-5900-8D15-6F4B912FF1C4}"/>
              </a:ext>
            </a:extLst>
          </p:cNvPr>
          <p:cNvGrpSpPr/>
          <p:nvPr/>
        </p:nvGrpSpPr>
        <p:grpSpPr>
          <a:xfrm>
            <a:off x="0" y="9232342"/>
            <a:ext cx="18300511" cy="1054658"/>
            <a:chOff x="0" y="-47625"/>
            <a:chExt cx="4819888" cy="277770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A456FFE9-6D6A-B19C-8025-5E08EE8E6D77}"/>
                </a:ext>
              </a:extLst>
            </p:cNvPr>
            <p:cNvSpPr/>
            <p:nvPr/>
          </p:nvSpPr>
          <p:spPr>
            <a:xfrm>
              <a:off x="3296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72DFBC7A-764D-13F8-6A68-CBFAA82D46C5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</a:t>
              </a:r>
              <a:r>
                <a:rPr lang="en-US" sz="1999" b="1" spc="47" dirty="0">
                  <a:solidFill>
                    <a:srgbClr val="000000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Universiti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Kebangsaan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Malaysia and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Institut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Teknologi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Bandung</a:t>
              </a:r>
              <a:endParaRPr lang="en-US" sz="1999" b="1" spc="47" dirty="0">
                <a:solidFill>
                  <a:schemeClr val="bg1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A2502960-3073-213C-1AFD-8819610CE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5B593A3-C798-4D91-EAF9-44CFF95B05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5D20F0BA-8214-D6D3-D377-C1AC66FD1CD7}"/>
              </a:ext>
            </a:extLst>
          </p:cNvPr>
          <p:cNvSpPr txBox="1">
            <a:spLocks noGrp="1"/>
          </p:cNvSpPr>
          <p:nvPr/>
        </p:nvSpPr>
        <p:spPr bwMode="auto">
          <a:xfrm>
            <a:off x="914400" y="2214058"/>
            <a:ext cx="15544800" cy="655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898" indent="-34289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3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46" indent="-28574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1">
                <a:solidFill>
                  <a:schemeClr val="tx1"/>
                </a:solidFill>
                <a:latin typeface="+mn-lt"/>
              </a:defRPr>
            </a:lvl2pPr>
            <a:lvl3pPr marL="1142987" indent="-228599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1">
                <a:solidFill>
                  <a:schemeClr val="tx1"/>
                </a:solidFill>
                <a:latin typeface="+mn-lt"/>
              </a:defRPr>
            </a:lvl3pPr>
            <a:lvl4pPr marL="1600185" indent="-22859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1">
                <a:solidFill>
                  <a:schemeClr val="tx1"/>
                </a:solidFill>
                <a:latin typeface="+mn-lt"/>
              </a:defRPr>
            </a:lvl4pPr>
            <a:lvl5pPr marL="2057384" indent="-228599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5pPr>
            <a:lvl6pPr marL="2514573" indent="-22859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6pPr>
            <a:lvl7pPr marL="2971770" indent="-22859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7pPr>
            <a:lvl8pPr marL="3428966" indent="-22859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8pPr>
            <a:lvl9pPr marL="3886161" indent="-22859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It examined how well-untrained listeners identified emotional content in speech</a:t>
            </a:r>
          </a:p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Resource limits, student workload, and finding female raters were challenges</a:t>
            </a:r>
          </a:p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Collaboration with a Bangladeshi university provided access to a larger pool of raters</a:t>
            </a:r>
          </a:p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80 raters, 40 males and 40 females, assessed two sets of recordings</a:t>
            </a:r>
          </a:p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evaluation focused solely on the acoustic information </a:t>
            </a:r>
          </a:p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40 audio sets were carefully picked out, each consisting of 392 files</a:t>
            </a:r>
          </a:p>
          <a:p>
            <a:pPr marR="0" lvl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altLang="en-US" sz="2400" kern="1200" dirty="0">
                <a:solidFill>
                  <a:prstClr val="black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articipants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chose one emotion to match an audio sample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3EB1EA-49EF-3FA8-5AD1-925381C11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4710" y="1517300"/>
            <a:ext cx="10972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117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2pPr>
            <a:lvl3pPr marL="914235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3pPr>
            <a:lvl4pPr marL="1371352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4pPr>
            <a:lvl5pPr marL="1828470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5pPr>
            <a:lvl6pPr marL="457195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6pPr>
            <a:lvl7pPr marL="914390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7pPr>
            <a:lvl8pPr marL="1371586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8pPr>
            <a:lvl9pPr marL="1828784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en-GB" b="1" u="sng" kern="0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Dataset Evaluation</a:t>
            </a:r>
            <a:br>
              <a:rPr lang="en-GB" b="1" u="sng" kern="0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lang="en-US" b="1" u="sng" kern="0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lang="en-US" b="1" kern="0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lang="en-US" b="1" kern="0" dirty="0">
              <a:solidFill>
                <a:srgbClr val="00B0F0"/>
              </a:solidFill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393EE-DAD6-913E-0F58-1082F4422144}"/>
              </a:ext>
            </a:extLst>
          </p:cNvPr>
          <p:cNvSpPr txBox="1"/>
          <p:nvPr/>
        </p:nvSpPr>
        <p:spPr>
          <a:xfrm>
            <a:off x="17394580" y="8877300"/>
            <a:ext cx="5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8">
            <a:extLst>
              <a:ext uri="{FF2B5EF4-FFF2-40B4-BE49-F238E27FC236}">
                <a16:creationId xmlns:a16="http://schemas.microsoft.com/office/drawing/2014/main" id="{419513BC-0C0E-4B34-4429-09D4ED7FE321}"/>
              </a:ext>
            </a:extLst>
          </p:cNvPr>
          <p:cNvGrpSpPr/>
          <p:nvPr/>
        </p:nvGrpSpPr>
        <p:grpSpPr>
          <a:xfrm>
            <a:off x="0" y="9232342"/>
            <a:ext cx="18300511" cy="1054658"/>
            <a:chOff x="0" y="-47625"/>
            <a:chExt cx="4819888" cy="277770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2C01C078-EA43-051E-C18B-0153F9E33FF4}"/>
                </a:ext>
              </a:extLst>
            </p:cNvPr>
            <p:cNvSpPr/>
            <p:nvPr/>
          </p:nvSpPr>
          <p:spPr>
            <a:xfrm>
              <a:off x="3296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CD37A41C-6B35-8E01-AAAF-6B71FA6E0302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</a:t>
              </a:r>
              <a:r>
                <a:rPr lang="en-US" sz="1999" b="1" spc="47" dirty="0">
                  <a:solidFill>
                    <a:srgbClr val="000000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Universiti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Kebangsaan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Malaysia and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Institut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Teknologi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Bandung</a:t>
              </a:r>
              <a:endParaRPr lang="en-US" sz="1999" b="1" spc="47" dirty="0">
                <a:solidFill>
                  <a:schemeClr val="bg1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6EAB9D80-EACF-2756-FFEE-E88CC040B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4FE2780-7159-F7E8-9B58-5066C9F511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DD622FAC-90CC-C948-E022-5356D1805432}"/>
              </a:ext>
            </a:extLst>
          </p:cNvPr>
          <p:cNvSpPr txBox="1">
            <a:spLocks noGrp="1"/>
          </p:cNvSpPr>
          <p:nvPr/>
        </p:nvSpPr>
        <p:spPr bwMode="auto">
          <a:xfrm>
            <a:off x="3398848" y="1302333"/>
            <a:ext cx="11490303" cy="717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marL="342898" indent="-34289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3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46" indent="-28574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1">
                <a:solidFill>
                  <a:schemeClr val="tx1"/>
                </a:solidFill>
                <a:latin typeface="+mn-lt"/>
              </a:defRPr>
            </a:lvl2pPr>
            <a:lvl3pPr marL="1142987" indent="-228599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1">
                <a:solidFill>
                  <a:schemeClr val="tx1"/>
                </a:solidFill>
                <a:latin typeface="+mn-lt"/>
              </a:defRPr>
            </a:lvl3pPr>
            <a:lvl4pPr marL="1600185" indent="-228599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1">
                <a:solidFill>
                  <a:schemeClr val="tx1"/>
                </a:solidFill>
                <a:latin typeface="+mn-lt"/>
              </a:defRPr>
            </a:lvl4pPr>
            <a:lvl5pPr marL="2057384" indent="-228599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5pPr>
            <a:lvl6pPr marL="2514573" indent="-22859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6pPr>
            <a:lvl7pPr marL="2971770" indent="-22859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7pPr>
            <a:lvl8pPr marL="3428966" indent="-22859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8pPr>
            <a:lvl9pPr marL="3886161" indent="-22859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1">
                <a:solidFill>
                  <a:schemeClr val="tx1"/>
                </a:solidFill>
                <a:latin typeface="+mn-lt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evaluation process was conducted in a controlled classroom environment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User login and activation-deactivation sessions were implemented for data security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Raters were required to register and verify their details</a:t>
            </a:r>
            <a:endParaRPr lang="en-US" altLang="en-US" sz="2600" kern="1200" dirty="0">
              <a:solidFill>
                <a:prstClr val="black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After registration, </a:t>
            </a:r>
            <a:r>
              <a:rPr lang="en-US" altLang="en-US" sz="2600" kern="1200" dirty="0">
                <a:solidFill>
                  <a:prstClr val="black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kumimoji="0" lang="en-US" alt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aters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could access designated audio files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Audio tracks were shuffled before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playback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to prevent predictability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submit button remained inactive until the user had fully experienced the audio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Raters were allowed a 15-minute break after each 45-minute session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The administrator prevented raters from retaking the experiment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3EB1EA-49EF-3FA8-5AD1-925381C11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352" y="890143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117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2pPr>
            <a:lvl3pPr marL="914235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3pPr>
            <a:lvl4pPr marL="1371352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4pPr>
            <a:lvl5pPr marL="1828470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5pPr>
            <a:lvl6pPr marL="457195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6pPr>
            <a:lvl7pPr marL="914390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7pPr>
            <a:lvl8pPr marL="1371586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8pPr>
            <a:lvl9pPr marL="1828784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9pPr>
          </a:lstStyle>
          <a:p>
            <a:pPr eaLnBrk="1" hangingPunct="1"/>
            <a:r>
              <a:rPr lang="en-GB" b="1" u="sng" kern="0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Reliability of Evaluation</a:t>
            </a:r>
            <a:br>
              <a:rPr lang="en-GB" b="1" u="sng" kern="0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lang="en-US" b="1" u="sng" kern="0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lang="en-US" b="1" kern="0" dirty="0">
                <a:solidFill>
                  <a:srgbClr val="00B0F0"/>
                </a:solidFill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lang="en-US" b="1" kern="0" dirty="0">
              <a:solidFill>
                <a:srgbClr val="00B0F0"/>
              </a:solidFill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FA515-0089-0FE4-1A10-03CA3F9A3680}"/>
              </a:ext>
            </a:extLst>
          </p:cNvPr>
          <p:cNvSpPr txBox="1"/>
          <p:nvPr/>
        </p:nvSpPr>
        <p:spPr>
          <a:xfrm>
            <a:off x="17394580" y="8877300"/>
            <a:ext cx="5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9C5D8-3F9F-6194-076D-BC57582FE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0728D11-D651-B34D-DBDC-F5A4AD3E088D}"/>
              </a:ext>
            </a:extLst>
          </p:cNvPr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8348CE1-0FAE-F4A1-D8DC-DB4784A5FE61}"/>
                </a:ext>
              </a:extLst>
            </p:cNvPr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5C0077C-CA5A-5D3B-6DAA-6A5069645158}"/>
                </a:ext>
              </a:extLst>
            </p:cNvPr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3465415-25AF-5319-3E13-070786702854}"/>
              </a:ext>
            </a:extLst>
          </p:cNvPr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AEC99B1-DC10-8FD6-7EE4-67E5D5503606}"/>
                </a:ext>
              </a:extLst>
            </p:cNvPr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5E6C528-F6C5-88C6-8E3E-63C9A62FED3C}"/>
                </a:ext>
              </a:extLst>
            </p:cNvPr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8">
            <a:extLst>
              <a:ext uri="{FF2B5EF4-FFF2-40B4-BE49-F238E27FC236}">
                <a16:creationId xmlns:a16="http://schemas.microsoft.com/office/drawing/2014/main" id="{EDD39320-8DDC-0BC7-235E-98361FA6745A}"/>
              </a:ext>
            </a:extLst>
          </p:cNvPr>
          <p:cNvGrpSpPr/>
          <p:nvPr/>
        </p:nvGrpSpPr>
        <p:grpSpPr>
          <a:xfrm>
            <a:off x="0" y="9232342"/>
            <a:ext cx="18300511" cy="1054658"/>
            <a:chOff x="0" y="-47625"/>
            <a:chExt cx="4819888" cy="277770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BED51CE5-60C1-9EBE-EF2F-4EF5BD1BA2F7}"/>
                </a:ext>
              </a:extLst>
            </p:cNvPr>
            <p:cNvSpPr/>
            <p:nvPr/>
          </p:nvSpPr>
          <p:spPr>
            <a:xfrm>
              <a:off x="3296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676397D0-2E05-8A68-6224-3F399AF4002D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</a:t>
              </a:r>
              <a:r>
                <a:rPr lang="en-US" sz="1999" b="1" spc="47" dirty="0">
                  <a:solidFill>
                    <a:srgbClr val="000000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Universiti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Kebangsaan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Malaysia and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Institut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Teknologi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Bandung</a:t>
              </a:r>
              <a:endParaRPr lang="en-US" sz="1999" b="1" spc="47" dirty="0">
                <a:solidFill>
                  <a:schemeClr val="bg1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384E70C9-9BCF-3420-71CE-54AC4ADD9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25BBBF4-873B-A110-520B-BA63007FA0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A21F7B-B20B-3C97-A30C-5BA721CAD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1850" y="1002335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117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2pPr>
            <a:lvl3pPr marL="914235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3pPr>
            <a:lvl4pPr marL="1371352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4pPr>
            <a:lvl5pPr marL="1828470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5pPr>
            <a:lvl6pPr marL="457195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6pPr>
            <a:lvl7pPr marL="914390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7pPr>
            <a:lvl8pPr marL="1371586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8pPr>
            <a:lvl9pPr marL="1828784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Methodology</a:t>
            </a:r>
            <a:b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2BCBDCE1-7E73-93B6-53C3-D4D744E4AD4B}"/>
              </a:ext>
            </a:extLst>
          </p:cNvPr>
          <p:cNvSpPr txBox="1"/>
          <p:nvPr/>
        </p:nvSpPr>
        <p:spPr>
          <a:xfrm>
            <a:off x="3695700" y="1895625"/>
            <a:ext cx="10896600" cy="69565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ja-JP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Data Collection and Preprocessing:</a:t>
            </a:r>
          </a:p>
          <a:p>
            <a:pPr marL="914317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ja-JP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Utilized the EmoBone dataset, processed using </a:t>
            </a:r>
            <a:r>
              <a:rPr lang="en-US" altLang="ja-JP" sz="22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Python's </a:t>
            </a:r>
            <a:r>
              <a:rPr lang="en-US" altLang="ja-JP" sz="2200" b="1" dirty="0" err="1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torchaudio</a:t>
            </a:r>
            <a:r>
              <a:rPr lang="en-US" altLang="ja-JP" sz="22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 library</a:t>
            </a:r>
            <a:r>
              <a:rPr lang="en-US" altLang="ja-JP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, resampled, and transformed into feature representations using MFCC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ja-JP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Model Architecture Design:</a:t>
            </a:r>
          </a:p>
          <a:p>
            <a:pPr marL="914317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ja-JP" sz="2200" b="1" dirty="0">
                <a:solidFill>
                  <a:srgbClr val="7030A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Transformer model:</a:t>
            </a:r>
            <a:r>
              <a:rPr lang="en-US" altLang="ja-JP" sz="2200" dirty="0">
                <a:solidFill>
                  <a:srgbClr val="7030A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emotion recognition pipeline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raw audio is processed through CNN-based feature extraction, a Transformer encoder for contextual embeddings, and a dense layer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classify emotions.</a:t>
            </a:r>
          </a:p>
          <a:p>
            <a:pPr marL="800017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ja-JP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Training Process:</a:t>
            </a:r>
          </a:p>
          <a:p>
            <a:pPr marL="914317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ja-JP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trained using the same dataset, minimizing cross-entropy loss, and adjusting the learning rate to prevent overfitting and improve generalization performance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ja-JP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Evaluation Measures:</a:t>
            </a:r>
          </a:p>
          <a:p>
            <a:pPr marL="914317" lvl="1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ja-JP" sz="22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Assess model performance with accuracy, confusion matrices, and classification reports.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BDD963-11E9-9EE3-C017-BB7B1C16560B}"/>
              </a:ext>
            </a:extLst>
          </p:cNvPr>
          <p:cNvSpPr txBox="1"/>
          <p:nvPr/>
        </p:nvSpPr>
        <p:spPr>
          <a:xfrm>
            <a:off x="17394580" y="8877300"/>
            <a:ext cx="5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6273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FAB7C-5882-05A2-3553-D4722F3EF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41F071B-4212-EDFF-2763-D1EA4423567D}"/>
              </a:ext>
            </a:extLst>
          </p:cNvPr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0609A59-8BA9-AA32-B8E2-3FCEACD65572}"/>
                </a:ext>
              </a:extLst>
            </p:cNvPr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C949825-3F02-2DA0-C315-8B79BB30FECB}"/>
                </a:ext>
              </a:extLst>
            </p:cNvPr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4AFFCF1-837A-F8B7-D995-DC8220697F1B}"/>
              </a:ext>
            </a:extLst>
          </p:cNvPr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E39845E-9C47-C9F0-3ABB-C01CFAD64EE5}"/>
                </a:ext>
              </a:extLst>
            </p:cNvPr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F73F98C-9973-0535-BBEF-2112CB656F9D}"/>
                </a:ext>
              </a:extLst>
            </p:cNvPr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8">
            <a:extLst>
              <a:ext uri="{FF2B5EF4-FFF2-40B4-BE49-F238E27FC236}">
                <a16:creationId xmlns:a16="http://schemas.microsoft.com/office/drawing/2014/main" id="{DD7E08D9-F2C5-213B-96B9-1C291EAA34DB}"/>
              </a:ext>
            </a:extLst>
          </p:cNvPr>
          <p:cNvGrpSpPr/>
          <p:nvPr/>
        </p:nvGrpSpPr>
        <p:grpSpPr>
          <a:xfrm>
            <a:off x="0" y="9232342"/>
            <a:ext cx="18300511" cy="1054658"/>
            <a:chOff x="0" y="-47625"/>
            <a:chExt cx="4819888" cy="277770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9147D5CE-C728-958C-EC39-4447206DD11A}"/>
                </a:ext>
              </a:extLst>
            </p:cNvPr>
            <p:cNvSpPr/>
            <p:nvPr/>
          </p:nvSpPr>
          <p:spPr>
            <a:xfrm>
              <a:off x="3296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AA0FBE75-E877-B094-AC53-28925A264A51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</a:t>
              </a:r>
              <a:r>
                <a:rPr lang="en-US" sz="1999" b="1" spc="47" dirty="0">
                  <a:solidFill>
                    <a:srgbClr val="000000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Universiti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Kebangsaan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Malaysia and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Institut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Teknologi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Bandung</a:t>
              </a:r>
              <a:endParaRPr lang="en-US" sz="1999" b="1" spc="47" dirty="0">
                <a:solidFill>
                  <a:schemeClr val="bg1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0CE9CC5C-EA9D-24BB-F8A0-4976DB0EC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D74DD6E-6AC6-EB21-4CB8-2D7B10A4E4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949E0C-1C19-7FD8-66D1-1736CBFFB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292884"/>
            <a:ext cx="7299101" cy="60632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3EB1EA-49EF-3FA8-5AD1-925381C11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216" y="868521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117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2pPr>
            <a:lvl3pPr marL="914235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3pPr>
            <a:lvl4pPr marL="1371352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4pPr>
            <a:lvl5pPr marL="1828470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5pPr>
            <a:lvl6pPr marL="457195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6pPr>
            <a:lvl7pPr marL="914390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7pPr>
            <a:lvl8pPr marL="1371586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8pPr>
            <a:lvl9pPr marL="1828784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Results</a:t>
            </a:r>
            <a:b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8">
            <a:extLst>
              <a:ext uri="{FF2B5EF4-FFF2-40B4-BE49-F238E27FC236}">
                <a16:creationId xmlns:a16="http://schemas.microsoft.com/office/drawing/2014/main" id="{6D04EA93-5FEA-43C0-B124-5C3F4CB29BD4}"/>
              </a:ext>
            </a:extLst>
          </p:cNvPr>
          <p:cNvSpPr txBox="1"/>
          <p:nvPr/>
        </p:nvSpPr>
        <p:spPr>
          <a:xfrm>
            <a:off x="990600" y="8608402"/>
            <a:ext cx="5715000" cy="4507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>
              <a:lnSpc>
                <a:spcPct val="130000"/>
              </a:lnSpc>
            </a:pPr>
            <a:r>
              <a:rPr kumimoji="1" lang="en-US" altLang="ja-JP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Figure 8:  Confusion matrix using Transformer</a:t>
            </a:r>
            <a:endParaRPr kumimoji="1" lang="ja-JP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FE5143-57B6-3670-5ED6-96DD3DBF2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5926" y="2404040"/>
            <a:ext cx="8222506" cy="5781874"/>
          </a:xfrm>
          <a:prstGeom prst="rect">
            <a:avLst/>
          </a:prstGeom>
        </p:spPr>
      </p:pic>
      <p:sp>
        <p:nvSpPr>
          <p:cNvPr id="14" name="テキスト ボックス 8">
            <a:extLst>
              <a:ext uri="{FF2B5EF4-FFF2-40B4-BE49-F238E27FC236}">
                <a16:creationId xmlns:a16="http://schemas.microsoft.com/office/drawing/2014/main" id="{296D7D5B-9F0D-DFD0-973E-889FB750B12B}"/>
              </a:ext>
            </a:extLst>
          </p:cNvPr>
          <p:cNvSpPr txBox="1"/>
          <p:nvPr/>
        </p:nvSpPr>
        <p:spPr>
          <a:xfrm>
            <a:off x="10113327" y="8483746"/>
            <a:ext cx="6227704" cy="4507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>
              <a:lnSpc>
                <a:spcPct val="130000"/>
              </a:lnSpc>
            </a:pPr>
            <a:r>
              <a:rPr kumimoji="1" lang="en-US" altLang="ja-JP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Figure 7: </a:t>
            </a:r>
            <a:r>
              <a:rPr kumimoji="1" lang="en-GB" altLang="ja-JP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Training and Validation Loss and Accuracy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C7C1DE-F87B-42D8-FD56-72EF8F92EF4A}"/>
              </a:ext>
            </a:extLst>
          </p:cNvPr>
          <p:cNvSpPr txBox="1"/>
          <p:nvPr/>
        </p:nvSpPr>
        <p:spPr>
          <a:xfrm>
            <a:off x="17394580" y="8877300"/>
            <a:ext cx="5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548248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744D7-EF78-2D3F-8702-61992C7BA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0B81581-4F5A-B8F9-D5D9-194B7404EFC0}"/>
              </a:ext>
            </a:extLst>
          </p:cNvPr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FDC626-C8C5-B2DF-7752-76BF4D059C5F}"/>
                </a:ext>
              </a:extLst>
            </p:cNvPr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DB124C7-0A97-475C-5101-073E9F128745}"/>
                </a:ext>
              </a:extLst>
            </p:cNvPr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632EA8F-2990-41C4-6D8E-B436122FFC60}"/>
              </a:ext>
            </a:extLst>
          </p:cNvPr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96AC714-0267-7E75-93A4-97F6BDF2D03B}"/>
                </a:ext>
              </a:extLst>
            </p:cNvPr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3058D61-8CCF-63C5-19FB-B558FD7EFE39}"/>
                </a:ext>
              </a:extLst>
            </p:cNvPr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8">
            <a:extLst>
              <a:ext uri="{FF2B5EF4-FFF2-40B4-BE49-F238E27FC236}">
                <a16:creationId xmlns:a16="http://schemas.microsoft.com/office/drawing/2014/main" id="{69219148-0A26-1B2F-89C6-9E995823D7C9}"/>
              </a:ext>
            </a:extLst>
          </p:cNvPr>
          <p:cNvGrpSpPr/>
          <p:nvPr/>
        </p:nvGrpSpPr>
        <p:grpSpPr>
          <a:xfrm>
            <a:off x="0" y="9232342"/>
            <a:ext cx="18300511" cy="1054658"/>
            <a:chOff x="0" y="-47625"/>
            <a:chExt cx="4819888" cy="277770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E3CD73A5-5716-B915-BFF2-831E0FC8B6A2}"/>
                </a:ext>
              </a:extLst>
            </p:cNvPr>
            <p:cNvSpPr/>
            <p:nvPr/>
          </p:nvSpPr>
          <p:spPr>
            <a:xfrm>
              <a:off x="3296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7136360D-558E-5417-3B34-D48171483F03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</a:t>
              </a:r>
              <a:r>
                <a:rPr lang="en-US" sz="1999" b="1" spc="47" dirty="0">
                  <a:solidFill>
                    <a:srgbClr val="000000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Universiti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Kebangsaan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Malaysia and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Institut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Teknologi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Bandung</a:t>
              </a:r>
              <a:endParaRPr lang="en-US" sz="1999" b="1" spc="47" dirty="0">
                <a:solidFill>
                  <a:schemeClr val="bg1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0244B015-4D59-1020-C6BC-436060C94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344C345-F4C5-75BE-9CB4-B48EC8E765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51B447-59E8-7CFD-36DA-A128A9770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216" y="868521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117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2pPr>
            <a:lvl3pPr marL="914235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3pPr>
            <a:lvl4pPr marL="1371352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4pPr>
            <a:lvl5pPr marL="1828470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5pPr>
            <a:lvl6pPr marL="457195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6pPr>
            <a:lvl7pPr marL="914390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7pPr>
            <a:lvl8pPr marL="1371586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8pPr>
            <a:lvl9pPr marL="1828784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Results</a:t>
            </a:r>
            <a:b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E5C69F-B6B5-F0FB-0D7B-A83ADA741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3309" y="2174618"/>
            <a:ext cx="5410200" cy="37313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4AD48A-887A-FD12-41D2-BC663ACAB1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306" y="2369864"/>
            <a:ext cx="4259894" cy="36880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0275334-1A46-C48A-9597-1D989D8920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71181" y="2369864"/>
            <a:ext cx="3513197" cy="352404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EC07CEA-0CDF-0079-315A-CEDDB3ACAE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7602" y="2262917"/>
            <a:ext cx="3853579" cy="3993064"/>
          </a:xfrm>
          <a:prstGeom prst="rect">
            <a:avLst/>
          </a:prstGeom>
        </p:spPr>
      </p:pic>
      <p:sp>
        <p:nvSpPr>
          <p:cNvPr id="29" name="テキスト ボックス 8">
            <a:extLst>
              <a:ext uri="{FF2B5EF4-FFF2-40B4-BE49-F238E27FC236}">
                <a16:creationId xmlns:a16="http://schemas.microsoft.com/office/drawing/2014/main" id="{296D7D5B-9F0D-DFD0-973E-889FB750B12B}"/>
              </a:ext>
            </a:extLst>
          </p:cNvPr>
          <p:cNvSpPr txBox="1"/>
          <p:nvPr/>
        </p:nvSpPr>
        <p:spPr>
          <a:xfrm>
            <a:off x="-76200" y="6255981"/>
            <a:ext cx="5491824" cy="4507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>
              <a:lnSpc>
                <a:spcPct val="130000"/>
              </a:lnSpc>
            </a:pPr>
            <a:r>
              <a:rPr kumimoji="1" lang="en-US" altLang="ja-JP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Figure 10: Receiver operating curve</a:t>
            </a:r>
            <a:endParaRPr kumimoji="1" lang="ja-JP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テキスト ボックス 8">
            <a:extLst>
              <a:ext uri="{FF2B5EF4-FFF2-40B4-BE49-F238E27FC236}">
                <a16:creationId xmlns:a16="http://schemas.microsoft.com/office/drawing/2014/main" id="{296D7D5B-9F0D-DFD0-973E-889FB750B12B}"/>
              </a:ext>
            </a:extLst>
          </p:cNvPr>
          <p:cNvSpPr txBox="1"/>
          <p:nvPr/>
        </p:nvSpPr>
        <p:spPr>
          <a:xfrm>
            <a:off x="5415624" y="6285403"/>
            <a:ext cx="5491824" cy="4507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>
              <a:lnSpc>
                <a:spcPct val="130000"/>
              </a:lnSpc>
            </a:pPr>
            <a:r>
              <a:rPr kumimoji="1" lang="en-US" altLang="ja-JP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Figure 10: per Class Emotion Accuracy</a:t>
            </a:r>
            <a:endParaRPr kumimoji="1" lang="ja-JP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テキスト ボックス 8">
            <a:extLst>
              <a:ext uri="{FF2B5EF4-FFF2-40B4-BE49-F238E27FC236}">
                <a16:creationId xmlns:a16="http://schemas.microsoft.com/office/drawing/2014/main" id="{54AB4834-7D68-9E55-60B8-E45FB999FCBE}"/>
              </a:ext>
            </a:extLst>
          </p:cNvPr>
          <p:cNvSpPr txBox="1"/>
          <p:nvPr/>
        </p:nvSpPr>
        <p:spPr>
          <a:xfrm>
            <a:off x="11582400" y="6283282"/>
            <a:ext cx="5491824" cy="8508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ctr">
              <a:lnSpc>
                <a:spcPct val="130000"/>
              </a:lnSpc>
            </a:pPr>
            <a:r>
              <a:rPr kumimoji="1" lang="en-US" altLang="ja-JP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Figure 10: per Class Emotion Accuracy F1 score and Precision</a:t>
            </a:r>
            <a:endParaRPr kumimoji="1" lang="ja-JP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8B7A4D-DF98-9DAF-5F7A-A284561F15F8}"/>
              </a:ext>
            </a:extLst>
          </p:cNvPr>
          <p:cNvSpPr txBox="1"/>
          <p:nvPr/>
        </p:nvSpPr>
        <p:spPr>
          <a:xfrm>
            <a:off x="17394580" y="8877300"/>
            <a:ext cx="5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240173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19142-0962-DD17-1D36-9E45C1CCC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8383CA0-7B95-EA9A-A4C8-6558EF97F866}"/>
              </a:ext>
            </a:extLst>
          </p:cNvPr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CB781ED-955C-6457-FEF6-AC0C0791A67A}"/>
                </a:ext>
              </a:extLst>
            </p:cNvPr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B7FDA21-9273-6182-BACA-2625D78A49F5}"/>
                </a:ext>
              </a:extLst>
            </p:cNvPr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673BC5C-5A4F-A453-C44B-E089774003EE}"/>
              </a:ext>
            </a:extLst>
          </p:cNvPr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EA8BE2B-B554-C987-8DE6-50AF370667CA}"/>
                </a:ext>
              </a:extLst>
            </p:cNvPr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2BF9EF0-10DA-7B31-B796-9CC0583653BC}"/>
                </a:ext>
              </a:extLst>
            </p:cNvPr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8">
            <a:extLst>
              <a:ext uri="{FF2B5EF4-FFF2-40B4-BE49-F238E27FC236}">
                <a16:creationId xmlns:a16="http://schemas.microsoft.com/office/drawing/2014/main" id="{3D3A4133-0BF5-9656-3514-D6CE90CE5989}"/>
              </a:ext>
            </a:extLst>
          </p:cNvPr>
          <p:cNvGrpSpPr/>
          <p:nvPr/>
        </p:nvGrpSpPr>
        <p:grpSpPr>
          <a:xfrm>
            <a:off x="0" y="9232342"/>
            <a:ext cx="18300511" cy="1054658"/>
            <a:chOff x="0" y="-47625"/>
            <a:chExt cx="4819888" cy="277770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9730438-CCC5-7272-B2CA-8DFDC6CCE9C8}"/>
                </a:ext>
              </a:extLst>
            </p:cNvPr>
            <p:cNvSpPr/>
            <p:nvPr/>
          </p:nvSpPr>
          <p:spPr>
            <a:xfrm>
              <a:off x="3296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7ED37A59-6532-7436-AEF9-2F5C892CCBC6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</a:t>
              </a:r>
              <a:r>
                <a:rPr lang="en-US" sz="1999" b="1" spc="47" dirty="0">
                  <a:solidFill>
                    <a:srgbClr val="000000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Universiti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Kebangsaan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Malaysia and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Institut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Teknologi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Bandung</a:t>
              </a:r>
              <a:endParaRPr lang="en-US" sz="1999" b="1" spc="47" dirty="0">
                <a:solidFill>
                  <a:schemeClr val="bg1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78713D76-571B-2FD9-52F4-AAB927EB4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285D683-FD1E-CD32-F0FD-64BBD5FF48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BA4C69-A974-19E2-FF13-01E035C05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868521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117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2pPr>
            <a:lvl3pPr marL="914235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3pPr>
            <a:lvl4pPr marL="1371352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4pPr>
            <a:lvl5pPr marL="1828470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5pPr>
            <a:lvl6pPr marL="457195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6pPr>
            <a:lvl7pPr marL="914390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7pPr>
            <a:lvl8pPr marL="1371586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8pPr>
            <a:lvl9pPr marL="1828784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Discussion</a:t>
            </a:r>
            <a:b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DB93B6-A0C5-9362-1C40-05962F4913AD}"/>
              </a:ext>
            </a:extLst>
          </p:cNvPr>
          <p:cNvSpPr txBox="1"/>
          <p:nvPr/>
        </p:nvSpPr>
        <p:spPr>
          <a:xfrm>
            <a:off x="2743200" y="2134445"/>
            <a:ext cx="91508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IV: Comparison of Speech Emotion Recognition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B51C11F-B50C-EDD2-4E06-34724D32B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68634"/>
              </p:ext>
            </p:extLst>
          </p:nvPr>
        </p:nvGraphicFramePr>
        <p:xfrm>
          <a:off x="2720454" y="2873109"/>
          <a:ext cx="12192000" cy="4686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37088258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712300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91052636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702271439"/>
                    </a:ext>
                  </a:extLst>
                </a:gridCol>
              </a:tblGrid>
              <a:tr h="669446">
                <a:tc>
                  <a:txBody>
                    <a:bodyPr/>
                    <a:lstStyle/>
                    <a:p>
                      <a:r>
                        <a:rPr lang="en-US" dirty="0"/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134932"/>
                  </a:ext>
                </a:extLst>
              </a:tr>
              <a:tr h="669446">
                <a:tc>
                  <a:txBody>
                    <a:bodyPr/>
                    <a:lstStyle/>
                    <a:p>
                      <a:r>
                        <a:rPr lang="en-US" dirty="0"/>
                        <a:t>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EmoBone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76.49%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774448"/>
                  </a:ext>
                </a:extLst>
              </a:tr>
              <a:tr h="669446">
                <a:tc>
                  <a:txBody>
                    <a:bodyPr/>
                    <a:lstStyle/>
                    <a:p>
                      <a:r>
                        <a:rPr lang="en-US" dirty="0"/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RAVDESS, SAVEE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33%,87%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619487"/>
                  </a:ext>
                </a:extLst>
              </a:tr>
              <a:tr h="669446">
                <a:tc>
                  <a:txBody>
                    <a:bodyPr/>
                    <a:lstStyle/>
                    <a:p>
                      <a:r>
                        <a:rPr lang="en-US" dirty="0"/>
                        <a:t>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Local RVDESS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61.20%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846251"/>
                  </a:ext>
                </a:extLst>
              </a:tr>
              <a:tr h="669446">
                <a:tc>
                  <a:txBody>
                    <a:bodyPr/>
                    <a:lstStyle/>
                    <a:p>
                      <a:r>
                        <a:rPr lang="en-US" dirty="0"/>
                        <a:t>[7]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RAVDESS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72.50%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545646"/>
                  </a:ext>
                </a:extLst>
              </a:tr>
              <a:tr h="669446">
                <a:tc>
                  <a:txBody>
                    <a:bodyPr/>
                    <a:lstStyle/>
                    <a:p>
                      <a:r>
                        <a:rPr lang="en-US" dirty="0"/>
                        <a:t>[9]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BC speech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BiLSTM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85.17%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396936"/>
                  </a:ext>
                </a:extLst>
              </a:tr>
              <a:tr h="669446">
                <a:tc>
                  <a:txBody>
                    <a:bodyPr/>
                    <a:lstStyle/>
                    <a:p>
                      <a:r>
                        <a:rPr lang="en-US" dirty="0"/>
                        <a:t>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EmoBone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1431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BACD798-F3CA-79A7-5D26-82731094B786}"/>
              </a:ext>
            </a:extLst>
          </p:cNvPr>
          <p:cNvSpPr txBox="1"/>
          <p:nvPr/>
        </p:nvSpPr>
        <p:spPr>
          <a:xfrm>
            <a:off x="17394580" y="8877300"/>
            <a:ext cx="5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28482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73804-6401-AE94-AAA7-C8F80A1FE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0EA5B99-59F4-706A-F744-87B5D6E4CD79}"/>
              </a:ext>
            </a:extLst>
          </p:cNvPr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F1F1AF6-E4D7-2829-BF47-CA600158D836}"/>
                </a:ext>
              </a:extLst>
            </p:cNvPr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F23572F-C9A1-4E79-ADEA-3016057EBD67}"/>
                </a:ext>
              </a:extLst>
            </p:cNvPr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7595452-02CE-A836-2A8C-0DE2F7102C96}"/>
              </a:ext>
            </a:extLst>
          </p:cNvPr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3293E9F-AD9A-40E6-6CEA-594C98D61E1D}"/>
                </a:ext>
              </a:extLst>
            </p:cNvPr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DD2B09E-3929-E9B5-87AE-C864C476B709}"/>
                </a:ext>
              </a:extLst>
            </p:cNvPr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8">
            <a:extLst>
              <a:ext uri="{FF2B5EF4-FFF2-40B4-BE49-F238E27FC236}">
                <a16:creationId xmlns:a16="http://schemas.microsoft.com/office/drawing/2014/main" id="{1FF01C80-F932-AE21-635A-B6D0B9865A91}"/>
              </a:ext>
            </a:extLst>
          </p:cNvPr>
          <p:cNvGrpSpPr/>
          <p:nvPr/>
        </p:nvGrpSpPr>
        <p:grpSpPr>
          <a:xfrm>
            <a:off x="0" y="9232342"/>
            <a:ext cx="18300511" cy="1054658"/>
            <a:chOff x="0" y="-47625"/>
            <a:chExt cx="4819888" cy="277770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E7498F7A-A63E-A873-4B1E-CD33378E0E9D}"/>
                </a:ext>
              </a:extLst>
            </p:cNvPr>
            <p:cNvSpPr/>
            <p:nvPr/>
          </p:nvSpPr>
          <p:spPr>
            <a:xfrm>
              <a:off x="3296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F34E67A5-C9C8-3CDF-26F2-D471BD9DEEE8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</a:t>
              </a:r>
              <a:r>
                <a:rPr lang="en-US" sz="1999" b="1" spc="47" dirty="0">
                  <a:solidFill>
                    <a:srgbClr val="000000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Universiti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Kebangsaan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Malaysia and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Institut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Teknologi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Bandung</a:t>
              </a:r>
              <a:endParaRPr lang="en-US" sz="1999" b="1" spc="47" dirty="0">
                <a:solidFill>
                  <a:schemeClr val="bg1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7B4CA0D9-67E0-2B02-5358-DD099D8D1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6EE0CD2-B2D2-1634-B0C4-088A840962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EAF3273-FC9B-851D-0058-7EA595500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868521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117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2pPr>
            <a:lvl3pPr marL="914235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3pPr>
            <a:lvl4pPr marL="1371352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4pPr>
            <a:lvl5pPr marL="1828470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5pPr>
            <a:lvl6pPr marL="457195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6pPr>
            <a:lvl7pPr marL="914390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7pPr>
            <a:lvl8pPr marL="1371586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8pPr>
            <a:lvl9pPr marL="1828784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Discussion</a:t>
            </a:r>
            <a:b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88CE65E0-04C2-5C0B-82A8-302677A587E4}"/>
              </a:ext>
            </a:extLst>
          </p:cNvPr>
          <p:cNvSpPr txBox="1"/>
          <p:nvPr/>
        </p:nvSpPr>
        <p:spPr>
          <a:xfrm>
            <a:off x="3695699" y="1573901"/>
            <a:ext cx="10896601" cy="663136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ja-JP" sz="2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Balanced dataset impact</a:t>
            </a:r>
            <a:r>
              <a:rPr kumimoji="0" lang="en-US" altLang="ja-JP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: </a:t>
            </a:r>
          </a:p>
          <a:p>
            <a:pPr marL="715645" marR="0" lvl="1" indent="-258445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ja-JP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 	Distribution of seven emotion classes enables unbiased model training and provides a robust foundation for performance evaluation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ja-JP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 </a:t>
            </a:r>
            <a:r>
              <a:rPr kumimoji="0" lang="en-US" altLang="ja-JP" sz="2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Transformer model performance</a:t>
            </a:r>
            <a:r>
              <a:rPr kumimoji="0" lang="en-US" altLang="ja-JP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:</a:t>
            </a:r>
          </a:p>
          <a:p>
            <a:pPr marL="715645" marR="0" lvl="1" indent="-258445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ja-JP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 	Effectively learns with steady loss reduction and accuracy gains, but struggles to distinguish between similar emotions like calm and neutral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,Sans-Serif"/>
              <a:buChar char="v"/>
              <a:tabLst/>
              <a:defRPr/>
            </a:pPr>
            <a:r>
              <a:rPr lang="en-US" sz="2200" b="1" dirty="0">
                <a:solidFill>
                  <a:srgbClr val="7030A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Confusion matrix analysis</a:t>
            </a:r>
            <a:r>
              <a:rPr lang="en-US" sz="2200" b="1" dirty="0">
                <a:solidFill>
                  <a:prstClr val="black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: </a:t>
            </a:r>
            <a:r>
              <a:rPr lang="en-US" altLang="ja-JP" sz="2200" b="1" dirty="0">
                <a:solidFill>
                  <a:prstClr val="black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 	</a:t>
            </a:r>
          </a:p>
          <a:p>
            <a:pPr marL="715645" marR="0" lvl="1" indent="-258445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ja-JP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 	Show that the prominent diagonal elements and improved performance across all emotion classes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,Sans-Serif"/>
              <a:buChar char="v"/>
              <a:defRPr/>
            </a:pPr>
            <a:r>
              <a:rPr lang="en-GB" sz="2200" b="1" dirty="0">
                <a:solidFill>
                  <a:srgbClr val="7030A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Overall Accuracy Enhancement: </a:t>
            </a:r>
          </a:p>
          <a:p>
            <a:pPr marL="715645" marR="0" lvl="1" indent="-258445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ja-JP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 	Achieves a notable accuracy of </a:t>
            </a:r>
            <a:r>
              <a:rPr lang="en-US" altLang="ja-JP" sz="2200" dirty="0">
                <a:solidFill>
                  <a:prstClr val="black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99.00</a:t>
            </a:r>
            <a:r>
              <a:rPr kumimoji="0" lang="en-US" altLang="ja-JP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%, highlighting the Transformer’s effectiveness in improving emotion recognition from bone-conducted speech</a:t>
            </a: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,Sans-Serif"/>
              <a:buChar char="v"/>
              <a:defRPr/>
            </a:pPr>
            <a:endParaRPr lang="en-US" sz="2200" b="1" dirty="0">
              <a:solidFill>
                <a:prstClr val="black"/>
              </a:solidFill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A47665-6725-FFAA-64F7-6AADDB463689}"/>
              </a:ext>
            </a:extLst>
          </p:cNvPr>
          <p:cNvSpPr txBox="1"/>
          <p:nvPr/>
        </p:nvSpPr>
        <p:spPr>
          <a:xfrm>
            <a:off x="17394580" y="8877300"/>
            <a:ext cx="5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30372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951EC-E917-74AD-D702-1530BF464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D17D953-DF69-EAE9-BC26-71A0C9F162B5}"/>
              </a:ext>
            </a:extLst>
          </p:cNvPr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384AB0-51ED-026B-3BF6-2F3EFF1FC32C}"/>
                </a:ext>
              </a:extLst>
            </p:cNvPr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A4C0EDA-9D97-5DE2-0832-42F05C2B2BA4}"/>
                </a:ext>
              </a:extLst>
            </p:cNvPr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42F79B2-178C-DA4D-16A8-517A82FA5A8C}"/>
              </a:ext>
            </a:extLst>
          </p:cNvPr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CAFDB53-9664-7E34-C22A-7B316CBD3375}"/>
                </a:ext>
              </a:extLst>
            </p:cNvPr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9D777F7-E261-AE8F-A049-AFB923761C2C}"/>
                </a:ext>
              </a:extLst>
            </p:cNvPr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8">
            <a:extLst>
              <a:ext uri="{FF2B5EF4-FFF2-40B4-BE49-F238E27FC236}">
                <a16:creationId xmlns:a16="http://schemas.microsoft.com/office/drawing/2014/main" id="{8768933D-8159-CEC6-96A6-EBA4DEA8C66C}"/>
              </a:ext>
            </a:extLst>
          </p:cNvPr>
          <p:cNvGrpSpPr/>
          <p:nvPr/>
        </p:nvGrpSpPr>
        <p:grpSpPr>
          <a:xfrm>
            <a:off x="0" y="9232342"/>
            <a:ext cx="18300511" cy="1054658"/>
            <a:chOff x="0" y="-47625"/>
            <a:chExt cx="4819888" cy="277770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C8DB70AC-E402-4996-0937-77BB00A13D16}"/>
                </a:ext>
              </a:extLst>
            </p:cNvPr>
            <p:cNvSpPr/>
            <p:nvPr/>
          </p:nvSpPr>
          <p:spPr>
            <a:xfrm>
              <a:off x="3296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F91D6926-EE4A-D2BE-9B5A-2C222B04689E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</a:t>
              </a:r>
              <a:r>
                <a:rPr lang="en-US" sz="1999" b="1" spc="47" dirty="0">
                  <a:solidFill>
                    <a:srgbClr val="000000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Universiti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Kebangsaan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Malaysia and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Institut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Teknologi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Bandung</a:t>
              </a:r>
              <a:endParaRPr lang="en-US" sz="1999" b="1" spc="47" dirty="0">
                <a:solidFill>
                  <a:schemeClr val="bg1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7FB93C1E-6971-75D3-0EB9-8616717BDB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3FC0B0F-7429-AB12-A5A8-12E6C03ECF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D4D25D-098F-9F98-1863-E2E3C2E2B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868521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117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2pPr>
            <a:lvl3pPr marL="914235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3pPr>
            <a:lvl4pPr marL="1371352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4pPr>
            <a:lvl5pPr marL="1828470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5pPr>
            <a:lvl6pPr marL="457195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6pPr>
            <a:lvl7pPr marL="914390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7pPr>
            <a:lvl8pPr marL="1371586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8pPr>
            <a:lvl9pPr marL="1828784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Discussion</a:t>
            </a:r>
            <a:b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88CE65E0-04C2-5C0B-82A8-302677A587E4}"/>
              </a:ext>
            </a:extLst>
          </p:cNvPr>
          <p:cNvSpPr txBox="1"/>
          <p:nvPr/>
        </p:nvSpPr>
        <p:spPr>
          <a:xfrm>
            <a:off x="3505200" y="2148032"/>
            <a:ext cx="11277599" cy="59909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117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23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352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4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5587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2705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199822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6940" algn="l" defTabSz="914235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Achievements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: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 </a:t>
            </a: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State-of-the-art accuracy of 99%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using the </a:t>
            </a: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EmoBone dataset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Demonstrated the effectiveness of </a:t>
            </a:r>
            <a:r>
              <a:rPr lang="en-US" altLang="ja-JP" sz="2800" b="1" dirty="0">
                <a:solidFill>
                  <a:prstClr val="black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 Transformer</a:t>
            </a: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 techniques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Significance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: Improved emotion classification for </a:t>
            </a: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BC speech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Addressed key challenges such as </a:t>
            </a: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information loss and degradation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ja-JP" sz="2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Future Scope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: Incorporate transfer learning and multi-modal fusion for further performance improvement.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1CD2C8-D6D4-10D2-A432-096B26BE2EC9}"/>
              </a:ext>
            </a:extLst>
          </p:cNvPr>
          <p:cNvSpPr txBox="1"/>
          <p:nvPr/>
        </p:nvSpPr>
        <p:spPr>
          <a:xfrm>
            <a:off x="17394580" y="8877300"/>
            <a:ext cx="5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115366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9C6C0-0414-DE1D-AB19-49DC88165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9AEBB24-863E-B359-04E9-20E39791675B}"/>
              </a:ext>
            </a:extLst>
          </p:cNvPr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A0BCD1A-3A07-B512-B014-D3BDE462DEF8}"/>
                </a:ext>
              </a:extLst>
            </p:cNvPr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7A54B26-B6C3-9388-EDCD-A91F04D5025C}"/>
                </a:ext>
              </a:extLst>
            </p:cNvPr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9CAFB93-F279-81B0-54B5-F6CF7D2C0E47}"/>
              </a:ext>
            </a:extLst>
          </p:cNvPr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968E340-8886-9696-FC99-28514A50C613}"/>
                </a:ext>
              </a:extLst>
            </p:cNvPr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D0DA994-8A08-E5F0-F103-22D91AF7B534}"/>
                </a:ext>
              </a:extLst>
            </p:cNvPr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8">
            <a:extLst>
              <a:ext uri="{FF2B5EF4-FFF2-40B4-BE49-F238E27FC236}">
                <a16:creationId xmlns:a16="http://schemas.microsoft.com/office/drawing/2014/main" id="{ED919E41-CF16-74E0-A965-C6D297D5AFE2}"/>
              </a:ext>
            </a:extLst>
          </p:cNvPr>
          <p:cNvGrpSpPr/>
          <p:nvPr/>
        </p:nvGrpSpPr>
        <p:grpSpPr>
          <a:xfrm>
            <a:off x="0" y="9232342"/>
            <a:ext cx="18300511" cy="1054658"/>
            <a:chOff x="0" y="-47625"/>
            <a:chExt cx="4819888" cy="277770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A5FAD37F-95FA-D381-B93C-56B3C20033E6}"/>
                </a:ext>
              </a:extLst>
            </p:cNvPr>
            <p:cNvSpPr/>
            <p:nvPr/>
          </p:nvSpPr>
          <p:spPr>
            <a:xfrm>
              <a:off x="3296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04B49D17-9242-4D6F-09D8-3596245FA949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</a:t>
              </a:r>
              <a:r>
                <a:rPr lang="en-US" sz="1999" b="1" spc="47" dirty="0">
                  <a:solidFill>
                    <a:srgbClr val="000000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Universiti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Kebangsaan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Malaysia and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Institut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Teknologi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Bandung</a:t>
              </a:r>
              <a:endParaRPr lang="en-US" sz="1999" b="1" spc="47" dirty="0">
                <a:solidFill>
                  <a:schemeClr val="bg1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AAEAFD5A-7DFD-69AE-3451-BBF15B2AD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4CC110D-4F89-E554-3BA7-E2EAF54909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92C9F7-C486-6D0F-50DA-035CC926A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1850" y="1048938"/>
            <a:ext cx="8229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117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2pPr>
            <a:lvl3pPr marL="914235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3pPr>
            <a:lvl4pPr marL="1371352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4pPr>
            <a:lvl5pPr marL="1828470"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5pPr>
            <a:lvl6pPr marL="457195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6pPr>
            <a:lvl7pPr marL="914390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7pPr>
            <a:lvl8pPr marL="1371586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8pPr>
            <a:lvl9pPr marL="1828784" algn="ctr" defTabSz="914235" rtl="0" eaLnBrk="1" fontAlgn="base" latinLnBrk="0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  <a:t>References</a:t>
            </a:r>
            <a:br>
              <a:rPr kumimoji="0" lang="en-GB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kumimoji="0" 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Cambria" pitchFamily="18" charset="0"/>
                <a:cs typeface="Times New Roman" panose="02020603050405020304" pitchFamily="18" charset="0"/>
              </a:rPr>
            </a:b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049DA2-A016-BDC0-E16D-4B9972AA2012}"/>
              </a:ext>
            </a:extLst>
          </p:cNvPr>
          <p:cNvSpPr txBox="1"/>
          <p:nvPr/>
        </p:nvSpPr>
        <p:spPr>
          <a:xfrm>
            <a:off x="376956" y="1841865"/>
            <a:ext cx="17017624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S. Madanian, T. Chen, O. Adeleye, J. M. Templeton, C.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Poellabauer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Parry, and S. L. Schneider, “Speech emotion recognition using machine learning—a systematic review,” Intelligent systems with applications, </a:t>
            </a:r>
            <a:r>
              <a:rPr lang="nl-NL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vol. 20, p. 200266, 2023.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B. W. Schuller, “Speech emotion recognition,” Communications of the ACM, vol. 61, no. 5, pp. 90–99, 2018.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M. S. Hosain, Y. Sugiura, M. S. Rahman, and T. Shimamura, “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Emobone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multinational audio dataset of emotional bone conducted speech,” IEEJ Transactions on Electrical and Electronic Engineering, vol. 19, no. 9, pp. 1492–1506, 2024.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M. R. Hossen, E. Hossain, J. Al-Faruk, J. Sultana, M. B. Islam, and M. S. Hosain, “Tversky loss mechanisms: A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resunet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 to improving brain tumor segmentation,” in 2025 International Conference on Quantum Photonics, Artificial Intelligence, and Networking (QPAIN), 2025, pp. 1–6.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A. Iqbal and K. Barua, “A real-time emotion recognition from speech using gradient boosting,” in 2019 international conference on electrical, computer and communication engineering (ECCE). IEEE, 2019, pp. 1–5.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S. N.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Zisad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S. Hossain, and K. Andersson, “Speech emotion recognition in neurological disorders using convolutional neural network,” in International conference on brain informatics. Springer, 2020, pp. 287–296.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R.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Aloufi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Haddadi, and D. Boyle, “Emotionless: Privacy-preserving speech analysis for voice assistants,”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arXiv:1908.03632, 2019.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M. S. Hosain, Y. Sugiura, N. Yasui, and T. Shimamura, “Deep-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learningbased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emotion recognition using synthetic bone-conducted speech,” Journal of Signal Processing, vol. 27, no. 6, pp. 151–163, 2023.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N. Wang and D. Yang, “Speech emotion recognition using fine-tuned wav2vec2. 0 and neural controlled differential equations classifier,”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PloS</a:t>
            </a:r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it-IT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one, vol. 20, no. 2, p. e0318297, 2025.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M. S. Hosain, M. R. Hossen, M. U. Mia, Y. Sugiura, and T. Shimamura, “Exploring the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emobone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with bi-directional LSTM for emotion recognition via bone conducted speech,” in 2025 International Workshop on Nonlinear Circuits, Communications and Signal Processing (NCSP), 2025, pp. 97–100.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M. R. Hossen, M. U. Mia, R. Islam, M. S. Hosain, M. K. Hasan, and T. Shimamura, “Facial expression recognition: A machine learning approach with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random forest,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decision tree using grid search method,” in 2025 International Workshop on Nonlinear Circuits, Communications and Signal Processing (NCSP), 2025, pp. 421–424.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A.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Baevski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Zhou, A. Mohamed, and M. Auli, “wav2vec 2.0: A framework for self-supervised learning of speech representations,” Advances in neural information processing systems, vol. 33, pp. 12 449– 12 460, 2020.</a:t>
            </a:r>
          </a:p>
          <a:p>
            <a:pPr algn="l"/>
            <a:r>
              <a:rPr lang="es-E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A. </a:t>
            </a:r>
            <a:r>
              <a:rPr lang="es-E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Vaswani</a:t>
            </a:r>
            <a:r>
              <a:rPr lang="es-E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</a:t>
            </a:r>
            <a:r>
              <a:rPr lang="es-E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Shazeer</a:t>
            </a:r>
            <a:r>
              <a:rPr lang="es-E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</a:t>
            </a:r>
            <a:r>
              <a:rPr lang="es-E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Parmar</a:t>
            </a:r>
            <a:r>
              <a:rPr lang="es-E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</a:t>
            </a:r>
            <a:r>
              <a:rPr lang="es-E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Uszkoreit</a:t>
            </a:r>
            <a:r>
              <a:rPr lang="es-E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 Jones, A. N. </a:t>
            </a:r>
            <a:r>
              <a:rPr lang="es-E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Gomez</a:t>
            </a:r>
            <a:r>
              <a:rPr lang="es-E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Ł. Kaiser, and I.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Polosukhin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“Attention is all you need,” Advances in neural information processing systems, vol. 30, 2017.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D.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Jurafsky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J. H. Martin, Speech and Language Processing, 2025, draft of January 12, 2025. [Online]. Available: </a:t>
            </a:r>
            <a:r>
              <a:rPr lang="da-DK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https://web.stanford.edu/ jurafsky/slp3/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I. Goodfellow, Y. Bengio, and A. Courville, Deep Learning. MIT Press, 2016, http://www.deeplearningbook.org.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DD4F64-9DDE-24A9-86E5-4DF290049C0B}"/>
              </a:ext>
            </a:extLst>
          </p:cNvPr>
          <p:cNvSpPr txBox="1"/>
          <p:nvPr/>
        </p:nvSpPr>
        <p:spPr>
          <a:xfrm>
            <a:off x="17470780" y="8877300"/>
            <a:ext cx="588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69198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37B9C-4A81-8C8A-E13D-4B9BF94F6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2D76081-E9D2-F45A-6EFA-CF916BDD883A}"/>
              </a:ext>
            </a:extLst>
          </p:cNvPr>
          <p:cNvGrpSpPr/>
          <p:nvPr/>
        </p:nvGrpSpPr>
        <p:grpSpPr>
          <a:xfrm>
            <a:off x="0" y="-336482"/>
            <a:ext cx="18288000" cy="815119"/>
            <a:chOff x="0" y="0"/>
            <a:chExt cx="1377885" cy="6141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FA4BC0E-B3E0-950D-A05A-C4B28626BE8D}"/>
                </a:ext>
              </a:extLst>
            </p:cNvPr>
            <p:cNvSpPr/>
            <p:nvPr/>
          </p:nvSpPr>
          <p:spPr>
            <a:xfrm>
              <a:off x="0" y="0"/>
              <a:ext cx="1377885" cy="61414"/>
            </a:xfrm>
            <a:custGeom>
              <a:avLst/>
              <a:gdLst/>
              <a:ahLst/>
              <a:cxnLst/>
              <a:rect l="l" t="t" r="r" b="b"/>
              <a:pathLst>
                <a:path w="1377885" h="61414">
                  <a:moveTo>
                    <a:pt x="0" y="0"/>
                  </a:moveTo>
                  <a:lnTo>
                    <a:pt x="1377885" y="0"/>
                  </a:lnTo>
                  <a:lnTo>
                    <a:pt x="1377885" y="61414"/>
                  </a:lnTo>
                  <a:lnTo>
                    <a:pt x="0" y="61414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42B3BB1-696B-9825-9988-E0338778C658}"/>
                </a:ext>
              </a:extLst>
            </p:cNvPr>
            <p:cNvSpPr txBox="1"/>
            <p:nvPr/>
          </p:nvSpPr>
          <p:spPr>
            <a:xfrm>
              <a:off x="0" y="-47625"/>
              <a:ext cx="1377885" cy="109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B3D6C63-2053-2EA7-BB2B-0D27ACDA7DFC}"/>
              </a:ext>
            </a:extLst>
          </p:cNvPr>
          <p:cNvGrpSpPr/>
          <p:nvPr/>
        </p:nvGrpSpPr>
        <p:grpSpPr>
          <a:xfrm>
            <a:off x="0" y="490753"/>
            <a:ext cx="4081850" cy="337922"/>
            <a:chOff x="0" y="0"/>
            <a:chExt cx="1075055" cy="890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DCBB207-15CC-2148-5DB4-9D654C6BC28C}"/>
                </a:ext>
              </a:extLst>
            </p:cNvPr>
            <p:cNvSpPr/>
            <p:nvPr/>
          </p:nvSpPr>
          <p:spPr>
            <a:xfrm>
              <a:off x="0" y="0"/>
              <a:ext cx="1075055" cy="89000"/>
            </a:xfrm>
            <a:custGeom>
              <a:avLst/>
              <a:gdLst/>
              <a:ahLst/>
              <a:cxnLst/>
              <a:rect l="l" t="t" r="r" b="b"/>
              <a:pathLst>
                <a:path w="1075055" h="89000">
                  <a:moveTo>
                    <a:pt x="0" y="0"/>
                  </a:moveTo>
                  <a:lnTo>
                    <a:pt x="1075055" y="0"/>
                  </a:lnTo>
                  <a:lnTo>
                    <a:pt x="1075055" y="89000"/>
                  </a:lnTo>
                  <a:lnTo>
                    <a:pt x="0" y="89000"/>
                  </a:lnTo>
                  <a:close/>
                </a:path>
              </a:pathLst>
            </a:custGeom>
            <a:solidFill>
              <a:srgbClr val="006341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ABBE7A6-A6C8-AE53-9BC0-111F303508A9}"/>
                </a:ext>
              </a:extLst>
            </p:cNvPr>
            <p:cNvSpPr txBox="1"/>
            <p:nvPr/>
          </p:nvSpPr>
          <p:spPr>
            <a:xfrm>
              <a:off x="0" y="-47625"/>
              <a:ext cx="1075055" cy="1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8">
            <a:extLst>
              <a:ext uri="{FF2B5EF4-FFF2-40B4-BE49-F238E27FC236}">
                <a16:creationId xmlns:a16="http://schemas.microsoft.com/office/drawing/2014/main" id="{0E7B1307-AF4C-01F7-A7E3-01E57087CDFB}"/>
              </a:ext>
            </a:extLst>
          </p:cNvPr>
          <p:cNvGrpSpPr/>
          <p:nvPr/>
        </p:nvGrpSpPr>
        <p:grpSpPr>
          <a:xfrm>
            <a:off x="0" y="9232342"/>
            <a:ext cx="18300511" cy="1054658"/>
            <a:chOff x="0" y="-47625"/>
            <a:chExt cx="4819888" cy="277770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9A2474E1-C75B-F717-08D2-0B5875D054C0}"/>
                </a:ext>
              </a:extLst>
            </p:cNvPr>
            <p:cNvSpPr/>
            <p:nvPr/>
          </p:nvSpPr>
          <p:spPr>
            <a:xfrm>
              <a:off x="3296" y="0"/>
              <a:ext cx="4816592" cy="230145"/>
            </a:xfrm>
            <a:custGeom>
              <a:avLst/>
              <a:gdLst/>
              <a:ahLst/>
              <a:cxnLst/>
              <a:rect l="l" t="t" r="r" b="b"/>
              <a:pathLst>
                <a:path w="4816592" h="230145">
                  <a:moveTo>
                    <a:pt x="0" y="0"/>
                  </a:moveTo>
                  <a:lnTo>
                    <a:pt x="4816592" y="0"/>
                  </a:lnTo>
                  <a:lnTo>
                    <a:pt x="4816592" y="230145"/>
                  </a:lnTo>
                  <a:lnTo>
                    <a:pt x="0" y="230145"/>
                  </a:lnTo>
                  <a:close/>
                </a:path>
              </a:pathLst>
            </a:custGeom>
            <a:solidFill>
              <a:srgbClr val="00629B"/>
            </a:solidFill>
          </p:spPr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A10FFFBE-27C1-9E8C-CBB1-926B93FB2E45}"/>
                </a:ext>
              </a:extLst>
            </p:cNvPr>
            <p:cNvSpPr txBox="1"/>
            <p:nvPr/>
          </p:nvSpPr>
          <p:spPr>
            <a:xfrm>
              <a:off x="0" y="-47625"/>
              <a:ext cx="4816593" cy="277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r>
                <a:rPr lang="en-US" sz="1999" b="1" spc="47" dirty="0">
                  <a:solidFill>
                    <a:srgbClr val="FFFFFF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HOSTED BY: </a:t>
              </a:r>
              <a:r>
                <a:rPr lang="en-US" sz="1999" b="1" spc="47" dirty="0">
                  <a:solidFill>
                    <a:srgbClr val="000000"/>
                  </a:solidFill>
                  <a:latin typeface="Times New Roman" panose="02020603050405020304" pitchFamily="18" charset="0"/>
                  <a:ea typeface="Roboto Condensed Bold"/>
                  <a:cs typeface="Times New Roman" panose="02020603050405020304" pitchFamily="18" charset="0"/>
                  <a:sym typeface="Roboto Condensed Bold"/>
                </a:rPr>
                <a:t>: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Universiti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Kebangsaan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Malaysia and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Institut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</a:t>
              </a:r>
              <a:r>
                <a:rPr lang="en-US" sz="2000" dirty="0" err="1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Teknologi</a:t>
              </a:r>
              <a:r>
                <a:rPr 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Roboto Condensed Bold" panose="020B0604020202020204" charset="0"/>
                  <a:cs typeface="Times New Roman" panose="02020603050405020304" pitchFamily="18" charset="0"/>
                </a:rPr>
                <a:t> Bandung</a:t>
              </a:r>
              <a:endParaRPr lang="en-US" sz="1999" b="1" spc="47" dirty="0">
                <a:solidFill>
                  <a:schemeClr val="bg1"/>
                </a:solidFill>
                <a:latin typeface="Times New Roman" panose="02020603050405020304" pitchFamily="18" charset="0"/>
                <a:ea typeface="Roboto Condensed Bold"/>
                <a:cs typeface="Times New Roman" panose="02020603050405020304" pitchFamily="18" charset="0"/>
                <a:sym typeface="Roboto Condensed Bold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EB47D7AF-DBAF-D11E-2E45-77CF6FDCA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50" y="1003033"/>
            <a:ext cx="2458550" cy="723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66FF3C1-95CE-A7D3-6CDD-D640255EDF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0980" y="509810"/>
            <a:ext cx="2133600" cy="7174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99D59E-2069-30C4-082A-CD696760C383}"/>
              </a:ext>
            </a:extLst>
          </p:cNvPr>
          <p:cNvSpPr txBox="1"/>
          <p:nvPr/>
        </p:nvSpPr>
        <p:spPr>
          <a:xfrm>
            <a:off x="3352800" y="3693581"/>
            <a:ext cx="17297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Kind Attention …</a:t>
            </a:r>
          </a:p>
          <a:p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789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2093</Words>
  <Application>Microsoft Office PowerPoint</Application>
  <PresentationFormat>Custom</PresentationFormat>
  <Paragraphs>236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Wingdings</vt:lpstr>
      <vt:lpstr>Calibri</vt:lpstr>
      <vt:lpstr>Arial</vt:lpstr>
      <vt:lpstr>Aptos</vt:lpstr>
      <vt:lpstr>Wingdings,Sans-Serif</vt:lpstr>
      <vt:lpstr>Roboto Condensed Bold</vt:lpstr>
      <vt:lpstr>Times New Roman Bold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Compas_2025</dc:title>
  <dc:creator>MD.RIFAT HOSSEN</dc:creator>
  <cp:lastModifiedBy>Md Rifat Hossen</cp:lastModifiedBy>
  <cp:revision>14</cp:revision>
  <dcterms:created xsi:type="dcterms:W3CDTF">2006-08-16T00:00:00Z</dcterms:created>
  <dcterms:modified xsi:type="dcterms:W3CDTF">2025-11-15T01:17:02Z</dcterms:modified>
  <dc:identifier>DAG17Vso9ds</dc:identifier>
</cp:coreProperties>
</file>