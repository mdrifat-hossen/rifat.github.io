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4" r:id="rId1"/>
  </p:sldMasterIdLst>
  <p:notesMasterIdLst>
    <p:notesMasterId r:id="rId24"/>
  </p:notesMasterIdLst>
  <p:handoutMasterIdLst>
    <p:handoutMasterId r:id="rId25"/>
  </p:handoutMasterIdLst>
  <p:sldIdLst>
    <p:sldId id="294" r:id="rId2"/>
    <p:sldId id="291" r:id="rId3"/>
    <p:sldId id="477" r:id="rId4"/>
    <p:sldId id="478" r:id="rId5"/>
    <p:sldId id="292" r:id="rId6"/>
    <p:sldId id="437" r:id="rId7"/>
    <p:sldId id="438" r:id="rId8"/>
    <p:sldId id="439" r:id="rId9"/>
    <p:sldId id="446" r:id="rId10"/>
    <p:sldId id="465" r:id="rId11"/>
    <p:sldId id="464" r:id="rId12"/>
    <p:sldId id="466" r:id="rId13"/>
    <p:sldId id="467" r:id="rId14"/>
    <p:sldId id="489" r:id="rId15"/>
    <p:sldId id="490" r:id="rId16"/>
    <p:sldId id="479" r:id="rId17"/>
    <p:sldId id="492" r:id="rId18"/>
    <p:sldId id="494" r:id="rId19"/>
    <p:sldId id="480" r:id="rId20"/>
    <p:sldId id="482" r:id="rId21"/>
    <p:sldId id="495" r:id="rId22"/>
    <p:sldId id="485" r:id="rId23"/>
  </p:sldIdLst>
  <p:sldSz cx="12801600" cy="9601200" type="A3"/>
  <p:notesSz cx="9388475" cy="7102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11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2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35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5587" algn="l" defTabSz="91423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2705" algn="l" defTabSz="91423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199822" algn="l" defTabSz="91423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6940" algn="l" defTabSz="91423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C60BBCE-4D90-46D7-8ED6-4467B73DB227}">
          <p14:sldIdLst>
            <p14:sldId id="294"/>
          </p14:sldIdLst>
        </p14:section>
        <p14:section name="Untitled Section" id="{F62FEDE1-EA17-420F-BF3B-529FB8DA03AD}">
          <p14:sldIdLst>
            <p14:sldId id="291"/>
            <p14:sldId id="477"/>
            <p14:sldId id="478"/>
            <p14:sldId id="292"/>
            <p14:sldId id="437"/>
            <p14:sldId id="438"/>
            <p14:sldId id="439"/>
            <p14:sldId id="446"/>
            <p14:sldId id="465"/>
            <p14:sldId id="464"/>
            <p14:sldId id="466"/>
            <p14:sldId id="467"/>
            <p14:sldId id="489"/>
            <p14:sldId id="490"/>
            <p14:sldId id="479"/>
            <p14:sldId id="492"/>
            <p14:sldId id="494"/>
            <p14:sldId id="480"/>
            <p14:sldId id="482"/>
            <p14:sldId id="495"/>
            <p14:sldId id="4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6532" autoAdjust="0"/>
  </p:normalViewPr>
  <p:slideViewPr>
    <p:cSldViewPr>
      <p:cViewPr varScale="1">
        <p:scale>
          <a:sx n="56" d="100"/>
          <a:sy n="56" d="100"/>
        </p:scale>
        <p:origin x="1680" y="58"/>
      </p:cViewPr>
      <p:guideLst>
        <p:guide orient="horz" pos="3024"/>
        <p:guide pos="4032"/>
      </p:guideLst>
    </p:cSldViewPr>
  </p:slideViewPr>
  <p:outlineViewPr>
    <p:cViewPr>
      <p:scale>
        <a:sx n="33" d="100"/>
        <a:sy n="33" d="100"/>
      </p:scale>
      <p:origin x="0" y="36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113" d="100"/>
          <a:sy n="113" d="100"/>
        </p:scale>
        <p:origin x="2040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542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068339" cy="3551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219" tIns="47109" rIns="94219" bIns="4710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7965" y="0"/>
            <a:ext cx="4068339" cy="3551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219" tIns="47109" rIns="94219" bIns="471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19413" y="533400"/>
            <a:ext cx="3549650" cy="2662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8848" y="3373676"/>
            <a:ext cx="7510780" cy="31961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219" tIns="47109" rIns="94219" bIns="471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746119"/>
            <a:ext cx="4068339" cy="3551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219" tIns="47109" rIns="94219" bIns="4710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317965" y="6746119"/>
            <a:ext cx="4068339" cy="3551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219" tIns="47109" rIns="94219" bIns="471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60F4DD0-50EE-4C24-B22D-4D43BAA2882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933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1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23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35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47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58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2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8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82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62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129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371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404040"/>
                </a:solidFill>
                <a:effectLst/>
                <a:latin typeface="Gill Sans MT" panose="020B0502020104020203" pitchFamily="34" charset="0"/>
              </a:rPr>
              <a:t>Conductive hearing loss is associated with faulty transmission of sound and is mostly due to damage to the eardrums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404040"/>
                </a:solidFill>
                <a:effectLst/>
                <a:latin typeface="Gill Sans MT" panose="020B0502020104020203" pitchFamily="34" charset="0"/>
              </a:rPr>
              <a:t>Perceptive hearing loss is associated with difficulty in sensing the vibrations by the auditory nerves at the cochlea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404040"/>
                </a:solidFill>
                <a:effectLst/>
                <a:latin typeface="Gill Sans MT" panose="020B0502020104020203" pitchFamily="34" charset="0"/>
              </a:rPr>
              <a:t>As for mixed hearing loss, it is best to suggest a trial in advance to find out whether bone conduction could be an aid to mixed hearing loss because it differs among individual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142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55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F4DD0-50EE-4C24-B22D-4D43BAA2882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466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090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285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202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545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466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98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541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432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AF0A-C39C-C67A-0E67-357C6689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28129-51A9-0D87-1549-0D5F53420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CDF63-2F5C-6AB0-408A-1EB8D0E90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57048-B443-9AEF-2AC6-A0CE12A4D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72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266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37FD-8191-64D9-AB22-1058B708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3E821-7741-0881-548B-6F44AEF1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7451E-7955-6E48-DE3A-E138572DA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509EF-3DDE-CDC0-A702-39F4F6E07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825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9413" y="533400"/>
            <a:ext cx="3549650" cy="26622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0F4DD0-50EE-4C24-B22D-4D43BAA28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82617"/>
            <a:ext cx="10881360" cy="20580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/>
            </a:lvl1pPr>
            <a:lvl2pPr marL="457195" indent="0" algn="ctr">
              <a:buNone/>
              <a:defRPr/>
            </a:lvl2pPr>
            <a:lvl3pPr marL="914390" indent="0" algn="ctr">
              <a:buNone/>
              <a:defRPr/>
            </a:lvl3pPr>
            <a:lvl4pPr marL="1371586" indent="0" algn="ctr">
              <a:buNone/>
              <a:defRPr/>
            </a:lvl4pPr>
            <a:lvl5pPr marL="1828784" indent="0" algn="ctr">
              <a:buNone/>
              <a:defRPr/>
            </a:lvl5pPr>
            <a:lvl6pPr marL="2285981" indent="0" algn="ctr">
              <a:buNone/>
              <a:defRPr/>
            </a:lvl6pPr>
            <a:lvl7pPr marL="2743174" indent="0" algn="ctr">
              <a:buNone/>
              <a:defRPr/>
            </a:lvl7pPr>
            <a:lvl8pPr marL="3200367" indent="0" algn="ctr">
              <a:buNone/>
              <a:defRPr/>
            </a:lvl8pPr>
            <a:lvl9pPr marL="365756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16EDF-E5B8-472E-9629-9181B29C2D6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409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3F0E3-0E1B-44BA-BCD9-17E316FA1A6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30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40" y="6169681"/>
            <a:ext cx="10881360" cy="1906905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40" y="4069411"/>
            <a:ext cx="10881360" cy="2100262"/>
          </a:xfrm>
        </p:spPr>
        <p:txBody>
          <a:bodyPr anchor="b"/>
          <a:lstStyle>
            <a:lvl1pPr marL="0" indent="0">
              <a:buNone/>
              <a:defRPr sz="2001"/>
            </a:lvl1pPr>
            <a:lvl2pPr marL="457195" indent="0">
              <a:buNone/>
              <a:defRPr sz="1799"/>
            </a:lvl2pPr>
            <a:lvl3pPr marL="914390" indent="0">
              <a:buNone/>
              <a:defRPr sz="1600"/>
            </a:lvl3pPr>
            <a:lvl4pPr marL="1371586" indent="0">
              <a:buNone/>
              <a:defRPr sz="1400"/>
            </a:lvl4pPr>
            <a:lvl5pPr marL="1828784" indent="0">
              <a:buNone/>
              <a:defRPr sz="1400"/>
            </a:lvl5pPr>
            <a:lvl6pPr marL="2285981" indent="0">
              <a:buNone/>
              <a:defRPr sz="1400"/>
            </a:lvl6pPr>
            <a:lvl7pPr marL="2743174" indent="0">
              <a:buNone/>
              <a:defRPr sz="1400"/>
            </a:lvl7pPr>
            <a:lvl8pPr marL="3200367" indent="0">
              <a:buNone/>
              <a:defRPr sz="1400"/>
            </a:lvl8pPr>
            <a:lvl9pPr marL="365756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D704FC-5F0D-406D-ACB8-81054514270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442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240289"/>
            <a:ext cx="5654040" cy="6336348"/>
          </a:xfrm>
        </p:spPr>
        <p:txBody>
          <a:bodyPr/>
          <a:lstStyle>
            <a:lvl1pPr>
              <a:defRPr sz="2801"/>
            </a:lvl1pPr>
            <a:lvl2pPr>
              <a:defRPr sz="2401"/>
            </a:lvl2pPr>
            <a:lvl3pPr>
              <a:defRPr sz="2001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2240289"/>
            <a:ext cx="5654040" cy="6336348"/>
          </a:xfrm>
        </p:spPr>
        <p:txBody>
          <a:bodyPr/>
          <a:lstStyle>
            <a:lvl1pPr>
              <a:defRPr sz="2801"/>
            </a:lvl1pPr>
            <a:lvl2pPr>
              <a:defRPr sz="2401"/>
            </a:lvl2pPr>
            <a:lvl3pPr>
              <a:defRPr sz="2001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2EC823-8A89-4E5B-B776-7C8C912229F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048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8" y="2149171"/>
            <a:ext cx="5656263" cy="895667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195" indent="0">
              <a:buNone/>
              <a:defRPr sz="2001" b="1"/>
            </a:lvl2pPr>
            <a:lvl3pPr marL="914390" indent="0">
              <a:buNone/>
              <a:defRPr sz="1799" b="1"/>
            </a:lvl3pPr>
            <a:lvl4pPr marL="1371586" indent="0">
              <a:buNone/>
              <a:defRPr sz="1600" b="1"/>
            </a:lvl4pPr>
            <a:lvl5pPr marL="1828784" indent="0">
              <a:buNone/>
              <a:defRPr sz="1600" b="1"/>
            </a:lvl5pPr>
            <a:lvl6pPr marL="2285981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67" indent="0">
              <a:buNone/>
              <a:defRPr sz="1600" b="1"/>
            </a:lvl8pPr>
            <a:lvl9pPr marL="36575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8" y="3044826"/>
            <a:ext cx="5656263" cy="5531803"/>
          </a:xfrm>
        </p:spPr>
        <p:txBody>
          <a:bodyPr/>
          <a:lstStyle>
            <a:lvl1pPr>
              <a:defRPr sz="2401"/>
            </a:lvl1pPr>
            <a:lvl2pPr>
              <a:defRPr sz="2001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44" y="2149171"/>
            <a:ext cx="5658486" cy="895667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195" indent="0">
              <a:buNone/>
              <a:defRPr sz="2001" b="1"/>
            </a:lvl2pPr>
            <a:lvl3pPr marL="914390" indent="0">
              <a:buNone/>
              <a:defRPr sz="1799" b="1"/>
            </a:lvl3pPr>
            <a:lvl4pPr marL="1371586" indent="0">
              <a:buNone/>
              <a:defRPr sz="1600" b="1"/>
            </a:lvl4pPr>
            <a:lvl5pPr marL="1828784" indent="0">
              <a:buNone/>
              <a:defRPr sz="1600" b="1"/>
            </a:lvl5pPr>
            <a:lvl6pPr marL="2285981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67" indent="0">
              <a:buNone/>
              <a:defRPr sz="1600" b="1"/>
            </a:lvl8pPr>
            <a:lvl9pPr marL="36575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44" y="3044826"/>
            <a:ext cx="5658486" cy="5531803"/>
          </a:xfrm>
        </p:spPr>
        <p:txBody>
          <a:bodyPr/>
          <a:lstStyle>
            <a:lvl1pPr>
              <a:defRPr sz="2401"/>
            </a:lvl1pPr>
            <a:lvl2pPr>
              <a:defRPr sz="2001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35BE51-E5CB-4D37-BD2D-88472284777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410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49BE4-0A1D-4D4A-ACFA-B6E9C088D6E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3459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F0A05-B1A4-4D76-B5B5-CDE10318B86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285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3" y="382270"/>
            <a:ext cx="4211640" cy="1626870"/>
          </a:xfrm>
        </p:spPr>
        <p:txBody>
          <a:bodyPr anchor="b"/>
          <a:lstStyle>
            <a:lvl1pPr algn="l">
              <a:defRPr sz="2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7" y="382283"/>
            <a:ext cx="7156450" cy="8194358"/>
          </a:xfrm>
        </p:spPr>
        <p:txBody>
          <a:bodyPr/>
          <a:lstStyle>
            <a:lvl1pPr>
              <a:defRPr sz="3203"/>
            </a:lvl1pPr>
            <a:lvl2pPr>
              <a:defRPr sz="2801"/>
            </a:lvl2pPr>
            <a:lvl3pPr>
              <a:defRPr sz="2401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3" y="2009145"/>
            <a:ext cx="4211640" cy="6567488"/>
          </a:xfrm>
        </p:spPr>
        <p:txBody>
          <a:bodyPr/>
          <a:lstStyle>
            <a:lvl1pPr marL="0" indent="0">
              <a:buNone/>
              <a:defRPr sz="1400"/>
            </a:lvl1pPr>
            <a:lvl2pPr marL="457195" indent="0">
              <a:buNone/>
              <a:defRPr sz="1200"/>
            </a:lvl2pPr>
            <a:lvl3pPr marL="914390" indent="0">
              <a:buNone/>
              <a:defRPr sz="999"/>
            </a:lvl3pPr>
            <a:lvl4pPr marL="1371586" indent="0">
              <a:buNone/>
              <a:defRPr sz="900"/>
            </a:lvl4pPr>
            <a:lvl5pPr marL="1828784" indent="0">
              <a:buNone/>
              <a:defRPr sz="900"/>
            </a:lvl5pPr>
            <a:lvl6pPr marL="2285981" indent="0">
              <a:buNone/>
              <a:defRPr sz="900"/>
            </a:lvl6pPr>
            <a:lvl7pPr marL="2743174" indent="0">
              <a:buNone/>
              <a:defRPr sz="900"/>
            </a:lvl7pPr>
            <a:lvl8pPr marL="3200367" indent="0">
              <a:buNone/>
              <a:defRPr sz="900"/>
            </a:lvl8pPr>
            <a:lvl9pPr marL="365756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6C265-438E-4DE0-944D-962C6D0BCC9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449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57"/>
            <a:ext cx="7680960" cy="793433"/>
          </a:xfrm>
        </p:spPr>
        <p:txBody>
          <a:bodyPr anchor="b"/>
          <a:lstStyle>
            <a:lvl1pPr algn="l">
              <a:defRPr sz="20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3203"/>
            </a:lvl1pPr>
            <a:lvl2pPr marL="457195" indent="0">
              <a:buNone/>
              <a:defRPr sz="2801"/>
            </a:lvl2pPr>
            <a:lvl3pPr marL="914390" indent="0">
              <a:buNone/>
              <a:defRPr sz="2401"/>
            </a:lvl3pPr>
            <a:lvl4pPr marL="1371586" indent="0">
              <a:buNone/>
              <a:defRPr sz="2001"/>
            </a:lvl4pPr>
            <a:lvl5pPr marL="1828784" indent="0">
              <a:buNone/>
              <a:defRPr sz="2001"/>
            </a:lvl5pPr>
            <a:lvl6pPr marL="2285981" indent="0">
              <a:buNone/>
              <a:defRPr sz="2001"/>
            </a:lvl6pPr>
            <a:lvl7pPr marL="2743174" indent="0">
              <a:buNone/>
              <a:defRPr sz="2001"/>
            </a:lvl7pPr>
            <a:lvl8pPr marL="3200367" indent="0">
              <a:buNone/>
              <a:defRPr sz="2001"/>
            </a:lvl8pPr>
            <a:lvl9pPr marL="3657566" indent="0">
              <a:buNone/>
              <a:defRPr sz="2001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86"/>
            <a:ext cx="7680960" cy="1126807"/>
          </a:xfrm>
        </p:spPr>
        <p:txBody>
          <a:bodyPr/>
          <a:lstStyle>
            <a:lvl1pPr marL="0" indent="0">
              <a:buNone/>
              <a:defRPr sz="1400"/>
            </a:lvl1pPr>
            <a:lvl2pPr marL="457195" indent="0">
              <a:buNone/>
              <a:defRPr sz="1200"/>
            </a:lvl2pPr>
            <a:lvl3pPr marL="914390" indent="0">
              <a:buNone/>
              <a:defRPr sz="999"/>
            </a:lvl3pPr>
            <a:lvl4pPr marL="1371586" indent="0">
              <a:buNone/>
              <a:defRPr sz="900"/>
            </a:lvl4pPr>
            <a:lvl5pPr marL="1828784" indent="0">
              <a:buNone/>
              <a:defRPr sz="900"/>
            </a:lvl5pPr>
            <a:lvl6pPr marL="2285981" indent="0">
              <a:buNone/>
              <a:defRPr sz="900"/>
            </a:lvl6pPr>
            <a:lvl7pPr marL="2743174" indent="0">
              <a:buNone/>
              <a:defRPr sz="900"/>
            </a:lvl7pPr>
            <a:lvl8pPr marL="3200367" indent="0">
              <a:buNone/>
              <a:defRPr sz="900"/>
            </a:lvl8pPr>
            <a:lvl9pPr marL="365756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B2BD45-7EB4-47AB-9945-CD1724E0FCA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671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1D91C0-4FC7-4BA3-9D9F-8F3A0BC3B2A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951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384532"/>
            <a:ext cx="2880360" cy="81921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84532"/>
            <a:ext cx="8427720" cy="81921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3C8919-531A-4E3A-BD53-AC8814E6BD2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96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0080" y="384175"/>
            <a:ext cx="1152144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0080" y="2239964"/>
            <a:ext cx="11521440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0080" y="8743951"/>
            <a:ext cx="298704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May 22, 2024</a:t>
            </a:r>
            <a:endParaRPr lang="en-US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880" y="8743951"/>
            <a:ext cx="405384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GB" altLang="en-US"/>
              <a:t>Shimamura Lab, Saitama University</a:t>
            </a:r>
            <a:endParaRPr lang="en-US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480" y="8743951"/>
            <a:ext cx="298704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5AC433D-741F-43CE-BD0D-0332DB7ED83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95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9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8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98" indent="-342898" algn="l" rtl="0" eaLnBrk="0" fontAlgn="base" hangingPunct="0">
        <a:spcBef>
          <a:spcPct val="20000"/>
        </a:spcBef>
        <a:spcAft>
          <a:spcPct val="0"/>
        </a:spcAft>
        <a:buChar char="•"/>
        <a:defRPr sz="3203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rtl="0" eaLnBrk="0" fontAlgn="base" hangingPunct="0">
        <a:spcBef>
          <a:spcPct val="20000"/>
        </a:spcBef>
        <a:spcAft>
          <a:spcPct val="0"/>
        </a:spcAft>
        <a:buChar char="–"/>
        <a:defRPr sz="2801">
          <a:solidFill>
            <a:schemeClr val="tx1"/>
          </a:solidFill>
          <a:latin typeface="+mn-lt"/>
        </a:defRPr>
      </a:lvl2pPr>
      <a:lvl3pPr marL="1142987" indent="-228599" algn="l" rtl="0" eaLnBrk="0" fontAlgn="base" hangingPunct="0">
        <a:spcBef>
          <a:spcPct val="20000"/>
        </a:spcBef>
        <a:spcAft>
          <a:spcPct val="0"/>
        </a:spcAft>
        <a:buChar char="•"/>
        <a:defRPr sz="2401">
          <a:solidFill>
            <a:schemeClr val="tx1"/>
          </a:solidFill>
          <a:latin typeface="+mn-lt"/>
        </a:defRPr>
      </a:lvl3pPr>
      <a:lvl4pPr marL="1600185" indent="-228599" algn="l" rtl="0" eaLnBrk="0" fontAlgn="base" hangingPunct="0">
        <a:spcBef>
          <a:spcPct val="20000"/>
        </a:spcBef>
        <a:spcAft>
          <a:spcPct val="0"/>
        </a:spcAft>
        <a:buChar char="–"/>
        <a:defRPr sz="2001">
          <a:solidFill>
            <a:schemeClr val="tx1"/>
          </a:solidFill>
          <a:latin typeface="+mn-lt"/>
        </a:defRPr>
      </a:lvl4pPr>
      <a:lvl5pPr marL="2057384" indent="-228599" algn="l" rtl="0" eaLnBrk="0" fontAlgn="base" hangingPunct="0">
        <a:spcBef>
          <a:spcPct val="20000"/>
        </a:spcBef>
        <a:spcAft>
          <a:spcPct val="0"/>
        </a:spcAft>
        <a:buChar char="»"/>
        <a:defRPr sz="2001">
          <a:solidFill>
            <a:schemeClr val="tx1"/>
          </a:solidFill>
          <a:latin typeface="+mn-lt"/>
        </a:defRPr>
      </a:lvl5pPr>
      <a:lvl6pPr marL="2514573" indent="-228599" algn="l" rtl="0" eaLnBrk="1" fontAlgn="base" hangingPunct="1">
        <a:spcBef>
          <a:spcPct val="20000"/>
        </a:spcBef>
        <a:spcAft>
          <a:spcPct val="0"/>
        </a:spcAft>
        <a:buChar char="»"/>
        <a:defRPr sz="2001">
          <a:solidFill>
            <a:schemeClr val="tx1"/>
          </a:solidFill>
          <a:latin typeface="+mn-lt"/>
        </a:defRPr>
      </a:lvl6pPr>
      <a:lvl7pPr marL="2971770" indent="-228599" algn="l" rtl="0" eaLnBrk="1" fontAlgn="base" hangingPunct="1">
        <a:spcBef>
          <a:spcPct val="20000"/>
        </a:spcBef>
        <a:spcAft>
          <a:spcPct val="0"/>
        </a:spcAft>
        <a:buChar char="»"/>
        <a:defRPr sz="2001">
          <a:solidFill>
            <a:schemeClr val="tx1"/>
          </a:solidFill>
          <a:latin typeface="+mn-lt"/>
        </a:defRPr>
      </a:lvl7pPr>
      <a:lvl8pPr marL="3428966" indent="-228599" algn="l" rtl="0" eaLnBrk="1" fontAlgn="base" hangingPunct="1">
        <a:spcBef>
          <a:spcPct val="20000"/>
        </a:spcBef>
        <a:spcAft>
          <a:spcPct val="0"/>
        </a:spcAft>
        <a:buChar char="»"/>
        <a:defRPr sz="2001">
          <a:solidFill>
            <a:schemeClr val="tx1"/>
          </a:solidFill>
          <a:latin typeface="+mn-lt"/>
        </a:defRPr>
      </a:lvl8pPr>
      <a:lvl9pPr marL="3886161" indent="-228599" algn="l" rtl="0" eaLnBrk="1" fontAlgn="base" hangingPunct="1">
        <a:spcBef>
          <a:spcPct val="20000"/>
        </a:spcBef>
        <a:spcAft>
          <a:spcPct val="0"/>
        </a:spcAft>
        <a:buChar char="»"/>
        <a:defRPr sz="200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6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4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1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7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6" algn="l" defTabSz="91439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/>
          <p:cNvSpPr txBox="1">
            <a:spLocks/>
          </p:cNvSpPr>
          <p:nvPr/>
        </p:nvSpPr>
        <p:spPr bwMode="auto">
          <a:xfrm>
            <a:off x="1604010" y="-2971800"/>
            <a:ext cx="8991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n-US" sz="3203" dirty="0">
              <a:solidFill>
                <a:srgbClr val="C00000"/>
              </a:solidFill>
              <a:latin typeface="Cambria" pitchFamily="18" charset="0"/>
              <a:ea typeface="Cambria" pitchFamily="18" charset="0"/>
              <a:cs typeface="Andalus" pitchFamily="18" charset="-78"/>
            </a:endParaRPr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1066800" y="2089966"/>
            <a:ext cx="10972799" cy="2438401"/>
          </a:xfr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1" fontAlgn="auto" hangingPunct="1">
              <a:spcBef>
                <a:spcPts val="581"/>
              </a:spcBef>
              <a:spcAft>
                <a:spcPts val="0"/>
              </a:spcAft>
              <a:tabLst>
                <a:tab pos="800092" algn="l"/>
                <a:tab pos="914390" algn="l"/>
              </a:tabLst>
              <a:defRPr/>
            </a:pPr>
            <a:r>
              <a:rPr lang="en-GB" sz="3200" kern="1200" cap="none" dirty="0">
                <a:solidFill>
                  <a:schemeClr val="accent6">
                    <a:lumMod val="50000"/>
                  </a:schemeClr>
                </a:solidFill>
                <a:latin typeface="Cambria" pitchFamily="18" charset="0"/>
                <a:ea typeface="Cambria" pitchFamily="18" charset="0"/>
                <a:cs typeface="Arial" pitchFamily="34" charset="0"/>
              </a:rPr>
              <a:t>Exploring the EmoBone Dataset with Bi-Directional LSTM for Emotion Recognition via Bone Conducted Speech</a:t>
            </a:r>
            <a:endParaRPr lang="en-US" sz="3200" kern="1200" dirty="0">
              <a:solidFill>
                <a:schemeClr val="accent6">
                  <a:lumMod val="50000"/>
                </a:schemeClr>
              </a:solidFill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pic>
        <p:nvPicPr>
          <p:cNvPr id="1026" name="Picture 2" descr="Saitama University">
            <a:extLst>
              <a:ext uri="{FF2B5EF4-FFF2-40B4-BE49-F238E27FC236}">
                <a16:creationId xmlns:a16="http://schemas.microsoft.com/office/drawing/2014/main" id="{6DFD6289-F086-2783-1B3F-8A4F4BEF7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25657"/>
            <a:ext cx="4381500" cy="152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70">
            <a:extLst>
              <a:ext uri="{FF2B5EF4-FFF2-40B4-BE49-F238E27FC236}">
                <a16:creationId xmlns:a16="http://schemas.microsoft.com/office/drawing/2014/main" id="{48B675E9-980D-E453-8135-F47ECBA95CDF}"/>
              </a:ext>
            </a:extLst>
          </p:cNvPr>
          <p:cNvSpPr/>
          <p:nvPr/>
        </p:nvSpPr>
        <p:spPr>
          <a:xfrm>
            <a:off x="3125954" y="6397664"/>
            <a:ext cx="7469656" cy="209288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581"/>
              </a:spcBef>
              <a:spcAft>
                <a:spcPts val="0"/>
              </a:spcAft>
              <a:tabLst>
                <a:tab pos="800092" algn="l"/>
                <a:tab pos="914390" algn="l"/>
              </a:tabLst>
              <a:defRPr/>
            </a:pPr>
            <a:r>
              <a:rPr lang="en-US" sz="3200" b="1" dirty="0">
                <a:solidFill>
                  <a:srgbClr val="00B050"/>
                </a:solidFill>
                <a:latin typeface="Cambria" pitchFamily="18" charset="0"/>
                <a:ea typeface="Cambria" pitchFamily="18" charset="0"/>
              </a:rPr>
              <a:t>Presented by</a:t>
            </a:r>
          </a:p>
          <a:p>
            <a:pPr algn="ctr" eaLnBrk="1" fontAlgn="auto" hangingPunct="1">
              <a:spcBef>
                <a:spcPts val="581"/>
              </a:spcBef>
              <a:spcAft>
                <a:spcPts val="0"/>
              </a:spcAft>
              <a:tabLst>
                <a:tab pos="800092" algn="l"/>
                <a:tab pos="914390" algn="l"/>
              </a:tabLst>
              <a:defRPr/>
            </a:pPr>
            <a:r>
              <a:rPr lang="en-US" sz="3200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  <a:t>Md. Rifat </a:t>
            </a:r>
            <a:r>
              <a:rPr lang="en-US" sz="3200" b="1" dirty="0" err="1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  <a:t>Hossen</a:t>
            </a:r>
            <a:endParaRPr lang="en-US" sz="3200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  <a:p>
            <a:pPr algn="ctr" eaLnBrk="1" fontAlgn="auto" hangingPunct="1">
              <a:spcBef>
                <a:spcPts val="581"/>
              </a:spcBef>
              <a:spcAft>
                <a:spcPts val="0"/>
              </a:spcAft>
              <a:tabLst>
                <a:tab pos="800092" algn="l"/>
                <a:tab pos="914390" algn="l"/>
              </a:tabLst>
              <a:defRPr/>
            </a:pPr>
            <a:r>
              <a:rPr 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Pabna University of Science and Technology</a:t>
            </a:r>
          </a:p>
          <a:p>
            <a:pPr>
              <a:defRPr/>
            </a:pPr>
            <a:endParaRPr lang="en-US" altLang="ko-KR" sz="2800" b="1" dirty="0">
              <a:solidFill>
                <a:srgbClr val="00B0F0"/>
              </a:solidFill>
              <a:latin typeface="Cambria" pitchFamily="18" charset="0"/>
              <a:ea typeface="Cambria" pitchFamily="18" charset="0"/>
              <a:cs typeface="+mn-cs"/>
            </a:endParaRPr>
          </a:p>
        </p:txBody>
      </p:sp>
      <p:sp>
        <p:nvSpPr>
          <p:cNvPr id="3" name="テキスト ボックス 11">
            <a:extLst>
              <a:ext uri="{FF2B5EF4-FFF2-40B4-BE49-F238E27FC236}">
                <a16:creationId xmlns:a16="http://schemas.microsoft.com/office/drawing/2014/main" id="{54EDE05A-A042-B1F5-C498-F328FB087DC9}"/>
              </a:ext>
            </a:extLst>
          </p:cNvPr>
          <p:cNvSpPr txBox="1"/>
          <p:nvPr/>
        </p:nvSpPr>
        <p:spPr>
          <a:xfrm>
            <a:off x="1981199" y="4800601"/>
            <a:ext cx="10058400" cy="100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9313">
              <a:lnSpc>
                <a:spcPct val="130000"/>
              </a:lnSpc>
            </a:pPr>
            <a:r>
              <a:rPr kumimoji="1" lang="en-US" altLang="ja-JP" sz="2400" b="1" dirty="0">
                <a:solidFill>
                  <a:schemeClr val="accent5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Md. Sarwar Hosain, </a:t>
            </a:r>
            <a:r>
              <a:rPr kumimoji="1" lang="sv-SE" altLang="ja-JP" sz="2400" b="1" dirty="0">
                <a:solidFill>
                  <a:schemeClr val="accent5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Md. Rifat Hossen, Md. Uzzal Mia, </a:t>
            </a:r>
          </a:p>
          <a:p>
            <a:pPr algn="ctr" defTabSz="849313">
              <a:lnSpc>
                <a:spcPct val="130000"/>
              </a:lnSpc>
            </a:pPr>
            <a:r>
              <a:rPr kumimoji="1" lang="en-US" altLang="ja-JP" sz="2400" b="1" dirty="0">
                <a:solidFill>
                  <a:schemeClr val="accent5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Yosuke </a:t>
            </a:r>
            <a:r>
              <a:rPr kumimoji="1" lang="en-US" altLang="ja-JP" sz="2400" b="1" dirty="0" err="1">
                <a:solidFill>
                  <a:schemeClr val="accent5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Sugiura</a:t>
            </a:r>
            <a:r>
              <a:rPr kumimoji="1" lang="en-US" altLang="ja-JP" sz="2400" b="1" dirty="0">
                <a:solidFill>
                  <a:schemeClr val="accent5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Tetsuya Shimamura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C88BAC-E92E-4C64-B69B-151CA4A9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49" y="159611"/>
            <a:ext cx="1825027" cy="1827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2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Presentation Outline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135381" y="1542097"/>
            <a:ext cx="5654040" cy="6336348"/>
          </a:xfrm>
        </p:spPr>
        <p:txBody>
          <a:bodyPr/>
          <a:lstStyle/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Motivation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Research Question 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 Objectives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Introduction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 Dataset Preparation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Dataset Evaluation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endParaRPr lang="en-US" sz="2800" dirty="0">
              <a:latin typeface="Cambria" pitchFamily="18" charset="0"/>
              <a:ea typeface="Cambria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sz="2801" dirty="0">
              <a:latin typeface="Cambria" pitchFamily="18" charset="0"/>
              <a:ea typeface="Cambria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endParaRPr lang="en-US" sz="2801" dirty="0">
              <a:latin typeface="Cambria" pitchFamily="18" charset="0"/>
              <a:ea typeface="Cambria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endParaRPr lang="en-US" sz="2801" dirty="0">
              <a:latin typeface="Cambria" pitchFamily="18" charset="0"/>
              <a:ea typeface="Cambria" pitchFamily="18" charset="0"/>
            </a:endParaRPr>
          </a:p>
          <a:p>
            <a:pPr eaLnBrk="1" hangingPunct="1">
              <a:lnSpc>
                <a:spcPct val="125000"/>
              </a:lnSpc>
            </a:pPr>
            <a:endParaRPr lang="en-US" sz="2801" dirty="0">
              <a:latin typeface="Cambria" pitchFamily="18" charset="0"/>
              <a:ea typeface="Cambria" pitchFamily="18" charset="0"/>
            </a:endParaRPr>
          </a:p>
          <a:p>
            <a:pPr lvl="1" eaLnBrk="1" hangingPunct="1">
              <a:lnSpc>
                <a:spcPct val="125000"/>
              </a:lnSpc>
              <a:buFont typeface="Wingdings" pitchFamily="2" charset="2"/>
              <a:buNone/>
            </a:pPr>
            <a:endParaRPr lang="en-US" b="1" i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7BE35E-706A-E349-FF10-EE139F9B4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9187" y="1984375"/>
            <a:ext cx="5654040" cy="6336348"/>
          </a:xfrm>
        </p:spPr>
        <p:txBody>
          <a:bodyPr/>
          <a:lstStyle/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Reliability of Evaluation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Methodology 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Results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Discussion</a:t>
            </a:r>
            <a:endParaRPr lang="en-US" dirty="0"/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Conclusions</a:t>
            </a:r>
          </a:p>
          <a:p>
            <a:pPr eaLnBrk="1" hangingPunct="1">
              <a:lnSpc>
                <a:spcPct val="250000"/>
              </a:lnSpc>
              <a:buFont typeface="Wingdings" pitchFamily="2" charset="2"/>
              <a:buChar char="Ø"/>
            </a:pPr>
            <a:endParaRPr lang="en-US" sz="2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4A697F2-D41E-537F-46C5-D0161F66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 bwMode="auto">
          <a:xfrm>
            <a:off x="3962401" y="8763001"/>
            <a:ext cx="5486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800100" algn="l"/>
                <a:tab pos="914400" algn="l"/>
              </a:tabLst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>
              <a:tabLst>
                <a:tab pos="800100" algn="l"/>
                <a:tab pos="914400" algn="l"/>
              </a:tabLst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>
              <a:tabLst>
                <a:tab pos="800100" algn="l"/>
                <a:tab pos="914400" algn="l"/>
              </a:tabLst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tabLst>
                <a:tab pos="800100" algn="l"/>
                <a:tab pos="9144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endParaRPr lang="en-US" sz="1600" b="1" i="1" dirty="0">
              <a:solidFill>
                <a:srgbClr val="00B0F0"/>
              </a:solidFill>
              <a:latin typeface="Times New Roman" pitchFamily="18" charset="0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E1D17B5C-28B5-DE87-5EE1-48670080E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9C3F02-89EE-4655-919F-833D4ECFC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67D8D4E-B900-441D-991E-B54F4FD7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1F1EC633-5FA6-4CE0-8622-1277821B2447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5AB8D3F-1627-ACB3-B4DD-F4DA632D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239" y="856308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Motivation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4B8B8-CFCE-952F-4387-F74331994BC3}"/>
              </a:ext>
            </a:extLst>
          </p:cNvPr>
          <p:cNvSpPr txBox="1"/>
          <p:nvPr/>
        </p:nvSpPr>
        <p:spPr>
          <a:xfrm>
            <a:off x="681039" y="1467725"/>
            <a:ext cx="11430000" cy="452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Address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speech emotion recognition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issues in deep neural networks including  degradation and information loss </a:t>
            </a:r>
          </a:p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Utilize </a:t>
            </a:r>
            <a:r>
              <a:rPr lang="en-US" altLang="ja-JP" sz="28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bi-directional LSTM (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BiLSTM)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to capture the temporal dynamics of emotional expression </a:t>
            </a:r>
          </a:p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Provide a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novel bone-conducted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speech emotion identification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B706B-B709-4DB3-B4E6-63BE1D2F9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228AC4BD-3BEB-4EDC-B90C-8256DD2C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7B527CED-BE47-45FA-9F7A-24554669105F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26402525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74454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Objective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4B8B8-CFCE-952F-4387-F74331994BC3}"/>
              </a:ext>
            </a:extLst>
          </p:cNvPr>
          <p:cNvSpPr txBox="1"/>
          <p:nvPr/>
        </p:nvSpPr>
        <p:spPr>
          <a:xfrm>
            <a:off x="1317902" y="5738664"/>
            <a:ext cx="11268078" cy="280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To develop and optimize a BiLSTM based model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To evaluate and compare the performance of the model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To attain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state-of-the-art EmoBone dataset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performance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15AB0B9-F27D-6697-6731-CB1F1182A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880" y="657959"/>
            <a:ext cx="8229600" cy="111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Research Question</a:t>
            </a: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7" name="Flowchart: Punched Tape 6"/>
          <p:cNvSpPr/>
          <p:nvPr/>
        </p:nvSpPr>
        <p:spPr>
          <a:xfrm>
            <a:off x="1317902" y="1125126"/>
            <a:ext cx="10340698" cy="3691997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lnSpc>
                <a:spcPct val="150000"/>
              </a:lnSpc>
              <a:buFont typeface="Wingdings" panose="020B0604020202020204" pitchFamily="34" charset="0"/>
              <a:buChar char="ü"/>
            </a:pPr>
            <a:r>
              <a:rPr lang="en-GB" altLang="ja-JP" sz="2800" b="1" dirty="0">
                <a:solidFill>
                  <a:schemeClr val="tx1"/>
                </a:solidFill>
                <a:latin typeface="Cambria"/>
                <a:ea typeface="Cambria"/>
              </a:rPr>
              <a:t>How can a </a:t>
            </a:r>
            <a:r>
              <a:rPr lang="en-GB" altLang="ja-JP" sz="2800" b="1" dirty="0">
                <a:solidFill>
                  <a:srgbClr val="FF0000"/>
                </a:solidFill>
                <a:latin typeface="Cambria"/>
                <a:ea typeface="Cambria"/>
              </a:rPr>
              <a:t>BiLSTM</a:t>
            </a:r>
            <a:r>
              <a:rPr lang="en-GB" altLang="ja-JP" sz="2800" b="1" dirty="0">
                <a:solidFill>
                  <a:schemeClr val="tx1"/>
                </a:solidFill>
                <a:latin typeface="Cambria"/>
                <a:ea typeface="Cambria"/>
              </a:rPr>
              <a:t> </a:t>
            </a:r>
            <a:r>
              <a:rPr lang="en-GB" altLang="ja-JP" sz="2800" b="1" dirty="0">
                <a:solidFill>
                  <a:srgbClr val="FF0000"/>
                </a:solidFill>
                <a:latin typeface="Cambria"/>
                <a:ea typeface="Cambria"/>
              </a:rPr>
              <a:t>network</a:t>
            </a:r>
            <a:r>
              <a:rPr lang="en-GB" altLang="ja-JP" sz="2800" b="1" dirty="0">
                <a:solidFill>
                  <a:schemeClr val="tx1"/>
                </a:solidFill>
                <a:latin typeface="Cambria"/>
                <a:ea typeface="Cambria"/>
              </a:rPr>
              <a:t> enhance its performance in </a:t>
            </a:r>
            <a:r>
              <a:rPr lang="en-GB" altLang="ja-JP" sz="2800" b="1" dirty="0">
                <a:solidFill>
                  <a:srgbClr val="FF0000"/>
                </a:solidFill>
                <a:latin typeface="Cambria"/>
                <a:ea typeface="Cambria"/>
              </a:rPr>
              <a:t>emotion recognition </a:t>
            </a:r>
            <a:r>
              <a:rPr lang="en-GB" altLang="ja-JP" sz="2800" b="1" dirty="0">
                <a:solidFill>
                  <a:schemeClr val="tx1"/>
                </a:solidFill>
                <a:latin typeface="Cambria"/>
                <a:ea typeface="Cambria"/>
              </a:rPr>
              <a:t>using </a:t>
            </a:r>
            <a:r>
              <a:rPr lang="en-GB" altLang="ja-JP" sz="2800" b="1" dirty="0">
                <a:solidFill>
                  <a:srgbClr val="FF0000"/>
                </a:solidFill>
                <a:latin typeface="Cambria"/>
                <a:ea typeface="Cambria"/>
              </a:rPr>
              <a:t>bone-conducted speech</a:t>
            </a:r>
            <a:r>
              <a:rPr lang="en-GB" altLang="ja-JP" sz="2800" b="1" dirty="0">
                <a:solidFill>
                  <a:schemeClr val="tx1"/>
                </a:solidFill>
                <a:latin typeface="Cambria"/>
                <a:ea typeface="Cambria"/>
              </a:rPr>
              <a:t>?</a:t>
            </a:r>
            <a:endParaRPr lang="ja-JP" altLang="en-US" sz="2800" b="1" dirty="0">
              <a:solidFill>
                <a:srgbClr val="FF0000"/>
              </a:solidFill>
              <a:latin typeface="Cambria" panose="02040503050406030204" pitchFamily="18" charset="0"/>
              <a:ea typeface="ＭＳ ゴシック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AABA53-7192-42A3-9F07-541D5EF4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8A6B3C24-E1E7-46B0-95C6-A4AE067B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F65E9F9-8C45-453E-B571-2A9B68F6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8C5909A3-B715-4C64-9A1B-4C36BC170B3D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5396556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8229600" cy="2438400"/>
          </a:xfrm>
        </p:spPr>
        <p:txBody>
          <a:bodyPr/>
          <a:lstStyle/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Introduction</a:t>
            </a:r>
            <a:b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685800" y="1066817"/>
            <a:ext cx="11344278" cy="7617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Cambria"/>
                <a:ea typeface="+mn-lt"/>
                <a:cs typeface="+mn-lt"/>
              </a:rPr>
              <a:t>Speech: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Speech is a primary mode of human communication 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It conveys not just information but also emotions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Accurately recognizing emotions in speech is crucial for various applications</a:t>
            </a:r>
          </a:p>
          <a:p>
            <a:pPr marL="438781" lvl="1" indent="-154940">
              <a:lnSpc>
                <a:spcPct val="80000"/>
              </a:lnSpc>
              <a:buFont typeface="Courier New" panose="020B0604020202020204" pitchFamily="34" charset="0"/>
              <a:buChar char="o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438781" lvl="1" indent="-154940">
              <a:lnSpc>
                <a:spcPct val="80000"/>
              </a:lnSpc>
              <a:buFont typeface="Courier New" panose="020B0604020202020204" pitchFamily="34" charset="0"/>
              <a:buChar char="o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438781" lvl="1" indent="-154940">
              <a:lnSpc>
                <a:spcPct val="80000"/>
              </a:lnSpc>
              <a:buFont typeface="Courier New" panose="020B0604020202020204" pitchFamily="34" charset="0"/>
              <a:buChar char="o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438781" lvl="1" indent="-154940">
              <a:lnSpc>
                <a:spcPct val="80000"/>
              </a:lnSpc>
              <a:buFont typeface="Courier New" panose="020B0604020202020204" pitchFamily="34" charset="0"/>
              <a:buChar char="o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438781" lvl="1" indent="-154940">
              <a:lnSpc>
                <a:spcPct val="80000"/>
              </a:lnSpc>
              <a:buFont typeface="Courier New" panose="020B0604020202020204" pitchFamily="34" charset="0"/>
              <a:buChar char="o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Cambria"/>
                <a:ea typeface="+mn-lt"/>
                <a:cs typeface="+mn-lt"/>
              </a:rPr>
              <a:t>Speech Recognition:</a:t>
            </a:r>
            <a:endParaRPr lang="en-US" dirty="0">
              <a:latin typeface="Cambria"/>
              <a:ea typeface="Cambria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Computers can recognize our words and turn them into text.</a:t>
            </a:r>
            <a:endParaRPr lang="en-US" dirty="0">
              <a:latin typeface="Cambria"/>
              <a:ea typeface="Cambria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Speech recognition analyzes features like pitch, sound waves, and pronunciation</a:t>
            </a:r>
            <a:endParaRPr lang="en-US" dirty="0">
              <a:latin typeface="Cambria"/>
              <a:ea typeface="Cambria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Cambria"/>
              </a:rPr>
              <a:t> </a:t>
            </a:r>
            <a:r>
              <a:rPr lang="en-US" dirty="0">
                <a:latin typeface="Cambria"/>
                <a:ea typeface="+mn-lt"/>
                <a:cs typeface="+mn-lt"/>
              </a:rPr>
              <a:t>Voice assistants (e.g., Siri, Alexa, Google Assistant)</a:t>
            </a: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F8A56-F9AD-AAC3-2A0C-CFEFA9D80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961" y="3554398"/>
            <a:ext cx="4091397" cy="1743476"/>
          </a:xfrm>
          <a:prstGeom prst="rect">
            <a:avLst/>
          </a:prstGeom>
        </p:spPr>
      </p:pic>
      <p:pic>
        <p:nvPicPr>
          <p:cNvPr id="2052" name="Picture 4" descr="What Did I Learn from My Speech Class? | UIC Radio | University of Illinois  Chicago">
            <a:extLst>
              <a:ext uri="{FF2B5EF4-FFF2-40B4-BE49-F238E27FC236}">
                <a16:creationId xmlns:a16="http://schemas.microsoft.com/office/drawing/2014/main" id="{1F276844-4B25-F4DB-1692-8F1C12E35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505217"/>
            <a:ext cx="4147348" cy="174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A5CF5BE5-A368-9E18-8B0A-31DE259AB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C58532-D036-3AAC-1A4E-ED60416D588F}"/>
              </a:ext>
            </a:extLst>
          </p:cNvPr>
          <p:cNvSpPr txBox="1"/>
          <p:nvPr/>
        </p:nvSpPr>
        <p:spPr>
          <a:xfrm>
            <a:off x="2771045" y="5308805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1: Speech delivery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D9C189-F010-4DAC-C5D1-DF000026355B}"/>
              </a:ext>
            </a:extLst>
          </p:cNvPr>
          <p:cNvSpPr txBox="1"/>
          <p:nvPr/>
        </p:nvSpPr>
        <p:spPr>
          <a:xfrm>
            <a:off x="6858000" y="5319736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2: Speech recognition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66EE8C-4E1B-47E9-9659-BF073EAEB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8F9690B3-10E5-4E91-9EBC-94E5F2B3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85DD9E7-C609-4099-AB8E-74D86B59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755B62B4-392F-45F9-9A20-66A5990F8C56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66939" y="372729"/>
            <a:ext cx="8229600" cy="2438400"/>
          </a:xfrm>
        </p:spPr>
        <p:txBody>
          <a:bodyPr/>
          <a:lstStyle/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533400" y="1066820"/>
            <a:ext cx="11496678" cy="79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Cambria"/>
                <a:ea typeface="+mn-lt"/>
                <a:cs typeface="+mn-lt"/>
              </a:rPr>
              <a:t>Speech Emotion Recognition (SER):</a:t>
            </a:r>
          </a:p>
          <a:p>
            <a:pPr marL="438781" lvl="1" indent="-15494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SER aims to automatically recognize emotions from spoken language.</a:t>
            </a:r>
          </a:p>
          <a:p>
            <a:pPr marL="438781" lvl="1" indent="-15494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SER analyzes features like tone, pitch, and energy to identify emotions</a:t>
            </a:r>
          </a:p>
          <a:p>
            <a:pPr marL="438781" lvl="1" indent="-15494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 Emotion recognition is important for understanding human behavior</a:t>
            </a:r>
          </a:p>
          <a:p>
            <a:pPr marL="438781" lvl="1" indent="-15494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 It can be used to improve social interactions, human-computer interaction (HCI), and affective computing</a:t>
            </a:r>
          </a:p>
          <a:p>
            <a:pPr marL="438781" lvl="1" indent="-15494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Cambria"/>
                <a:ea typeface="+mn-lt"/>
                <a:cs typeface="+mn-lt"/>
              </a:rPr>
              <a:t> SER has applications in diverse areas, such as call centers, in-vehicle services, and medical services etc.</a:t>
            </a: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2B09E0F-33CF-8903-DDAA-A3F85D282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8" y="1136618"/>
            <a:ext cx="6934200" cy="162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EA15C0A-B6A4-9454-1AF0-B593A528B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AB2F33-7BE5-F62C-253C-07EB6FB6FD10}"/>
              </a:ext>
            </a:extLst>
          </p:cNvPr>
          <p:cNvSpPr txBox="1"/>
          <p:nvPr/>
        </p:nvSpPr>
        <p:spPr>
          <a:xfrm>
            <a:off x="4429881" y="2745674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3: Speech emotion recognition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777931-59F9-455C-9CEC-C2F897F65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E912A91E-8EEB-4DBD-A029-6A3563C1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8E11DA-630E-4F86-A5F7-42262EC2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14DA1104-3271-4083-846E-0113BF7AEB0A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71804870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8229600" cy="2438400"/>
          </a:xfrm>
        </p:spPr>
        <p:txBody>
          <a:bodyPr/>
          <a:lstStyle/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450B3-E660-5708-33E8-D5FC203D5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03226"/>
            <a:ext cx="10820400" cy="5864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F1E483-58D0-47F0-BE54-E63D3C84EC2B}"/>
              </a:ext>
            </a:extLst>
          </p:cNvPr>
          <p:cNvSpPr txBox="1"/>
          <p:nvPr/>
        </p:nvSpPr>
        <p:spPr>
          <a:xfrm>
            <a:off x="4724421" y="7543815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4: Bone conduction technology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CE74947E-B44F-2A2F-C837-86B9C0F6E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F0AA7F-9660-43C3-B31A-E6E444A4D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2F1D84A1-0E62-4B8B-B04C-E8B4DDBB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25909E-A12D-46CC-9C94-38237316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773C662-312B-49A0-906A-D9F0C26B4487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260699279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8229600" cy="2438400"/>
          </a:xfrm>
        </p:spPr>
        <p:txBody>
          <a:bodyPr/>
          <a:lstStyle/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D5BB4-83C4-80F0-4441-17D8516D351E}"/>
              </a:ext>
            </a:extLst>
          </p:cNvPr>
          <p:cNvSpPr txBox="1"/>
          <p:nvPr/>
        </p:nvSpPr>
        <p:spPr>
          <a:xfrm>
            <a:off x="2362201" y="1219699"/>
            <a:ext cx="8381990" cy="40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1" b="1" dirty="0">
                <a:solidFill>
                  <a:srgbClr val="00B050"/>
                </a:solidFill>
                <a:latin typeface="Cambria"/>
                <a:ea typeface="+mn-lt"/>
                <a:cs typeface="+mn-lt"/>
              </a:rPr>
              <a:t>Probable application areas of BC speech emotion recognition system</a:t>
            </a:r>
            <a:endParaRPr lang="en-US" sz="2001" dirty="0">
              <a:solidFill>
                <a:srgbClr val="00B050"/>
              </a:solidFill>
              <a:latin typeface="Cambria"/>
              <a:ea typeface="+mn-lt"/>
              <a:cs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2E80B6-A52A-E683-77E2-CC94591CF691}"/>
              </a:ext>
            </a:extLst>
          </p:cNvPr>
          <p:cNvSpPr txBox="1">
            <a:spLocks/>
          </p:cNvSpPr>
          <p:nvPr/>
        </p:nvSpPr>
        <p:spPr bwMode="auto">
          <a:xfrm>
            <a:off x="609601" y="1752625"/>
            <a:ext cx="5882784" cy="7010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Human Computer Interaction :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Smartphones and wearables devices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Virtual assistants and chatbots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Biometric authentication</a:t>
            </a:r>
          </a:p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Healthcare and Mental Health</a:t>
            </a:r>
            <a:r>
              <a:rPr lang="en-US" sz="3000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:</a:t>
            </a:r>
            <a:endParaRPr lang="en-US" sz="3000" kern="0" dirty="0">
              <a:solidFill>
                <a:schemeClr val="accent2">
                  <a:lumMod val="50000"/>
                </a:schemeClr>
              </a:solidFill>
              <a:latin typeface="Cambria"/>
              <a:ea typeface="Cambria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Mental health monitoring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Telehealth and remote monitoring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Speech therapy and language learning</a:t>
            </a:r>
          </a:p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2800" kern="0" dirty="0">
                <a:latin typeface="Cambria"/>
                <a:ea typeface="+mn-lt"/>
                <a:cs typeface="+mn-lt"/>
              </a:rPr>
              <a:t> </a:t>
            </a: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Education and Learning</a:t>
            </a:r>
            <a:r>
              <a:rPr lang="en-US" sz="2800" kern="0" dirty="0">
                <a:latin typeface="Cambria"/>
                <a:ea typeface="+mn-lt"/>
                <a:cs typeface="+mn-lt"/>
              </a:rPr>
              <a:t>:</a:t>
            </a:r>
            <a:endParaRPr lang="en-US" sz="2800" kern="0" dirty="0">
              <a:latin typeface="Cambria"/>
              <a:ea typeface="Cambria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Personalized learning environments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Educational games and applications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Cambria"/>
                <a:ea typeface="+mn-lt"/>
                <a:cs typeface="+mn-lt"/>
              </a:rPr>
              <a:t>Sports training and performance analysis</a:t>
            </a:r>
          </a:p>
          <a:p>
            <a:pPr marL="283843" lvl="1" indent="0">
              <a:lnSpc>
                <a:spcPct val="80000"/>
              </a:lnSpc>
              <a:buNone/>
            </a:pPr>
            <a:endParaRPr lang="en-US" sz="2801" kern="0" dirty="0">
              <a:latin typeface="Cambria"/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9A456E2-4AC9-220A-E019-39CB431FE338}"/>
              </a:ext>
            </a:extLst>
          </p:cNvPr>
          <p:cNvSpPr txBox="1">
            <a:spLocks/>
          </p:cNvSpPr>
          <p:nvPr/>
        </p:nvSpPr>
        <p:spPr>
          <a:xfrm>
            <a:off x="6553196" y="2357152"/>
            <a:ext cx="5768433" cy="70314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10184" indent="-210184">
              <a:lnSpc>
                <a:spcPct val="110000"/>
              </a:lnSpc>
              <a:buFont typeface="Wingdings" panose="020B0604020202020204" pitchFamily="34" charset="0"/>
              <a:buChar char="v"/>
            </a:pPr>
            <a:r>
              <a:rPr lang="en-US" sz="2600" kern="0" dirty="0">
                <a:latin typeface="Cambria"/>
                <a:ea typeface="+mn-lt"/>
                <a:cs typeface="+mn-lt"/>
              </a:rPr>
              <a:t> </a:t>
            </a:r>
            <a:r>
              <a:rPr lang="en-US" sz="2800" b="1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Security and Law Enforcement</a:t>
            </a:r>
            <a:r>
              <a:rPr lang="en-US" sz="2600" kern="0" dirty="0">
                <a:latin typeface="Cambria"/>
                <a:ea typeface="+mn-lt"/>
                <a:cs typeface="+mn-lt"/>
              </a:rPr>
              <a:t>: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Cambria"/>
                <a:ea typeface="+mn-lt"/>
                <a:cs typeface="+mn-lt"/>
              </a:rPr>
              <a:t>Stress detection in high-pressure situations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Cambria"/>
                <a:ea typeface="+mn-lt"/>
                <a:cs typeface="+mn-lt"/>
              </a:rPr>
              <a:t>Passenger screening at airports or borders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Cambria"/>
                <a:ea typeface="+mn-lt"/>
                <a:cs typeface="+mn-lt"/>
              </a:rPr>
              <a:t>Lie detection and deception analysis</a:t>
            </a:r>
          </a:p>
          <a:p>
            <a:pPr marL="283841" lvl="1" indent="0">
              <a:lnSpc>
                <a:spcPct val="110000"/>
              </a:lnSpc>
              <a:buNone/>
            </a:pPr>
            <a:endParaRPr lang="en-US" sz="2600" kern="0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110000"/>
              </a:lnSpc>
              <a:buFont typeface="Wingdings" panose="020B0604020202020204" pitchFamily="34" charset="0"/>
              <a:buChar char="v"/>
            </a:pPr>
            <a:r>
              <a:rPr lang="en-US" sz="2600" kern="0" dirty="0">
                <a:latin typeface="Cambria"/>
                <a:ea typeface="+mn-lt"/>
                <a:cs typeface="+mn-lt"/>
              </a:rPr>
              <a:t> </a:t>
            </a:r>
            <a:r>
              <a:rPr lang="en-US" sz="2600" b="1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Customer Service and Marketing</a:t>
            </a:r>
            <a:r>
              <a:rPr lang="en-US" sz="2600" kern="0" dirty="0">
                <a:solidFill>
                  <a:schemeClr val="accent2">
                    <a:lumMod val="50000"/>
                  </a:schemeClr>
                </a:solidFill>
                <a:latin typeface="Cambria"/>
                <a:ea typeface="+mn-lt"/>
                <a:cs typeface="+mn-lt"/>
              </a:rPr>
              <a:t>: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Cambria"/>
                <a:ea typeface="+mn-lt"/>
                <a:cs typeface="+mn-lt"/>
              </a:rPr>
              <a:t>Empathy detection in call centers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Cambria"/>
                <a:ea typeface="+mn-lt"/>
                <a:cs typeface="+mn-lt"/>
              </a:rPr>
              <a:t>Targeted marketing and advertising</a:t>
            </a:r>
          </a:p>
          <a:p>
            <a:endParaRPr lang="en-GB" sz="3203" kern="0" dirty="0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5D3B92C6-04EE-E724-9D2C-90690D09B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C3BE5F-D625-4A81-BFEA-14C801CD4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68E3755-311A-461B-BC42-0A56096A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11A3834-760E-44C2-AE10-A1EADE06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A56DBA5A-06AC-4750-8D0C-116BCB8A74EB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4499702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8229600" cy="2438400"/>
          </a:xfrm>
        </p:spPr>
        <p:txBody>
          <a:bodyPr/>
          <a:lstStyle/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Dataset Preparation</a:t>
            </a:r>
            <a:br>
              <a:rPr lang="en-GB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B406D6C-43A8-90DD-99D4-6E7A32A99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6C84D92-6E43-58AD-3695-65D094EE2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594" y="1130198"/>
            <a:ext cx="9791703" cy="4452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CF639-6E50-7395-F940-11BCF5BBC123}"/>
              </a:ext>
            </a:extLst>
          </p:cNvPr>
          <p:cNvSpPr txBox="1"/>
          <p:nvPr/>
        </p:nvSpPr>
        <p:spPr>
          <a:xfrm>
            <a:off x="3810000" y="5680362"/>
            <a:ext cx="4343400" cy="3131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77824">
              <a:spcAft>
                <a:spcPts val="600"/>
              </a:spcAft>
            </a:pPr>
            <a:endParaRPr lang="en-US" sz="3550" dirty="0">
              <a:latin typeface="Cambria"/>
              <a:ea typeface="Cambria"/>
            </a:endParaRP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Happy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Angry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Sad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Calm</a:t>
            </a:r>
            <a:r>
              <a:rPr lang="en-US" sz="3550" kern="1200" dirty="0">
                <a:latin typeface="Cambria"/>
                <a:ea typeface="Cambria"/>
                <a:cs typeface="Calibri Light"/>
              </a:rPr>
              <a:t>​</a:t>
            </a:r>
            <a:endParaRPr lang="en-US" sz="3550" dirty="0">
              <a:latin typeface="Cambria"/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067D5-7F01-09FB-E7D5-A2679AB634AB}"/>
              </a:ext>
            </a:extLst>
          </p:cNvPr>
          <p:cNvSpPr txBox="1"/>
          <p:nvPr/>
        </p:nvSpPr>
        <p:spPr>
          <a:xfrm>
            <a:off x="7010400" y="6279763"/>
            <a:ext cx="4343400" cy="2508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Disgust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Neutral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Fear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Cambria"/>
                <a:ea typeface="Cambria"/>
              </a:rPr>
              <a:t>Surprise</a:t>
            </a:r>
            <a:r>
              <a:rPr lang="en-US" sz="3550" kern="1200" dirty="0">
                <a:latin typeface="Cambria"/>
                <a:ea typeface="Cambria"/>
                <a:cs typeface="Calibri Light"/>
              </a:rPr>
              <a:t>​</a:t>
            </a:r>
            <a:endParaRPr lang="en-US" sz="3550" dirty="0">
              <a:latin typeface="Cambria"/>
              <a:ea typeface="Camb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BF426-ADF6-1079-122B-ECBCA3B7CC25}"/>
              </a:ext>
            </a:extLst>
          </p:cNvPr>
          <p:cNvSpPr txBox="1"/>
          <p:nvPr/>
        </p:nvSpPr>
        <p:spPr>
          <a:xfrm>
            <a:off x="4572000" y="5627634"/>
            <a:ext cx="5943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Cambria"/>
                <a:ea typeface="Cambria"/>
              </a:rPr>
              <a:t>Emotion</a:t>
            </a:r>
            <a:r>
              <a:rPr lang="en-US" sz="4000" kern="1200" dirty="0">
                <a:solidFill>
                  <a:srgbClr val="C00000"/>
                </a:solidFill>
                <a:latin typeface="Cambria"/>
                <a:ea typeface="Cambria"/>
              </a:rPr>
              <a:t> </a:t>
            </a:r>
            <a:r>
              <a:rPr lang="en-US" sz="4000" dirty="0">
                <a:solidFill>
                  <a:srgbClr val="C00000"/>
                </a:solidFill>
                <a:latin typeface="Cambria"/>
                <a:ea typeface="Cambria"/>
              </a:rPr>
              <a:t>Categories</a:t>
            </a:r>
            <a:endParaRPr lang="en-GB" sz="40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15919-76C7-9074-B1DB-F5EC071912F6}"/>
              </a:ext>
            </a:extLst>
          </p:cNvPr>
          <p:cNvSpPr txBox="1"/>
          <p:nvPr/>
        </p:nvSpPr>
        <p:spPr>
          <a:xfrm>
            <a:off x="5314319" y="5439839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5: Emotion categories</a:t>
            </a: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FE6550-EC4B-4CB7-937F-25A827ED1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647DC8C-F2AE-4C81-9AA9-0BECC4A6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3D6D8F9-387D-48AE-98CC-030ED95E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D5ECD6A6-4A1A-4027-8C12-F82966F4930A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107753572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Dataset Preparation(Cont.)</a:t>
            </a:r>
            <a:b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kern="0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2" name="Content Placeholder 3" descr="A diagram of a recording process&#10;&#10;Description automatically generated">
            <a:extLst>
              <a:ext uri="{FF2B5EF4-FFF2-40B4-BE49-F238E27FC236}">
                <a16:creationId xmlns:a16="http://schemas.microsoft.com/office/drawing/2014/main" id="{9A23708D-699B-F14A-A505-B958F4A1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09600" y="1219200"/>
            <a:ext cx="11811000" cy="328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15A864EA-B325-BA6B-38E2-3BA62DA60EAE}"/>
              </a:ext>
            </a:extLst>
          </p:cNvPr>
          <p:cNvSpPr txBox="1"/>
          <p:nvPr/>
        </p:nvSpPr>
        <p:spPr>
          <a:xfrm>
            <a:off x="4228870" y="4200794"/>
            <a:ext cx="7277329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Cambria"/>
                <a:ea typeface="Cambria"/>
              </a:rPr>
              <a:t>Figure 6: Flowchart for dataset preparation</a:t>
            </a:r>
            <a:endParaRPr lang="en-US" sz="2000" b="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09CD7E-0B84-CBDE-9CB1-F1921F1C8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77737"/>
              </p:ext>
            </p:extLst>
          </p:nvPr>
        </p:nvGraphicFramePr>
        <p:xfrm>
          <a:off x="3505200" y="5015359"/>
          <a:ext cx="6391278" cy="3728590"/>
        </p:xfrm>
        <a:graphic>
          <a:graphicData uri="http://schemas.openxmlformats.org/drawingml/2006/table">
            <a:tbl>
              <a:tblPr firstRow="1" bandRow="1"/>
              <a:tblGrid>
                <a:gridCol w="517538">
                  <a:extLst>
                    <a:ext uri="{9D8B030D-6E8A-4147-A177-3AD203B41FA5}">
                      <a16:colId xmlns:a16="http://schemas.microsoft.com/office/drawing/2014/main" val="2711636408"/>
                    </a:ext>
                  </a:extLst>
                </a:gridCol>
                <a:gridCol w="5873740">
                  <a:extLst>
                    <a:ext uri="{9D8B030D-6E8A-4147-A177-3AD203B41FA5}">
                      <a16:colId xmlns:a16="http://schemas.microsoft.com/office/drawing/2014/main" val="645132377"/>
                    </a:ext>
                  </a:extLst>
                </a:gridCol>
              </a:tblGrid>
              <a:tr h="33066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400" kern="1200" noProof="0" dirty="0">
                          <a:solidFill>
                            <a:srgbClr val="FFFFFF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kern="1200" noProof="0" dirty="0">
                          <a:solidFill>
                            <a:srgbClr val="FFFFFF"/>
                          </a:solidFill>
                          <a:latin typeface="Cambria"/>
                        </a:rPr>
                        <a:t>Sentences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15475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noProof="0" dirty="0">
                          <a:solidFill>
                            <a:srgbClr val="4D3E2F"/>
                          </a:solidFill>
                          <a:latin typeface="Cambria"/>
                        </a:rPr>
                        <a:t>1</a:t>
                      </a:r>
                      <a:endParaRPr lang="en-US" dirty="0">
                        <a:latin typeface="Cambria"/>
                      </a:endParaRP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We have to cancel our plans for tonight.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987399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dirty="0">
                          <a:latin typeface="Cambria"/>
                        </a:rPr>
                        <a:t>2</a:t>
                      </a:r>
                      <a:endParaRPr lang="en-US">
                        <a:latin typeface="Cambria"/>
                      </a:endParaRP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Argentina won the FIFA World Cup in Qatar.</a:t>
                      </a:r>
                      <a:endParaRPr lang="en-US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62036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Life is too short to waste time on regrets.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18994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It is very cold outside today in Saitama.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64271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Do not go outside at night.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39156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6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Students are gossiping in the class.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75950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7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Never underestimate the power of a positive attitude.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003932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>
                          <a:latin typeface="Cambria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He loves his family very much.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709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dirty="0">
                          <a:latin typeface="Cambria"/>
                        </a:rPr>
                        <a:t>9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The cat chases the mouse around the house.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550453"/>
                  </a:ext>
                </a:extLst>
              </a:tr>
              <a:tr h="339793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dirty="0">
                          <a:latin typeface="Cambria"/>
                        </a:rPr>
                        <a:t>10</a:t>
                      </a:r>
                    </a:p>
                  </a:txBody>
                  <a:tcPr>
                    <a:lnL w="12700" cmpd="sng">
                      <a:solidFill>
                        <a:srgbClr val="ED7D31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1600" u="none" strike="noStrike" baseline="0" noProof="0" dirty="0">
                          <a:solidFill>
                            <a:srgbClr val="4D3E2F"/>
                          </a:solidFill>
                          <a:latin typeface="Cambria"/>
                        </a:rPr>
                        <a:t>They are planning to go to Bangladesh.</a:t>
                      </a:r>
                      <a:endParaRPr lang="en-US" sz="1600" dirty="0">
                        <a:latin typeface="Cambria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ED7D31"/>
                      </a:solidFill>
                    </a:lnR>
                    <a:lnT w="12700" cmpd="sng">
                      <a:solidFill>
                        <a:srgbClr val="ED7D31"/>
                      </a:solidFill>
                    </a:lnT>
                    <a:lnB w="12700" cmpd="sng">
                      <a:solidFill>
                        <a:srgbClr val="ED7D3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81717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D7FF36-B13E-BF56-23DF-2F6B59281BFD}"/>
              </a:ext>
            </a:extLst>
          </p:cNvPr>
          <p:cNvSpPr txBox="1"/>
          <p:nvPr/>
        </p:nvSpPr>
        <p:spPr>
          <a:xfrm>
            <a:off x="3429000" y="4589702"/>
            <a:ext cx="43224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Cambria"/>
                <a:ea typeface="Cambria"/>
              </a:rPr>
              <a:t>Table 1: Sentences used for dataset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6075CE-A40F-43A1-AEAC-C7F0CD5C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AA817873-E8E2-472C-B369-444AEE86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C6E52AA-52F9-460B-8C0C-DDA57467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72F57D52-632C-4DEE-AF15-13A0BAD350C7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8586203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Dataset Preparation(Cont.)</a:t>
            </a:r>
            <a:b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kern="0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F0439-D584-DE30-D382-07944171C964}"/>
              </a:ext>
            </a:extLst>
          </p:cNvPr>
          <p:cNvSpPr txBox="1"/>
          <p:nvPr/>
        </p:nvSpPr>
        <p:spPr>
          <a:xfrm>
            <a:off x="675319" y="1084848"/>
            <a:ext cx="43224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Cambria"/>
                <a:ea typeface="Cambria"/>
              </a:rPr>
              <a:t>Table 2: Dataset summary</a:t>
            </a:r>
            <a:endParaRPr lang="en-US" sz="2000" b="1" dirty="0"/>
          </a:p>
        </p:txBody>
      </p:sp>
      <p:graphicFrame>
        <p:nvGraphicFramePr>
          <p:cNvPr id="9" name="Content Placeholder 16">
            <a:extLst>
              <a:ext uri="{FF2B5EF4-FFF2-40B4-BE49-F238E27FC236}">
                <a16:creationId xmlns:a16="http://schemas.microsoft.com/office/drawing/2014/main" id="{13546179-95E1-29CA-AD7F-2D57A2AA3B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78653"/>
              </p:ext>
            </p:extLst>
          </p:nvPr>
        </p:nvGraphicFramePr>
        <p:xfrm>
          <a:off x="716096" y="1469971"/>
          <a:ext cx="5166666" cy="6864360"/>
        </p:xfrm>
        <a:graphic>
          <a:graphicData uri="http://schemas.openxmlformats.org/drawingml/2006/table">
            <a:tbl>
              <a:tblPr firstRow="1" bandRow="1"/>
              <a:tblGrid>
                <a:gridCol w="1889442">
                  <a:extLst>
                    <a:ext uri="{9D8B030D-6E8A-4147-A177-3AD203B41FA5}">
                      <a16:colId xmlns:a16="http://schemas.microsoft.com/office/drawing/2014/main" val="4265033138"/>
                    </a:ext>
                  </a:extLst>
                </a:gridCol>
                <a:gridCol w="3277224">
                  <a:extLst>
                    <a:ext uri="{9D8B030D-6E8A-4147-A177-3AD203B41FA5}">
                      <a16:colId xmlns:a16="http://schemas.microsoft.com/office/drawing/2014/main" val="1053051556"/>
                    </a:ext>
                  </a:extLst>
                </a:gridCol>
              </a:tblGrid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Parameters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Types/Value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04951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Year of production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2023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529367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Language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English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295827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Dataset type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Acted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58301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File type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Audio only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413334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Sampling rate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48KHz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194300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Speakers number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28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560579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Emotions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58408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Sentences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94544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Number of audio clips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15680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52534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Average duration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4.5 sec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547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Software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Ocenaudio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83210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Dataset duration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70560 sec=19 hours 36 min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520576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Validators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80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036301"/>
                  </a:ext>
                </a:extLst>
              </a:tr>
              <a:tr h="45762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Recognition rate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latin typeface="Cambria"/>
                        </a:rPr>
                        <a:t>76.49%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7223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C56E4D87-F2F3-FAB2-2BA4-8748E1A2C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480522"/>
              </p:ext>
            </p:extLst>
          </p:nvPr>
        </p:nvGraphicFramePr>
        <p:xfrm>
          <a:off x="6553201" y="1440845"/>
          <a:ext cx="5891509" cy="6893484"/>
        </p:xfrm>
        <a:graphic>
          <a:graphicData uri="http://schemas.openxmlformats.org/drawingml/2006/table">
            <a:tbl>
              <a:tblPr bandRow="1"/>
              <a:tblGrid>
                <a:gridCol w="1459996">
                  <a:extLst>
                    <a:ext uri="{9D8B030D-6E8A-4147-A177-3AD203B41FA5}">
                      <a16:colId xmlns:a16="http://schemas.microsoft.com/office/drawing/2014/main" val="2806890996"/>
                    </a:ext>
                  </a:extLst>
                </a:gridCol>
                <a:gridCol w="1079984">
                  <a:extLst>
                    <a:ext uri="{9D8B030D-6E8A-4147-A177-3AD203B41FA5}">
                      <a16:colId xmlns:a16="http://schemas.microsoft.com/office/drawing/2014/main" val="1665734706"/>
                    </a:ext>
                  </a:extLst>
                </a:gridCol>
                <a:gridCol w="2213454">
                  <a:extLst>
                    <a:ext uri="{9D8B030D-6E8A-4147-A177-3AD203B41FA5}">
                      <a16:colId xmlns:a16="http://schemas.microsoft.com/office/drawing/2014/main" val="1720233628"/>
                    </a:ext>
                  </a:extLst>
                </a:gridCol>
                <a:gridCol w="1138075">
                  <a:extLst>
                    <a:ext uri="{9D8B030D-6E8A-4147-A177-3AD203B41FA5}">
                      <a16:colId xmlns:a16="http://schemas.microsoft.com/office/drawing/2014/main" val="2511182471"/>
                    </a:ext>
                  </a:extLst>
                </a:gridCol>
              </a:tblGrid>
              <a:tr h="827784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D18316"/>
                          </a:highlight>
                          <a:latin typeface="Cambria"/>
                        </a:rPr>
                        <a:t>Country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highlight>
                          <a:srgbClr val="D18316"/>
                        </a:highlight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8316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D18316"/>
                          </a:highlight>
                          <a:latin typeface="Cambria"/>
                        </a:rPr>
                        <a:t>Speaker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highlight>
                          <a:srgbClr val="D18316"/>
                        </a:highlight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8316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D18316"/>
                          </a:highlight>
                          <a:latin typeface="Cambria"/>
                        </a:rPr>
                        <a:t>English language  status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highlight>
                          <a:srgbClr val="D18316"/>
                        </a:highlight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8316"/>
                    </a:solidFill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highlight>
                            <a:srgbClr val="D18316"/>
                          </a:highlight>
                          <a:latin typeface="Cambria"/>
                        </a:rPr>
                        <a:t>Age  gro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D18316"/>
                          </a:highlight>
                          <a:latin typeface="Cambria"/>
                        </a:rPr>
                        <a:t>ups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highlight>
                          <a:srgbClr val="D18316"/>
                        </a:highlight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8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988043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Japan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30-40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653949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China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25-30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12564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Bangladesh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13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30-42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74654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Myanmar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25-35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916149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Sri Lanka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30-35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34765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Nigeria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30-35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575634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Nepal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30-35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427301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Malaysia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25-30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85344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Afghanistan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Officially recognized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25-30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38703"/>
                  </a:ext>
                </a:extLst>
              </a:tr>
              <a:tr h="606570"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Pakistan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1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Official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95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90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8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8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81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74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67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66" algn="l" defTabSz="914390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ase"/>
                      <a:r>
                        <a:rPr lang="en-US" sz="1400" dirty="0">
                          <a:solidFill>
                            <a:srgbClr val="4D3E2F"/>
                          </a:solidFill>
                          <a:effectLst/>
                          <a:latin typeface="Cambria"/>
                        </a:rPr>
                        <a:t>30-35</a:t>
                      </a:r>
                      <a:endParaRPr lang="en-US" dirty="0">
                        <a:solidFill>
                          <a:srgbClr val="4D3E2F"/>
                        </a:solidFill>
                        <a:effectLst/>
                        <a:latin typeface="Cambria"/>
                      </a:endParaRPr>
                    </a:p>
                  </a:txBody>
                  <a:tcPr marL="62389" marR="62389" marT="31185" marB="31185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83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9964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9F7B8F-EF6E-7939-4C1E-8F980C4E5BD7}"/>
              </a:ext>
            </a:extLst>
          </p:cNvPr>
          <p:cNvSpPr txBox="1"/>
          <p:nvPr/>
        </p:nvSpPr>
        <p:spPr>
          <a:xfrm>
            <a:off x="5955273" y="1065808"/>
            <a:ext cx="7025924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Cambria"/>
                <a:ea typeface="Cambria"/>
              </a:rPr>
              <a:t>Table 3: Speaker number and language status by country</a:t>
            </a:r>
          </a:p>
          <a:p>
            <a:pPr defTabSz="877824">
              <a:spcAft>
                <a:spcPts val="600"/>
              </a:spcAft>
            </a:pPr>
            <a:endParaRPr lang="en-US" sz="1600" dirty="0">
              <a:latin typeface="Cambria"/>
              <a:ea typeface="Cambri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E4C27-307B-4D6B-8C8A-21DB60504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68F11AB-EC91-497D-96D5-621EA748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028B33D-E6E1-4A41-A5F8-AEDE525A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D25EEF46-C1DB-4920-9FD8-FD920155CC1B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7788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891661" y="1230158"/>
            <a:ext cx="11658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It examined how well-untrained listeners identified emotional content in speech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Resource limits, student workload, and finding female raters were challenges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Collaboration with a Bangladeshi university provided access to a larger pool of raters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80 raters, 40 males and 40 females, assessed two sets of recordings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The evaluation focused solely on the acoustic information 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40 audio sets were carefully picked out, each consisting of 392 files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altLang="en-US" sz="24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articipants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chose one emotion to match an audio sample</a:t>
            </a: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Dataset Evaluation</a:t>
            </a:r>
            <a:b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kern="0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34FDD9-11F4-4FE5-931D-43E4DE430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36E3A0D4-7CDD-4284-AAF8-7FE8DB1F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2A65590-9278-4676-8D68-9DABD652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09F2297-9566-47D2-8F19-28A71C5B87B1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796849033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1006496" y="945590"/>
            <a:ext cx="1149030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The evaluation process was conducted in a controlled classroom environment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User login and activation-deactivation sessions were implemented for data security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Raters were required to register and verify their details</a:t>
            </a:r>
            <a:endParaRPr lang="en-US" altLang="en-US" sz="26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After registration, </a:t>
            </a:r>
            <a:r>
              <a:rPr lang="en-US" altLang="en-US" sz="26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kumimoji="0" lang="en-US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aters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could access designated audio files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Audio tracks were shuffled before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playback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to prevent predictability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The submit button remained inactive until the user had fully experienced the audio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Raters were allowed a 15-minute break after each 45-minute session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The administrator prevented raters from retaking the experiment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Reliability of Evaluation</a:t>
            </a:r>
            <a:b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</a:rPr>
            </a:br>
            <a:endParaRPr lang="en-US" b="1" kern="0" dirty="0">
              <a:solidFill>
                <a:srgbClr val="00B0F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485BB2-9E48-499D-BCA6-CD6AA9C83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2E400682-A924-4CF6-BF2C-1CDF64E8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A918FCF-3A83-48FC-B584-3BC98187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A161EB6B-305B-45FA-B066-65ED354B1A65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08269827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7A21F7B-B20B-3C97-A30C-5BA721CA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799" y="40481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Methodology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BDCE1-7E73-93B6-53C3-D4D744E4AD4B}"/>
              </a:ext>
            </a:extLst>
          </p:cNvPr>
          <p:cNvSpPr txBox="1"/>
          <p:nvPr/>
        </p:nvSpPr>
        <p:spPr>
          <a:xfrm>
            <a:off x="914400" y="722080"/>
            <a:ext cx="10896600" cy="681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Cambria"/>
                <a:ea typeface="Cambria"/>
              </a:rPr>
              <a:t>Data Collection and Preprocessing: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Cambria"/>
                <a:ea typeface="Cambria"/>
              </a:rPr>
              <a:t>Utilized the EmoBone dataset, processed using </a:t>
            </a:r>
            <a:r>
              <a:rPr lang="en-US" altLang="ja-JP" sz="2200" b="1" dirty="0">
                <a:latin typeface="Cambria"/>
                <a:ea typeface="Cambria"/>
              </a:rPr>
              <a:t>Python's </a:t>
            </a:r>
            <a:r>
              <a:rPr lang="en-US" altLang="ja-JP" sz="2200" b="1" dirty="0" err="1">
                <a:latin typeface="Cambria"/>
                <a:ea typeface="Cambria"/>
              </a:rPr>
              <a:t>torchaudio</a:t>
            </a:r>
            <a:r>
              <a:rPr lang="en-US" altLang="ja-JP" sz="2200" b="1" dirty="0">
                <a:latin typeface="Cambria"/>
                <a:ea typeface="Cambria"/>
              </a:rPr>
              <a:t> library</a:t>
            </a:r>
            <a:r>
              <a:rPr lang="en-US" altLang="ja-JP" sz="2200" dirty="0">
                <a:latin typeface="Cambria"/>
                <a:ea typeface="Cambria"/>
              </a:rPr>
              <a:t>, resampled, and transformed into feature representations using MFCC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Cambria"/>
                <a:ea typeface="Cambria"/>
              </a:rPr>
              <a:t>Model Architecture Design: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b="1" dirty="0">
                <a:solidFill>
                  <a:srgbClr val="7030A0"/>
                </a:solidFill>
                <a:latin typeface="Cambria"/>
                <a:ea typeface="Cambria"/>
              </a:rPr>
              <a:t>BiLSTM model:</a:t>
            </a:r>
            <a:r>
              <a:rPr lang="en-US" altLang="ja-JP" sz="2200" dirty="0">
                <a:solidFill>
                  <a:srgbClr val="7030A0"/>
                </a:solidFill>
                <a:latin typeface="Cambria"/>
                <a:ea typeface="Cambria"/>
              </a:rPr>
              <a:t> </a:t>
            </a:r>
            <a:r>
              <a:rPr lang="en-US" altLang="ja-JP" sz="2200" dirty="0">
                <a:latin typeface="Cambria"/>
                <a:ea typeface="Cambria"/>
              </a:rPr>
              <a:t>develop with bidirectional LSTM layers and a fully connected layer, and train it for emotion classification using </a:t>
            </a:r>
            <a:r>
              <a:rPr lang="en-US" altLang="ja-JP" sz="2200" dirty="0" err="1">
                <a:latin typeface="Cambria"/>
                <a:ea typeface="Cambria"/>
              </a:rPr>
              <a:t>PyTorch</a:t>
            </a:r>
            <a:r>
              <a:rPr lang="en-US" altLang="ja-JP" sz="2200" dirty="0">
                <a:latin typeface="Cambria"/>
                <a:ea typeface="Cambria"/>
              </a:rPr>
              <a:t> with the Adam optimizer over 100 epochs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Cambria"/>
                <a:ea typeface="Cambria"/>
              </a:rPr>
              <a:t>Training Process: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Cambria"/>
                <a:ea typeface="Cambria"/>
              </a:rPr>
              <a:t>trained using the same dataset, minimizing cross-entropy loss, and adjusting the learning rate to prevent overfitting and improve generalization performance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Cambria"/>
                <a:ea typeface="Cambria"/>
              </a:rPr>
              <a:t>Evaluation Measures: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Cambria"/>
                <a:ea typeface="Cambria"/>
              </a:rPr>
              <a:t>Assess model performance with accuracy, confusion matrices, and classification reports.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F612B1-E72B-4291-8E0D-EE9B22D6D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447A0416-9BC0-4E33-A1C4-5D3A40B6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1497919-CA13-4C7E-BAB5-4802FBC6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D07F820B-7AB4-4E47-A39E-FE67E35243CE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9609863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Results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12" name="テキスト ボックス 8">
            <a:extLst>
              <a:ext uri="{FF2B5EF4-FFF2-40B4-BE49-F238E27FC236}">
                <a16:creationId xmlns:a16="http://schemas.microsoft.com/office/drawing/2014/main" id="{296D7D5B-9F0D-DFD0-973E-889FB750B12B}"/>
              </a:ext>
            </a:extLst>
          </p:cNvPr>
          <p:cNvSpPr txBox="1"/>
          <p:nvPr/>
        </p:nvSpPr>
        <p:spPr>
          <a:xfrm>
            <a:off x="200724" y="7870606"/>
            <a:ext cx="6227704" cy="8508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7: </a:t>
            </a:r>
            <a:r>
              <a:rPr kumimoji="1" lang="en-GB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Training and Validation Loss and Accuracy</a:t>
            </a:r>
          </a:p>
          <a:p>
            <a:pPr algn="ctr">
              <a:lnSpc>
                <a:spcPct val="130000"/>
              </a:lnSpc>
            </a:pPr>
            <a:r>
              <a:rPr kumimoji="1" lang="en-GB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 over 100 epochs</a:t>
            </a:r>
            <a:endParaRPr kumimoji="1" lang="ja-JP" altLang="en-US" sz="2000" b="1" dirty="0">
              <a:latin typeface="Cambria" panose="02040503050406030204" pitchFamily="18" charset="0"/>
            </a:endParaRPr>
          </a:p>
        </p:txBody>
      </p:sp>
      <p:sp>
        <p:nvSpPr>
          <p:cNvPr id="20" name="テキスト ボックス 8">
            <a:extLst>
              <a:ext uri="{FF2B5EF4-FFF2-40B4-BE49-F238E27FC236}">
                <a16:creationId xmlns:a16="http://schemas.microsoft.com/office/drawing/2014/main" id="{6D04EA93-5FEA-43C0-B124-5C3F4CB29BD4}"/>
              </a:ext>
            </a:extLst>
          </p:cNvPr>
          <p:cNvSpPr txBox="1"/>
          <p:nvPr/>
        </p:nvSpPr>
        <p:spPr>
          <a:xfrm>
            <a:off x="7306685" y="7870606"/>
            <a:ext cx="5179586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8:  Confusion matrix using BLSTM</a:t>
            </a:r>
            <a:endParaRPr kumimoji="1" lang="ja-JP" altLang="en-US" sz="2000" b="1" dirty="0"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4AD0F-553B-46A5-83AA-9FD792796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4" y="1484840"/>
            <a:ext cx="6272800" cy="62704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59E28D-F790-4175-90A4-AC36191D3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115" y="1484840"/>
            <a:ext cx="5898762" cy="62704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6D1A08-3A72-4489-B79E-3EAA4EEF3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A0F8D667-6AC3-45B9-835A-FABA51EC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600C8B9-7DB0-4E0B-844C-148378D1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1AD3C46-BEE3-42E8-99F0-EDC898FE81B2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31453049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en-GB" b="1" u="sng" kern="0" dirty="0">
                <a:solidFill>
                  <a:srgbClr val="00B0F0"/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Results (Cont.)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12" name="テキスト ボックス 8">
            <a:extLst>
              <a:ext uri="{FF2B5EF4-FFF2-40B4-BE49-F238E27FC236}">
                <a16:creationId xmlns:a16="http://schemas.microsoft.com/office/drawing/2014/main" id="{296D7D5B-9F0D-DFD0-973E-889FB750B12B}"/>
              </a:ext>
            </a:extLst>
          </p:cNvPr>
          <p:cNvSpPr txBox="1"/>
          <p:nvPr/>
        </p:nvSpPr>
        <p:spPr>
          <a:xfrm>
            <a:off x="6720961" y="7847852"/>
            <a:ext cx="5491824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10: Receiver operating curve</a:t>
            </a:r>
            <a:endParaRPr kumimoji="1" lang="ja-JP" altLang="en-US" sz="2000" b="1" dirty="0"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4D230-AF93-4B53-A048-BAFEC9D04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02584"/>
            <a:ext cx="4876800" cy="63936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E7065-88EB-4801-B75C-43B471378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029" y="1302584"/>
            <a:ext cx="6659881" cy="6393616"/>
          </a:xfrm>
          <a:prstGeom prst="rect">
            <a:avLst/>
          </a:prstGeom>
        </p:spPr>
      </p:pic>
      <p:sp>
        <p:nvSpPr>
          <p:cNvPr id="16" name="テキスト ボックス 8">
            <a:extLst>
              <a:ext uri="{FF2B5EF4-FFF2-40B4-BE49-F238E27FC236}">
                <a16:creationId xmlns:a16="http://schemas.microsoft.com/office/drawing/2014/main" id="{831DCBF2-AB4C-4C4C-B925-107A1FA479B4}"/>
              </a:ext>
            </a:extLst>
          </p:cNvPr>
          <p:cNvSpPr txBox="1"/>
          <p:nvPr/>
        </p:nvSpPr>
        <p:spPr>
          <a:xfrm>
            <a:off x="-92795" y="7847852"/>
            <a:ext cx="5491824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9:  Emotion wise pie chart</a:t>
            </a:r>
            <a:endParaRPr kumimoji="1" lang="ja-JP" altLang="en-US" sz="2000" b="1" dirty="0">
              <a:latin typeface="Cambria" panose="020405030504060302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F4502D-C14C-499E-B6BC-1B552A517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715EB291-7810-44EF-A076-4EC2E1CC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E11410A-BD7D-475B-9D17-07F018EB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id="{BA5CB1A7-B231-4A9E-A68C-150462B8810F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9270061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24626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Results(Cont.)</a:t>
            </a: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20" name="テキスト ボックス 8">
            <a:extLst>
              <a:ext uri="{FF2B5EF4-FFF2-40B4-BE49-F238E27FC236}">
                <a16:creationId xmlns:a16="http://schemas.microsoft.com/office/drawing/2014/main" id="{6D04EA93-5FEA-43C0-B124-5C3F4CB29BD4}"/>
              </a:ext>
            </a:extLst>
          </p:cNvPr>
          <p:cNvSpPr txBox="1"/>
          <p:nvPr/>
        </p:nvSpPr>
        <p:spPr>
          <a:xfrm>
            <a:off x="3357599" y="7756696"/>
            <a:ext cx="6019800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11: Classification accuracy</a:t>
            </a:r>
            <a:endParaRPr kumimoji="1" lang="ja-JP" altLang="en-US" sz="2000" b="1" dirty="0">
              <a:latin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714CB-88B5-4D69-A572-F439FD639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46994"/>
            <a:ext cx="12420600" cy="59682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DFB7FE-62FA-41B4-9229-048696429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935D51C9-3ABB-4407-9345-93AB5F3A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469BF27-6E09-415E-9DDC-17AC792F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428CA463-19B7-4204-B2BE-AC43F221E778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10767645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E4AFA83-73B4-FB6B-8225-C630109B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02EAA8-41A5-8AE4-150F-6B1ED19A332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BCFBD55-BA3B-3374-7A23-6895D7C4E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DBA4C69-A974-19E2-FF13-01E035C05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161" y="665728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Discussion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E0FEB3-9C6A-D653-7AE4-964242D3C917}"/>
              </a:ext>
            </a:extLst>
          </p:cNvPr>
          <p:cNvSpPr txBox="1"/>
          <p:nvPr/>
        </p:nvSpPr>
        <p:spPr>
          <a:xfrm>
            <a:off x="1005970" y="1613014"/>
            <a:ext cx="78332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Cambria"/>
                <a:ea typeface="Cambria"/>
              </a:rPr>
              <a:t>Table 4: Comparison of accuracy across different studies </a:t>
            </a:r>
          </a:p>
        </p:txBody>
      </p:sp>
      <p:sp>
        <p:nvSpPr>
          <p:cNvPr id="2" name="Notched Right Arrow 1"/>
          <p:cNvSpPr/>
          <p:nvPr/>
        </p:nvSpPr>
        <p:spPr>
          <a:xfrm>
            <a:off x="152400" y="2559328"/>
            <a:ext cx="1089920" cy="786450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A8B2E-DE3A-4C34-B7E2-F26A783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39" y="2375575"/>
            <a:ext cx="9087361" cy="61267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7C29F1-3E87-4FDD-BC8B-8295DFE54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772AA85B-D837-43CF-85D8-320A4A7E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F6BD869-AAD9-4241-BCC0-46D96547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A97EA04C-CC5D-4E52-A851-2BDB74FB437F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12950810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140" y="860838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Discussion(Cont.)</a:t>
            </a: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E65E0-04C2-5C0B-82A8-302677A587E4}"/>
              </a:ext>
            </a:extLst>
          </p:cNvPr>
          <p:cNvSpPr txBox="1"/>
          <p:nvPr/>
        </p:nvSpPr>
        <p:spPr>
          <a:xfrm>
            <a:off x="914399" y="838200"/>
            <a:ext cx="10896601" cy="713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Balanced dataset impact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: 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 	Distribution of seven emotion classes enables unbiased model training and provides a robust foundation for performance evaluation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 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BiLSTM model performance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: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 	Effectively learns with steady loss reduction and accuracy gains, but struggles to distinguish between similar emotions like calm and neutral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,Sans-Serif"/>
              <a:buChar char="v"/>
              <a:tabLst/>
              <a:defRPr/>
            </a:pPr>
            <a:r>
              <a:rPr lang="en-US" sz="2200" b="1" dirty="0">
                <a:solidFill>
                  <a:srgbClr val="7030A0"/>
                </a:solidFill>
                <a:latin typeface="Cambria"/>
                <a:ea typeface="Cambria"/>
                <a:cs typeface="+mn-cs"/>
              </a:rPr>
              <a:t>Confusion matrix analysis</a:t>
            </a:r>
            <a:r>
              <a:rPr lang="en-US" sz="2200" b="1" dirty="0">
                <a:solidFill>
                  <a:prstClr val="black"/>
                </a:solidFill>
                <a:latin typeface="Cambria"/>
                <a:ea typeface="Cambria"/>
                <a:cs typeface="+mn-cs"/>
              </a:rPr>
              <a:t>: </a:t>
            </a:r>
            <a:r>
              <a:rPr lang="en-US" altLang="ja-JP" sz="2200" b="1" dirty="0">
                <a:solidFill>
                  <a:prstClr val="black"/>
                </a:solidFill>
                <a:latin typeface="Cambria"/>
                <a:ea typeface="Cambria"/>
                <a:cs typeface="+mn-cs"/>
              </a:rPr>
              <a:t> 	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 	Show that the prominent diagonal elements and improved performance across all emotion classes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,Sans-Serif"/>
              <a:buChar char="v"/>
              <a:defRPr/>
            </a:pPr>
            <a:r>
              <a:rPr lang="en-GB" sz="2200" b="1" dirty="0">
                <a:solidFill>
                  <a:srgbClr val="7030A0"/>
                </a:solidFill>
                <a:latin typeface="Cambria"/>
                <a:ea typeface="Cambria"/>
                <a:cs typeface="+mn-cs"/>
              </a:rPr>
              <a:t>Overall Accuracy Enhancement: 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 	Achieves a notable accuracy of </a:t>
            </a:r>
            <a:r>
              <a:rPr lang="en-US" altLang="ja-JP" sz="2200" dirty="0">
                <a:solidFill>
                  <a:prstClr val="black"/>
                </a:solidFill>
                <a:latin typeface="Cambria"/>
                <a:ea typeface="Cambria"/>
                <a:cs typeface="+mn-cs"/>
              </a:rPr>
              <a:t>85</a:t>
            </a: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.17%, surpassing the baseline of 72.50%, highlighting the BLSTM effectiveness in improving emotion recognition from bone-conducted speech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,Sans-Serif"/>
              <a:buChar char="v"/>
              <a:defRPr/>
            </a:pPr>
            <a:endParaRPr lang="en-US" sz="2200" b="1" dirty="0">
              <a:solidFill>
                <a:prstClr val="black"/>
              </a:solidFill>
              <a:latin typeface="Cambria"/>
              <a:ea typeface="Cambri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3D651C-20A3-4D30-ABBA-4465386FB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70CD48E2-86B9-406E-A0C6-1CD39E3D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044EC05-305D-4A97-A3ED-C6505245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B5FBE07-6F47-4B58-ADF2-099833CBDBF8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11952101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Conclusion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E65E0-04C2-5C0B-82A8-302677A587E4}"/>
              </a:ext>
            </a:extLst>
          </p:cNvPr>
          <p:cNvSpPr txBox="1"/>
          <p:nvPr/>
        </p:nvSpPr>
        <p:spPr>
          <a:xfrm>
            <a:off x="914400" y="1363923"/>
            <a:ext cx="11277599" cy="5990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Achievements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State-of-the-art accuracy of 85.17%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using the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EmoBone dataset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Demonstrated the effectiveness of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BiLSTM techniques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Significance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: Improved emotion classification for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BC speech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Addressed key challenges such as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information loss and degradation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Future Scope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: Incorporate transfer learning and multi-modal fusion for further performance improvement.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7BCE41-857B-4BC8-8217-924255E1B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B43EE01-7257-4ADE-BDB7-11DF55A2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239633-B681-4D05-B75E-00C581E5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42191E13-59DF-4EE9-B09B-B07FECB8EAA3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23370919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B29D06D-3C25-A858-CAFF-EA3827C0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BC528B-8541-3BD3-8FE5-B67008D52C1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3B912792-2D16-10A1-09F1-13DFF12E2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D92C9F7-C486-6D0F-50DA-035CC926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33400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  <a:t>References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Times New Roman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+mj-cs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C843B-1ED4-77A4-56B4-F138891D51CF}"/>
              </a:ext>
            </a:extLst>
          </p:cNvPr>
          <p:cNvSpPr txBox="1"/>
          <p:nvPr/>
        </p:nvSpPr>
        <p:spPr>
          <a:xfrm>
            <a:off x="942932" y="1066810"/>
            <a:ext cx="11506200" cy="789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/>
              <a:t>[1] </a:t>
            </a:r>
            <a:r>
              <a:rPr lang="en-US" dirty="0"/>
              <a:t>Z. Zhao, Z. Bao, Z. Zhang, N. Cummins, H. Wang, and B. W. </a:t>
            </a:r>
            <a:r>
              <a:rPr lang="en-US" dirty="0" err="1"/>
              <a:t>Schuller,“Attention</a:t>
            </a:r>
            <a:r>
              <a:rPr lang="en-US" dirty="0"/>
              <a:t>-enhanced connectionist temporal classification for discrete speech emotion recognition,” in Proc. </a:t>
            </a:r>
            <a:r>
              <a:rPr lang="en-US" dirty="0" err="1"/>
              <a:t>Interspeech</a:t>
            </a:r>
            <a:r>
              <a:rPr lang="en-US" dirty="0"/>
              <a:t>, pp. 206–210, 2019.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/>
              <a:t> [2] </a:t>
            </a:r>
            <a:r>
              <a:rPr lang="en-US" dirty="0"/>
              <a:t>N. </a:t>
            </a:r>
            <a:r>
              <a:rPr lang="en-US" dirty="0" err="1"/>
              <a:t>Mustaqeem</a:t>
            </a:r>
            <a:r>
              <a:rPr lang="en-US" dirty="0"/>
              <a:t> and S. Kwon, “A CNN-Assisted Enhanced Audio Signal Processing for Speech Emotion Recognition,” Sensors, vol. 20, no. 1, p. 183, Dec. 2019, </a:t>
            </a:r>
            <a:r>
              <a:rPr lang="en-US" dirty="0" err="1"/>
              <a:t>doi</a:t>
            </a:r>
            <a:r>
              <a:rPr lang="en-US" dirty="0"/>
              <a:t>: 10.3390/s20010183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[3]</a:t>
            </a:r>
            <a:r>
              <a:rPr lang="en-US" b="1" dirty="0"/>
              <a:t> </a:t>
            </a:r>
            <a:r>
              <a:rPr lang="en-US" dirty="0"/>
              <a:t>M. Chen, X. He, J. Yang, and H. Zhang, “3-D convolutional recur </a:t>
            </a:r>
            <a:r>
              <a:rPr lang="en-US" dirty="0" err="1"/>
              <a:t>rentneural</a:t>
            </a:r>
            <a:r>
              <a:rPr lang="en-US" dirty="0"/>
              <a:t> networks with attention model for speech emotion </a:t>
            </a:r>
            <a:r>
              <a:rPr lang="en-US" dirty="0" err="1"/>
              <a:t>recogni</a:t>
            </a:r>
            <a:r>
              <a:rPr lang="en-US" dirty="0"/>
              <a:t> </a:t>
            </a:r>
            <a:r>
              <a:rPr lang="en-US" dirty="0" err="1"/>
              <a:t>tion</a:t>
            </a:r>
            <a:r>
              <a:rPr lang="en-US" dirty="0"/>
              <a:t>,”IEEE Signal Process. Lett., vol. 25, no. 10, pp. 1440–1444, Oct. 2018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[4] </a:t>
            </a:r>
            <a:r>
              <a:rPr lang="en-US" dirty="0"/>
              <a:t>C. Etienne, G. Fidanza, A. </a:t>
            </a:r>
            <a:r>
              <a:rPr lang="en-US" dirty="0" err="1"/>
              <a:t>Petrovskii</a:t>
            </a:r>
            <a:r>
              <a:rPr lang="en-US" dirty="0"/>
              <a:t>, L. </a:t>
            </a:r>
            <a:r>
              <a:rPr lang="en-US" dirty="0" err="1"/>
              <a:t>Devillers</a:t>
            </a:r>
            <a:r>
              <a:rPr lang="en-US" dirty="0"/>
              <a:t>, and B. </a:t>
            </a:r>
            <a:r>
              <a:rPr lang="en-US" dirty="0" err="1"/>
              <a:t>Schmauch</a:t>
            </a:r>
            <a:r>
              <a:rPr lang="en-US" dirty="0"/>
              <a:t>,“CNN+LSTM architecture for speech emotion recognition with data </a:t>
            </a:r>
            <a:r>
              <a:rPr lang="en-US" dirty="0" err="1"/>
              <a:t>aug</a:t>
            </a:r>
            <a:r>
              <a:rPr lang="en-US" dirty="0"/>
              <a:t>-mentation,” 2018, arXiv:1802.05630.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[5]</a:t>
            </a:r>
            <a:r>
              <a:rPr lang="en-US" b="1" dirty="0"/>
              <a:t> </a:t>
            </a:r>
            <a:r>
              <a:rPr lang="en-US" dirty="0"/>
              <a:t>Z. Zhao, Y. Zhao, Z. Bao, H. Wang, Z. Zhang, and C. Li, “Deep spectrum feature representations for speech emotion recognition,” in Proc. </a:t>
            </a:r>
            <a:r>
              <a:rPr lang="en-US" dirty="0" err="1"/>
              <a:t>JointWorkshop</a:t>
            </a:r>
            <a:r>
              <a:rPr lang="en-US" dirty="0"/>
              <a:t> 4th Workshop Affect. Social Multimedia </a:t>
            </a:r>
            <a:r>
              <a:rPr lang="en-US" dirty="0" err="1"/>
              <a:t>Comput</a:t>
            </a:r>
            <a:r>
              <a:rPr lang="en-US" dirty="0"/>
              <a:t>. 1st Multi-Modal Affect. </a:t>
            </a:r>
            <a:r>
              <a:rPr lang="en-US" dirty="0" err="1"/>
              <a:t>Comput</a:t>
            </a:r>
            <a:r>
              <a:rPr lang="en-US" dirty="0"/>
              <a:t>. Large-Scale Multimedia Data, pp. 27–33, 2018.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[6]</a:t>
            </a:r>
            <a:r>
              <a:rPr lang="en-US" b="1" dirty="0"/>
              <a:t> </a:t>
            </a:r>
            <a:r>
              <a:rPr lang="en-US" dirty="0"/>
              <a:t>. </a:t>
            </a:r>
            <a:r>
              <a:rPr lang="en-US" dirty="0" err="1"/>
              <a:t>Satt</a:t>
            </a:r>
            <a:r>
              <a:rPr lang="en-US" dirty="0"/>
              <a:t>, S. </a:t>
            </a:r>
            <a:r>
              <a:rPr lang="en-US" dirty="0" err="1"/>
              <a:t>Rozenberg</a:t>
            </a:r>
            <a:r>
              <a:rPr lang="en-US" dirty="0"/>
              <a:t>, and R. </a:t>
            </a:r>
            <a:r>
              <a:rPr lang="en-US" dirty="0" err="1"/>
              <a:t>Hoory</a:t>
            </a:r>
            <a:r>
              <a:rPr lang="en-US" dirty="0"/>
              <a:t>, “Efficient Emotion Recognition from Speech Using Deep Learning on Spectrograms,” Aug. 2017, </a:t>
            </a:r>
            <a:r>
              <a:rPr lang="en-US" dirty="0" err="1"/>
              <a:t>doi</a:t>
            </a:r>
            <a:r>
              <a:rPr lang="en-US" dirty="0"/>
              <a:t>: 10.21437/interspeech.2017-200.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[7]</a:t>
            </a:r>
            <a:r>
              <a:rPr lang="en-US" b="1" dirty="0"/>
              <a:t> </a:t>
            </a:r>
            <a:r>
              <a:rPr lang="en-US" dirty="0"/>
              <a:t>A. M. Badshah, J. Ahmad, N. Rahim, and S. W. Baik, “Speech Emo </a:t>
            </a:r>
            <a:r>
              <a:rPr lang="en-US" dirty="0" err="1"/>
              <a:t>tion</a:t>
            </a:r>
            <a:r>
              <a:rPr lang="en-US" dirty="0"/>
              <a:t> Recognition from Spectrograms with Deep Convolutional Neural Network,” Feb. 2017, </a:t>
            </a:r>
            <a:r>
              <a:rPr lang="en-US" dirty="0" err="1"/>
              <a:t>doi</a:t>
            </a:r>
            <a:r>
              <a:rPr lang="en-US" dirty="0"/>
              <a:t>: 10.1109/platcon.2017.7883728.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[8]</a:t>
            </a:r>
            <a:r>
              <a:rPr lang="en-US" b="1" dirty="0"/>
              <a:t> </a:t>
            </a:r>
            <a:r>
              <a:rPr lang="en-US" dirty="0"/>
              <a:t>M. S. </a:t>
            </a:r>
            <a:r>
              <a:rPr lang="en-US" dirty="0" err="1"/>
              <a:t>Hosain</a:t>
            </a:r>
            <a:r>
              <a:rPr lang="en-US" dirty="0"/>
              <a:t>, Y. </a:t>
            </a:r>
            <a:r>
              <a:rPr lang="en-US" dirty="0" err="1"/>
              <a:t>Sugiura</a:t>
            </a:r>
            <a:r>
              <a:rPr lang="en-US" dirty="0"/>
              <a:t>, N. Yasui, and T. Shimamura, “Deep-Learning Based Speech Emotion Recognition Using Synthetic Bone-Conducted Speech,” Journal of Signal Processing, vol. 27, no. 6, pp. 151–163, Nov. 2023, </a:t>
            </a:r>
            <a:r>
              <a:rPr lang="en-US" dirty="0" err="1"/>
              <a:t>doi</a:t>
            </a:r>
            <a:r>
              <a:rPr lang="en-US" dirty="0"/>
              <a:t>: 10.2299/jsp.27.151.</a:t>
            </a:r>
            <a:endParaRPr kumimoji="0" lang="en-US" altLang="ja-JP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C6DAFE-82C4-46B8-855D-97D2E3080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9F48F74-4763-4E6B-8805-0C55E1F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1" y="8743951"/>
            <a:ext cx="2987040" cy="666750"/>
          </a:xfrm>
        </p:spPr>
        <p:txBody>
          <a:bodyPr/>
          <a:lstStyle/>
          <a:p>
            <a:pPr>
              <a:defRPr/>
            </a:pPr>
            <a:r>
              <a:rPr lang="en-US" sz="1799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February 27, 2025</a:t>
            </a:r>
            <a:endParaRPr lang="en-US" altLang="en-US" sz="1799" dirty="0">
              <a:solidFill>
                <a:srgbClr val="0070C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C74278C-E78F-4892-8D42-F94887BA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7439" y="8732839"/>
            <a:ext cx="2133600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3">
                <a:solidFill>
                  <a:schemeClr val="tx1"/>
                </a:solidFill>
                <a:latin typeface="Arial" pitchFamily="34" charset="0"/>
              </a:defRPr>
            </a:lvl1pPr>
            <a:lvl2pPr>
              <a:defRPr sz="2801">
                <a:solidFill>
                  <a:schemeClr val="tx1"/>
                </a:solidFill>
                <a:latin typeface="Arial" pitchFamily="34" charset="0"/>
              </a:defRPr>
            </a:lvl2pPr>
            <a:lvl3pPr>
              <a:defRPr sz="2401">
                <a:solidFill>
                  <a:schemeClr val="tx1"/>
                </a:solidFill>
                <a:latin typeface="Arial" pitchFamily="34" charset="0"/>
              </a:defRPr>
            </a:lvl3pPr>
            <a:lvl4pPr>
              <a:defRPr sz="2001">
                <a:solidFill>
                  <a:schemeClr val="tx1"/>
                </a:solidFill>
                <a:latin typeface="Arial" pitchFamily="34" charset="0"/>
              </a:defRPr>
            </a:lvl4pPr>
            <a:lvl5pPr>
              <a:defRPr sz="2001">
                <a:solidFill>
                  <a:schemeClr val="tx1"/>
                </a:solidFill>
                <a:latin typeface="Arial" pitchFamily="34" charset="0"/>
              </a:defRPr>
            </a:lvl5pPr>
            <a:lvl6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6pPr>
            <a:lvl7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7pPr>
            <a:lvl8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8pPr>
            <a:lvl9pPr eaLnBrk="0" hangingPunct="0">
              <a:defRPr sz="200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3E7BB-CBFD-4FDB-8D86-8CDCB61A52AA}" type="slidenum">
              <a:rPr kumimoji="0" lang="en-US" altLang="en-US" sz="1799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799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Arial" pitchFamily="34" charset="0"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3DF440E-55F5-4943-938B-084EF8344523}"/>
              </a:ext>
            </a:extLst>
          </p:cNvPr>
          <p:cNvSpPr txBox="1">
            <a:spLocks/>
          </p:cNvSpPr>
          <p:nvPr/>
        </p:nvSpPr>
        <p:spPr bwMode="auto">
          <a:xfrm>
            <a:off x="5791200" y="8743951"/>
            <a:ext cx="1219200" cy="666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en-US" sz="1799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NCSP’25</a:t>
            </a:r>
          </a:p>
        </p:txBody>
      </p:sp>
    </p:spTree>
    <p:extLst>
      <p:ext uri="{BB962C8B-B14F-4D97-AF65-F5344CB8AC3E}">
        <p14:creationId xmlns:p14="http://schemas.microsoft.com/office/powerpoint/2010/main" val="250471068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 txBox="1">
            <a:spLocks noGrp="1"/>
          </p:cNvSpPr>
          <p:nvPr>
            <p:ph idx="1"/>
          </p:nvPr>
        </p:nvSpPr>
        <p:spPr>
          <a:xfrm>
            <a:off x="2057409" y="1066810"/>
            <a:ext cx="8686801" cy="251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Cambria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Cambria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83091ADF-8551-D1C9-A7FE-DB16B1DF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4703" y="0"/>
            <a:ext cx="1835149" cy="40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D8CE4C-4B4E-265D-F131-D9AD699C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99" y="5791200"/>
            <a:ext cx="10668000" cy="17699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4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 for Your Kind Attention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4454EF-057B-9E9A-6334-0E2CC52A43A1}"/>
              </a:ext>
            </a:extLst>
          </p:cNvPr>
          <p:cNvSpPr txBox="1">
            <a:spLocks/>
          </p:cNvSpPr>
          <p:nvPr/>
        </p:nvSpPr>
        <p:spPr>
          <a:xfrm>
            <a:off x="1365396" y="7848600"/>
            <a:ext cx="10810878" cy="646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Please Give Your Valuable Comments and Suggestions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F53AE-438F-BC36-8F7E-36A706282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57200"/>
            <a:ext cx="8572500" cy="571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0493B-9E19-40BD-A025-D7ABC6C5D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3" y="0"/>
            <a:ext cx="909320" cy="9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158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heme1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19033</TotalTime>
  <Words>1864</Words>
  <Application>Microsoft Office PowerPoint</Application>
  <PresentationFormat>A3 Paper (297x420 mm)</PresentationFormat>
  <Paragraphs>391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Cambria</vt:lpstr>
      <vt:lpstr>Courier New</vt:lpstr>
      <vt:lpstr>Gill Sans MT</vt:lpstr>
      <vt:lpstr>Times New Roman</vt:lpstr>
      <vt:lpstr>Wingdings</vt:lpstr>
      <vt:lpstr>Wingdings,Sans-Serif</vt:lpstr>
      <vt:lpstr>Theme1</vt:lpstr>
      <vt:lpstr>Exploring the EmoBone Dataset with Bi-Directional LSTM for Emotion Recognition via Bone Conducted Speech</vt:lpstr>
      <vt:lpstr>Presentation Outline</vt:lpstr>
      <vt:lpstr>PowerPoint Presentation</vt:lpstr>
      <vt:lpstr>PowerPoint Presentation</vt:lpstr>
      <vt:lpstr>Introduction   </vt:lpstr>
      <vt:lpstr>Introduction(Cont.)    </vt:lpstr>
      <vt:lpstr>Introduction(Cont.)    </vt:lpstr>
      <vt:lpstr>Introduction(Cont.)    </vt:lpstr>
      <vt:lpstr>Dataset Preparation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Kind Attention</vt:lpstr>
    </vt:vector>
  </TitlesOfParts>
  <Company>Department of 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 Evaluation  of  A  Space Time  Trellis  Coded  MIMO-OFDM  Wireless  Communication     System</dc:title>
  <dc:creator>SARWAR SHAMOL</dc:creator>
  <cp:lastModifiedBy>Md Rifat Hossen</cp:lastModifiedBy>
  <cp:revision>556</cp:revision>
  <cp:lastPrinted>2024-08-20T17:51:41Z</cp:lastPrinted>
  <dcterms:created xsi:type="dcterms:W3CDTF">2010-01-18T02:31:14Z</dcterms:created>
  <dcterms:modified xsi:type="dcterms:W3CDTF">2025-02-26T08:12:40Z</dcterms:modified>
</cp:coreProperties>
</file>