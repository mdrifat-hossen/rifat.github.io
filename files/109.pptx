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4"/>
  </p:notesMasterIdLst>
  <p:handoutMasterIdLst>
    <p:handoutMasterId r:id="rId15"/>
  </p:handoutMasterIdLst>
  <p:sldIdLst>
    <p:sldId id="256" r:id="rId2"/>
    <p:sldId id="305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454486"/>
    <a:srgbClr val="FAA41A"/>
    <a:srgbClr val="00A0E3"/>
    <a:srgbClr val="C81E8A"/>
    <a:srgbClr val="286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816" y="72"/>
      </p:cViewPr>
      <p:guideLst>
        <p:guide orient="horz" pos="2160"/>
        <p:guide pos="3840"/>
        <p:guide pos="7296"/>
        <p:guide orient="horz" pos="4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2:59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33 24575,'2'4'0,"1"0"0,-1 0 0,0 0 0,0 1 0,0-1 0,0 1 0,-1 0 0,0-1 0,0 1 0,0 0 0,0 0 0,-1 9 0,2-1 0,3 41 0,-2 0 0,-5 75 0,1-125 0,1 0 0,-1 1 0,-1-1 0,1 1 0,-1-1 0,0 0 0,0 0 0,0 0 0,0 0 0,-1 0 0,1-1 0,-1 1 0,0-1 0,0 1 0,-1-1 0,1 0 0,0 0 0,-1-1 0,0 1 0,0-1 0,0 1 0,0-1 0,0-1 0,0 1 0,-9 2 0,10-3 0,-1 0 0,0 0 0,0-1 0,1 1 0,-1-1 0,0 0 0,0 0 0,1 0 0,-1 0 0,0-1 0,0 1 0,1-1 0,-1 0 0,0 0 0,1-1 0,-1 1 0,1-1 0,0 1 0,-1-1 0,1 0 0,0-1 0,0 1 0,0 0 0,0-1 0,1 0 0,-1 1 0,1-1 0,-1 0 0,1 0 0,0-1 0,-3-5 0,-38-116 0,-12-29 0,44 130 0,10 24 0,1 0 0,0 1 0,-1-1 0,1 0 0,0 0 0,-1 1 0,1-1 0,0 0 0,0 1 0,-1-1 0,1 0 0,0 1 0,0-1 0,0 1 0,0-1 0,-1 0 0,1 1 0,0-1 0,0 1 0,0-1 0,0 0 0,0 1 0,0-1 0,0 1 0,0-1 0,0 0 0,0 1 0,0-1 0,0 1 0,1-1 0,4 56 0,42 162 0,-34-382 0,2-37 0,-12 192 0,2 19 0,-5-8 0,1 0 0,0 1 0,1-1 0,-1 0 0,0 0 0,1 0 0,-1 0 0,1 0 0,3 3 0,-2-4 0,0 0 0,1 0 0,-1 0 0,1 0 0,-1-1 0,1 1 0,-1-1 0,1 0 0,0 0 0,-1 0 0,1-1 0,-1 1 0,1-1 0,-1 0 0,1 0 0,3-2 0,-3 2 0,1-1 0,-1 1 0,1 0 0,0 1 0,0-1 0,-1 1 0,9 0 0,-11 1 0,-1-1 0,1 1 0,0 0 0,-1-1 0,1 1 0,0 0 0,-1 0 0,1 0 0,-1 0 0,0 0 0,1 1 0,-1-1 0,0 0 0,0 1 0,0-1 0,0 0 0,0 1 0,0 0 0,0-1 0,0 1 0,0-1 0,-1 1 0,1 0 0,-1 0 0,1 2 0,11 67-1365,-6-30-5461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12.4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24569,'0'250'0,"603"-250"0,-603-250 0,-603 250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43.6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507 198 24575,'253'-18'0,"-150"7"0,-93 11 0,-1-2 0,1 1 0,0-2 0,-1 1 0,1-1 0,-1 0 0,12-7 0,-18 9 0,-1 0 0,0-1 0,1 1 0,-1-1 0,0 0 0,0 1 0,0-1 0,0 0 0,-1 0 0,1 0 0,0 0 0,-1-1 0,0 1 0,1 0 0,-1-1 0,0 1 0,0 0 0,0-1 0,0 0 0,-1 1 0,1-1 0,-1 1 0,0-1 0,1 0 0,-1 1 0,0-1 0,0 0 0,-1 1 0,1-1 0,-1 0 0,1 1 0,-2-3 0,1 1 0,-1 0 0,0 1 0,0-1 0,0 1 0,-1 0 0,1-1 0,-1 1 0,1 0 0,-1 1 0,0-1 0,0 0 0,-1 1 0,1 0 0,0-1 0,-1 1 0,1 1 0,-1-1 0,0 0 0,0 1 0,1 0 0,-1 0 0,-5-1 0,-11-2 0,0 1 0,0 1 0,-21 0 0,31 2 0,-352 6 0,244 8 0,-40 1 0,-3-15-1365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37.6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442 757 24575,'-2'-23'0,"-1"1"0,-1-1 0,-2 1 0,0 0 0,-1 1 0,-16-35 0,13 31 0,-75-192 0,81 208 0,0 0 0,0 1 0,0-1 0,-1 1 0,-10-12 0,13 18 0,1 0 0,-1 0 0,1 0 0,-1 0 0,0 1 0,0-1 0,0 1 0,0-1 0,0 1 0,-1 0 0,1 0 0,0 0 0,0 0 0,-1 0 0,1 0 0,-1 0 0,1 1 0,-1 0 0,1-1 0,-1 1 0,1 0 0,-1 0 0,1 0 0,-1 1 0,1-1 0,-1 0 0,-3 2 0,-4 3 0,1 0 0,-1 1 0,1 0 0,0 0 0,0 1 0,1 0 0,0 1 0,-13 15 0,6-5 0,1 0 0,1 2 0,-14 26 0,21-37 0,1 1 0,1 0 0,0 1 0,0-1 0,-4 22 0,8-32 0,0 0 0,0 1 0,0-1 0,0 0 0,0 0 0,0 1 0,0-1 0,1 0 0,-1 0 0,0 1 0,0-1 0,0 0 0,1 0 0,-1 1 0,0-1 0,0 0 0,0 0 0,1 0 0,-1 1 0,0-1 0,0 0 0,1 0 0,-1 0 0,0 0 0,1 0 0,-1 0 0,0 0 0,0 0 0,1 1 0,-1-1 0,0 0 0,1 0 0,-1 0 0,0 0 0,0-1 0,1 1 0,-1 0 0,0 0 0,1 0 0,-1 0 0,18-3 0,-12 2 0,91-10 0,190 5 0,-183 7 0,-20-1 0,207-5 0,-231 0 0,0-2 0,108-28 0,114-54 0,-35 11 0,-148 44 0,-84 23 0,-15 11 0,0-1 0,0 1 0,-1 0 0,1-1 0,0 1 0,0 0 0,0-1 0,0 1 0,-1 0 0,1-1 0,0 1 0,0 0 0,-1 0 0,1-1 0,0 1 0,0 0 0,-1 0 0,1 0 0,0-1 0,-1 1 0,1 0 0,0 0 0,-1 0 0,1 0 0,0 0 0,-1 0 0,1 0 0,-1 0 0,-40-5 0,-281 4 0,146 4 0,159-2 0,1 0 0,-1 1 0,1 0 0,-1 2 0,-19 6 0,-76 36 0,100-41 0,-9 5 0,-35 11 0,51-20 0,0 1 0,0-1 0,0 0 0,0-1 0,0 1 0,0-1 0,-1 0 0,1 0 0,0 0 0,0-1 0,0 0 0,0 0 0,-6-2 0,10 3 0,-1-1 0,1 1 0,0-1 0,0 0 0,-1 0 0,1 1 0,0-1 0,0 0 0,0 0 0,0 0 0,0 0 0,0 0 0,0 0 0,1-1 0,-1 1 0,0 0 0,0 0 0,1-1 0,-1 1 0,1 0 0,0-1 0,-1 1 0,1-2 0,-1 0 0,1 0 0,1 0 0,-1 0 0,0 0 0,1 0 0,-1 1 0,1-1 0,0 0 0,0 0 0,2-4 0,2-2 0,0 0 0,1 0 0,0 1 0,0-1 0,11-9 0,17-14 0,2 1 0,0 2 0,2 2 0,65-36 0,-88 58 163,-17 11 15,-18 15-1649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39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48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1 553 24575,'0'2'0,"0"-1"0,1 1 0,-1 0 0,1 0 0,-1 0 0,1 0 0,0 0 0,-1-1 0,1 1 0,0 0 0,1-1 0,-1 1 0,0 0 0,0-1 0,1 0 0,-1 1 0,0-1 0,1 0 0,0 1 0,-1-1 0,1 0 0,0 0 0,-1-1 0,1 1 0,0 0 0,2 0 0,8 3 0,0 0 0,1-1 0,13 2 0,-5-1 0,28 5 0,0-1 0,67 1 0,103-10 0,-91-1 0,-116 2 0,-3 1 0,1-1 0,0-1 0,18-3 0,-26 4 0,0-1 0,-1 1 0,1-1 0,0 1 0,0-1 0,0 0 0,-1 0 0,1 0 0,0 0 0,-1 0 0,1 0 0,-1 0 0,1-1 0,-1 1 0,1-1 0,-1 1 0,0-1 0,0 1 0,0-1 0,0 0 0,0 1 0,0-1 0,0 0 0,-1 0 0,1-2 0,0-4 0,0 0 0,-1 0 0,0-1 0,0 1 0,-1 0 0,0 0 0,-1 1 0,0-1 0,0 0 0,0 0 0,-6-10 0,-7-12 0,-25-41 0,21 38 0,4 9 0,2-1 0,1 0 0,1 0 0,1-2 0,1 1 0,1-1 0,2 0 0,0-1 0,2 0 0,1 1 0,1-39 0,5 65 0,3 8 0,7 17 0,-9-18 0,115 226 0,-104-204 0,-1 0 0,-1 2 0,-2-1 0,10 39 0,-18-59 0,-1 0 0,1 1 0,1-1 0,0 0 0,0 0 0,1-1 0,0 0 0,0 1 0,1-2 0,0 1 0,1-1 0,0 0 0,0 0 0,12 9 0,-7-8 0,1-1 0,0 0 0,0-1 0,1 0 0,0-1 0,0-1 0,0 0 0,0-1 0,17 2 0,130 10 0,198-8 0,-349-7 0,0-1 0,0-1 0,0 1 0,0-2 0,0 0 0,0 0 0,0 0 0,-1-1 0,1-1 0,-1 0 0,13-9 0,6-7 0,52-50 0,-37 32 0,-28 26-341,-1-1 0,-1 0-1,17-23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6:33:49.7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pPr/>
              <a:t>9/5/2025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30 March 2021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customXml" Target="../ink/ink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9469714-8E3D-B880-07E6-6653E38116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18" name="Freeform 5">
            <a:extLst>
              <a:ext uri="{FF2B5EF4-FFF2-40B4-BE49-F238E27FC236}">
                <a16:creationId xmlns:a16="http://schemas.microsoft.com/office/drawing/2014/main" id="{955EEA55-CBB0-9819-77D7-A383AD5922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41273" y="6014553"/>
            <a:ext cx="630587" cy="157647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25C60911-8721-C876-F3B7-F30583B50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8372" y="4350123"/>
            <a:ext cx="11244902" cy="0"/>
          </a:xfrm>
          <a:prstGeom prst="line">
            <a:avLst/>
          </a:prstGeom>
          <a:ln w="38100" cap="flat">
            <a:solidFill>
              <a:srgbClr val="1772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801C05-9BDF-1C3C-CF6A-19A01A73576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25651"/>
            <a:chOff x="0" y="0"/>
            <a:chExt cx="12192000" cy="625651"/>
          </a:xfrm>
        </p:grpSpPr>
        <p:sp>
          <p:nvSpPr>
            <p:cNvPr id="22" name="Flowchart: Process 21">
              <a:extLst>
                <a:ext uri="{FF2B5EF4-FFF2-40B4-BE49-F238E27FC236}">
                  <a16:creationId xmlns:a16="http://schemas.microsoft.com/office/drawing/2014/main" id="{2BACE5DC-8689-EC2D-4CE4-8E173E7566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441885"/>
            </a:xfrm>
            <a:prstGeom prst="flowChartProcess">
              <a:avLst/>
            </a:prstGeom>
            <a:solidFill>
              <a:srgbClr val="FAA4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C1611C6D-11C4-B6F2-4086-A5A27FBC5E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9086" y="441885"/>
              <a:ext cx="4992913" cy="183766"/>
            </a:xfrm>
            <a:prstGeom prst="flowChartProcess">
              <a:avLst/>
            </a:prstGeom>
            <a:solidFill>
              <a:srgbClr val="4544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DCFF666-11C7-6A44-EA7D-FF3285909D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67" y="4652664"/>
            <a:ext cx="1700983" cy="1700983"/>
          </a:xfrm>
          <a:prstGeom prst="rect">
            <a:avLst/>
          </a:prstGeom>
        </p:spPr>
      </p:pic>
      <p:sp>
        <p:nvSpPr>
          <p:cNvPr id="28" name="Subtitle 2"/>
          <p:cNvSpPr txBox="1">
            <a:spLocks/>
          </p:cNvSpPr>
          <p:nvPr/>
        </p:nvSpPr>
        <p:spPr>
          <a:xfrm>
            <a:off x="2327448" y="4805804"/>
            <a:ext cx="7832552" cy="1832024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Md. Rifat Hossen</a:t>
            </a:r>
            <a:b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</a:b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Department  of Information and Communication Engineering.</a:t>
            </a:r>
          </a:p>
          <a:p>
            <a:pPr marL="109728" indent="0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Garamond" pitchFamily="18" charset="0"/>
              </a:rPr>
              <a:t>Pabna University of Science and Technology, Pabna, Bangladesh.</a:t>
            </a:r>
          </a:p>
        </p:txBody>
      </p:sp>
      <p:sp>
        <p:nvSpPr>
          <p:cNvPr id="29" name="Title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0567" y="3548290"/>
            <a:ext cx="1364384" cy="62132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/>
                </a:solidFill>
                <a:latin typeface="Garamond" pitchFamily="18" charset="0"/>
              </a:rPr>
              <a:t>Topic:</a:t>
            </a:r>
            <a:endParaRPr lang="en-US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723717-82FC-4CCE-FF24-8E793EF508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0566" y="3009534"/>
            <a:ext cx="1859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Garamond" pitchFamily="18" charset="0"/>
              </a:rPr>
              <a:t>Paper ID:</a:t>
            </a:r>
            <a:endParaRPr lang="en-US" sz="3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2A9F14B-158E-A713-935C-C186A9DDAC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4566" y="904070"/>
            <a:ext cx="2297145" cy="5383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F75EB1-B75A-7055-AEB4-E2666B879C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01012" y="1083670"/>
            <a:ext cx="75332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RUEC 2025 1st International Research Conference (IRC)</a:t>
            </a:r>
            <a:endParaRPr lang="en-US" sz="2850" b="1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64755C-015B-0675-D16D-F3CE1708D0FD}"/>
              </a:ext>
            </a:extLst>
          </p:cNvPr>
          <p:cNvSpPr txBox="1">
            <a:spLocks/>
          </p:cNvSpPr>
          <p:nvPr/>
        </p:nvSpPr>
        <p:spPr>
          <a:xfrm>
            <a:off x="2148132" y="2033231"/>
            <a:ext cx="723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 err="1">
                <a:latin typeface="Bahnschrift" panose="020B0502040204020203" pitchFamily="34" charset="0"/>
                <a:cs typeface="Poppins" panose="00000500000000000000" pitchFamily="2" charset="0"/>
              </a:rPr>
              <a:t>Rajshahi</a:t>
            </a:r>
            <a:r>
              <a:rPr lang="en-GB" sz="1800" dirty="0">
                <a:latin typeface="Bahnschrift" panose="020B0502040204020203" pitchFamily="34" charset="0"/>
                <a:cs typeface="Poppins" panose="00000500000000000000" pitchFamily="2" charset="0"/>
              </a:rPr>
              <a:t> University Education Club, </a:t>
            </a:r>
            <a:r>
              <a:rPr lang="en-GB" sz="1800" dirty="0" err="1">
                <a:latin typeface="Bahnschrift" panose="020B0502040204020203" pitchFamily="34" charset="0"/>
                <a:cs typeface="Poppins" panose="00000500000000000000" pitchFamily="2" charset="0"/>
              </a:rPr>
              <a:t>Rajshahi</a:t>
            </a:r>
            <a:r>
              <a:rPr lang="en-GB" sz="1800" dirty="0">
                <a:latin typeface="Bahnschrift" panose="020B0502040204020203" pitchFamily="34" charset="0"/>
                <a:cs typeface="Poppins" panose="00000500000000000000" pitchFamily="2" charset="0"/>
              </a:rPr>
              <a:t>, Bangladesh</a:t>
            </a:r>
          </a:p>
          <a:p>
            <a:pPr algn="ctr"/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 6</a:t>
            </a:r>
            <a:r>
              <a:rPr lang="en-GB" baseline="30000" dirty="0">
                <a:latin typeface="Bahnschrift" panose="020B0502040204020203" pitchFamily="34" charset="0"/>
                <a:cs typeface="Poppins" panose="00000500000000000000" pitchFamily="2" charset="0"/>
              </a:rPr>
              <a:t>th  </a:t>
            </a:r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&amp;  7</a:t>
            </a:r>
            <a:r>
              <a:rPr lang="en-GB" baseline="30000" dirty="0">
                <a:latin typeface="Bahnschrift" panose="020B0502040204020203" pitchFamily="34" charset="0"/>
                <a:cs typeface="Poppins" panose="00000500000000000000" pitchFamily="2" charset="0"/>
              </a:rPr>
              <a:t>th </a:t>
            </a:r>
            <a:r>
              <a:rPr lang="en-GB" dirty="0">
                <a:latin typeface="Bahnschrift" panose="020B0502040204020203" pitchFamily="34" charset="0"/>
                <a:cs typeface="Poppins" panose="00000500000000000000" pitchFamily="2" charset="0"/>
              </a:rPr>
              <a:t> September 2025</a:t>
            </a:r>
            <a:endParaRPr lang="en-US" sz="1800" dirty="0">
              <a:latin typeface="Bahnschrift" panose="020B0502040204020203" pitchFamily="34" charset="0"/>
              <a:cs typeface="Poppins" panose="00000500000000000000" pitchFamily="2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3F79D6A-57C7-B0D8-5F94-C8BEE8F100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rcRect t="8680" r="8371" b="9357"/>
          <a:stretch/>
        </p:blipFill>
        <p:spPr>
          <a:xfrm>
            <a:off x="0" y="3063521"/>
            <a:ext cx="1998627" cy="116324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B2E8D1-7F04-8869-F69E-F91CAEEFFB7C}"/>
              </a:ext>
            </a:extLst>
          </p:cNvPr>
          <p:cNvSpPr txBox="1"/>
          <p:nvPr/>
        </p:nvSpPr>
        <p:spPr>
          <a:xfrm>
            <a:off x="1914756" y="3079625"/>
            <a:ext cx="26026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Garamond" pitchFamily="18" charset="0"/>
              </a:rPr>
              <a:t>109</a:t>
            </a:r>
            <a:endParaRPr lang="en-US" sz="32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5951AEC-3C41-58F7-03F4-F7EF708A2621}"/>
              </a:ext>
            </a:extLst>
          </p:cNvPr>
          <p:cNvSpPr txBox="1">
            <a:spLocks/>
          </p:cNvSpPr>
          <p:nvPr/>
        </p:nvSpPr>
        <p:spPr>
          <a:xfrm>
            <a:off x="1483569" y="3589664"/>
            <a:ext cx="10339068" cy="716713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300" b="1" dirty="0">
                <a:solidFill>
                  <a:srgbClr val="002060"/>
                </a:solidFill>
                <a:latin typeface="Garamond" pitchFamily="18" charset="0"/>
              </a:rPr>
              <a:t>Intelligent Overspeed Control in Autonomous Vehicles with DQN Deep Reinforcement Learning</a:t>
            </a:r>
            <a:endParaRPr lang="en-US" sz="2300" b="1" dirty="0">
              <a:solidFill>
                <a:srgbClr val="002060"/>
              </a:solidFill>
              <a:latin typeface="Baskerville Old Face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9844E-52C7-8D54-CBBC-A5C720CC692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606"/>
            <a:ext cx="2212433" cy="853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7A1EC-F37F-C860-F24F-AC8E294F97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6BF4A8-D391-B3E1-8172-B3C2EA424BFD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443D8BA2-03A0-6336-CE74-6A43CBCE6B01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ECABB491-5EAB-7C54-3ED9-97C6D6056F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947BAC2F-2E4D-0802-2B20-CF13EC498CB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7EA9F02-9350-8DA8-7B49-439BB52C51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12836029-CB8D-97B0-1FE7-90E088CCB5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3B01453C-1541-CF1E-E3B5-22A1056CE75F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2060"/>
                </a:solidFill>
                <a:cs typeface="Times New Roman" pitchFamily="18" charset="0"/>
              </a:rPr>
              <a:t>Outline of Presentation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60D9F363-BC1E-7F62-2F3A-558F0A4097AE}"/>
              </a:ext>
            </a:extLst>
          </p:cNvPr>
          <p:cNvSpPr txBox="1">
            <a:spLocks/>
          </p:cNvSpPr>
          <p:nvPr/>
        </p:nvSpPr>
        <p:spPr>
          <a:xfrm>
            <a:off x="609600" y="2249424"/>
            <a:ext cx="10972800" cy="345395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Research Background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Research Objective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Methodology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System Architecture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Key Findings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Discussion &amp; Implications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Conclusion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b="1" dirty="0">
                <a:solidFill>
                  <a:schemeClr val="tx1"/>
                </a:solidFill>
              </a:rPr>
              <a:t>Future Work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42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A459A6-A566-9522-DFBE-A96E383D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68BF87D-DA5D-B583-9808-8D041B5DE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6F5865BD-9026-2EA6-B450-3EA8150BCD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1CEF8-B2EE-66BF-5656-B2A4218F5096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8713DEE9-4320-7415-2017-47F7978883EA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685E6B38-DBD6-BB39-8CF0-109ACA734AC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8D202386-E79B-338B-5D1C-E37B86224F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BD6EBC2-8C8F-D780-8849-5BB2DC127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11" name="Title 9">
            <a:extLst>
              <a:ext uri="{FF2B5EF4-FFF2-40B4-BE49-F238E27FC236}">
                <a16:creationId xmlns:a16="http://schemas.microsoft.com/office/drawing/2014/main" id="{4EE8689A-4A66-41C0-CEF4-32ED1580F31D}"/>
              </a:ext>
            </a:extLst>
          </p:cNvPr>
          <p:cNvSpPr txBox="1">
            <a:spLocks/>
          </p:cNvSpPr>
          <p:nvPr/>
        </p:nvSpPr>
        <p:spPr>
          <a:xfrm>
            <a:off x="71120" y="894719"/>
            <a:ext cx="10972800" cy="10668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2060"/>
                </a:solidFill>
                <a:cs typeface="Times New Roman" pitchFamily="18" charset="0"/>
              </a:rPr>
              <a:t>Introduction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C134A4A4-ADB9-8118-33FF-D5C062162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086" y="2465755"/>
            <a:ext cx="112209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C1C361-52E9-4E8A-C694-D95C6DB60DC4}"/>
              </a:ext>
            </a:extLst>
          </p:cNvPr>
          <p:cNvSpPr txBox="1"/>
          <p:nvPr/>
        </p:nvSpPr>
        <p:spPr>
          <a:xfrm>
            <a:off x="3545840" y="2712720"/>
            <a:ext cx="365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C5D39A-1775-71AA-1FB2-9DD43A3F1EAF}"/>
              </a:ext>
            </a:extLst>
          </p:cNvPr>
          <p:cNvSpPr txBox="1"/>
          <p:nvPr/>
        </p:nvSpPr>
        <p:spPr>
          <a:xfrm>
            <a:off x="444102" y="1860761"/>
            <a:ext cx="11094755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cause 3700 deaths/ day (WHO)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Reckless driving &amp; over speeding in varying speed zones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safe speed limits across diverse environments ( residential, school, highway)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 intelligent speed control system to reduce road mishaps</a:t>
            </a:r>
          </a:p>
        </p:txBody>
      </p:sp>
    </p:spTree>
    <p:extLst>
      <p:ext uri="{BB962C8B-B14F-4D97-AF65-F5344CB8AC3E}">
        <p14:creationId xmlns:p14="http://schemas.microsoft.com/office/powerpoint/2010/main" val="250576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274B6-F100-32E1-A69D-28F4B661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A07091A-70BA-A449-AE12-0EE55B71C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CB9FF36-B7CE-A294-EF54-73D01CD27D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712A3-91C2-726C-B85D-DFFA2E82E43D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4EFA2FBC-68D0-3316-17C1-D54599516276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D5164F34-05DE-8734-125E-B5696C0125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6EFE88D4-65D8-3B58-5069-EDE23BEF6B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6718795-A72E-7058-279C-7F16A6179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E5D839C1-C70B-AD05-3366-EC066FC1028A}"/>
              </a:ext>
            </a:extLst>
          </p:cNvPr>
          <p:cNvSpPr txBox="1">
            <a:spLocks/>
          </p:cNvSpPr>
          <p:nvPr/>
        </p:nvSpPr>
        <p:spPr>
          <a:xfrm>
            <a:off x="71120" y="894719"/>
            <a:ext cx="10972800" cy="10668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Research Background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23D64-12AF-1B4A-A46E-E4D028469D5D}"/>
              </a:ext>
            </a:extLst>
          </p:cNvPr>
          <p:cNvSpPr txBox="1"/>
          <p:nvPr/>
        </p:nvSpPr>
        <p:spPr>
          <a:xfrm>
            <a:off x="767443" y="1562164"/>
            <a:ext cx="1107842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Traditional speed control has limited adaptability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Reinforcement learning is learned by interacting with the environment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Deep Reinforcement learning uses neural networks for better performance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Gap is that few studies address zone-specific speed control with deep Reinforcement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52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A9A92-5E34-3F30-9B29-2A4DB298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966E11C-71C1-3FE3-A28C-BDB41258C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54B657AE-6905-73E2-C7B0-79151A91B7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DE2D5-BCDC-4300-EF48-E5C83A503F88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988E7588-4A9A-4924-B6FD-C72F89CD7761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840B9656-4FAF-BF4E-9011-0CCBBEFBB7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B49C975C-089D-2924-FE84-D13FF4A3EED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6B389D7-78DF-A361-EBF2-C81DBD759D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8F66F50C-62C5-ADCB-A357-2BDD8F311C29}"/>
              </a:ext>
            </a:extLst>
          </p:cNvPr>
          <p:cNvSpPr txBox="1">
            <a:spLocks/>
          </p:cNvSpPr>
          <p:nvPr/>
        </p:nvSpPr>
        <p:spPr>
          <a:xfrm>
            <a:off x="71120" y="894719"/>
            <a:ext cx="10972800" cy="10668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Research Objective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9B457-83F8-538F-691C-20320B2C5DB4}"/>
              </a:ext>
            </a:extLst>
          </p:cNvPr>
          <p:cNvSpPr txBox="1"/>
          <p:nvPr/>
        </p:nvSpPr>
        <p:spPr>
          <a:xfrm>
            <a:off x="473529" y="1812471"/>
            <a:ext cx="11442119" cy="368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Deep Q-Network (DQN) based Deep RL method.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over-speeding across different zones.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intelligent deceleration (High, mid, low).</a:t>
            </a:r>
          </a:p>
          <a:p>
            <a:pPr marL="742950" lvl="1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vehicle speed to match zone limits.</a:t>
            </a:r>
          </a:p>
        </p:txBody>
      </p:sp>
    </p:spTree>
    <p:extLst>
      <p:ext uri="{BB962C8B-B14F-4D97-AF65-F5344CB8AC3E}">
        <p14:creationId xmlns:p14="http://schemas.microsoft.com/office/powerpoint/2010/main" val="306923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A963955-2616-4F9F-5540-DCC15AAEE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798" y="1200060"/>
            <a:ext cx="4970081" cy="445787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AF8F36-66CD-69E4-D6A1-CF6AC41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AE2CB328-45BA-D40E-8DD4-0906D8906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CC93C13-D2A2-75AD-9E30-8C3EB15290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D1DA2-9D00-E2FD-433C-A7C10DDE302E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47E4DBA6-D404-7101-3706-8198C3E88859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E1A109D8-BBAC-77CE-6786-80741FF7184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E440D8C9-1048-3BC3-C974-F7A9D0EB7EB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9F45273-B675-5608-D136-BF5196ED41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28FBB478-F61D-8C83-6433-6EFE55700185}"/>
              </a:ext>
            </a:extLst>
          </p:cNvPr>
          <p:cNvSpPr txBox="1">
            <a:spLocks/>
          </p:cNvSpPr>
          <p:nvPr/>
        </p:nvSpPr>
        <p:spPr>
          <a:xfrm>
            <a:off x="71120" y="515738"/>
            <a:ext cx="10972800" cy="76511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Methodology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777F6-5FA4-8D80-0701-D5A6B5E0B8AF}"/>
              </a:ext>
            </a:extLst>
          </p:cNvPr>
          <p:cNvSpPr txBox="1"/>
          <p:nvPr/>
        </p:nvSpPr>
        <p:spPr>
          <a:xfrm>
            <a:off x="136592" y="1076811"/>
            <a:ext cx="82420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 a 4x4 grid with zone-based speed limits (20-80km/h)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current speed, zone speed limit, and speed difference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Space: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Deceleration (-9.8 m/s2)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Deceleration (-5.9 m/s2)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Deceleration (-2.8 m/s2)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Function Encourages staying within sage speed limits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LSTM-based DQN for sequential state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82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50070B-49A7-B21C-3D17-D46CBBFB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8C95492A-2A25-D685-93EF-851D178CB6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2CC08EA-7CCC-FABF-B460-5164666C7B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FF34C9-C361-910C-96F1-DE08D8AEF101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C0D7D693-3DA7-8B1F-B8EB-D056C3FE85A2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81649FBA-6409-DD8C-64E8-6916381A1A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0FBCDF99-587D-170E-C79C-025B4EBF6F0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703BC97-7BE5-716D-668C-544032EE75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83E3D95A-20C5-4BA0-6E44-86A305CDBE22}"/>
              </a:ext>
            </a:extLst>
          </p:cNvPr>
          <p:cNvSpPr txBox="1">
            <a:spLocks/>
          </p:cNvSpPr>
          <p:nvPr/>
        </p:nvSpPr>
        <p:spPr>
          <a:xfrm>
            <a:off x="71120" y="515738"/>
            <a:ext cx="10972800" cy="76511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System Architecture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B4168E-7C57-63A7-0AB0-2904B9D56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3" y="1280854"/>
            <a:ext cx="6281531" cy="4186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123577-5EBC-5839-DC31-825315C1C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939" y="1354707"/>
            <a:ext cx="6029678" cy="37738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F2BEA1E-09D7-E5E8-0B2F-E2A673093BA6}"/>
                  </a:ext>
                </a:extLst>
              </p14:cNvPr>
              <p14:cNvContentPartPr/>
              <p14:nvPr/>
            </p14:nvContentPartPr>
            <p14:xfrm>
              <a:off x="9144062" y="2407053"/>
              <a:ext cx="109440" cy="159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F2BEA1E-09D7-E5E8-0B2F-E2A673093B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7942" y="2400933"/>
                <a:ext cx="1216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5E1E7E-E348-40CF-609D-12DBFF5E06CD}"/>
                  </a:ext>
                </a:extLst>
              </p14:cNvPr>
              <p14:cNvContentPartPr/>
              <p14:nvPr/>
            </p14:nvContentPartPr>
            <p14:xfrm>
              <a:off x="9092942" y="2417853"/>
              <a:ext cx="217440" cy="90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5E1E7E-E348-40CF-609D-12DBFF5E06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29942" y="2354853"/>
                <a:ext cx="3430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938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75802-ED92-CDB7-84B2-9FA3838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905C8D38-C59E-C1F6-AA46-6256FCCDD2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1BDA5A7-0A1E-AECA-43B0-778A6811B9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66C01-C9AC-272A-36B7-658F56E6DE9C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B3226D8C-53D6-0013-CEE5-45166DA4E387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151339B6-26C4-52AA-1075-8CA003269F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463ECDA2-2A82-4F8E-4BD9-B974E5FA61B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2EA3-02AA-F416-8F7A-D088595198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29AE1-18F6-21DE-28E8-BF00E76BC3D9}"/>
              </a:ext>
            </a:extLst>
          </p:cNvPr>
          <p:cNvSpPr txBox="1"/>
          <p:nvPr/>
        </p:nvSpPr>
        <p:spPr>
          <a:xfrm>
            <a:off x="1980372" y="625651"/>
            <a:ext cx="6107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9A63D1-EE0A-597E-919B-D5E9748DF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45" y="1426750"/>
            <a:ext cx="3481800" cy="4247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638073-09EC-B175-8110-191C1D8D0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64" y="1426750"/>
            <a:ext cx="7103253" cy="454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2CB80-B32F-27F3-809E-FE8FE86B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B634EA4-4CDE-31AE-BB3A-D23EAC856D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E72D901-C7FC-E3AD-C4E8-A9DBDC15B2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B3FAC8-E50B-32E1-E3E9-CE84286CAC12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5250AC35-D65E-3BE0-6DAB-5C8DA756D312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91272A44-59F9-DA25-A477-40C65D7682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1293ED2F-7F6B-B95C-4825-46CFB49F73E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D7B6D3D-95A4-32DB-6B6F-8577B3094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6FE42F-3601-FE78-3165-4FA71E1FF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09" y="1590261"/>
            <a:ext cx="4629190" cy="36079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F49A91-6E8B-F18E-E247-AA77EE581B42}"/>
              </a:ext>
            </a:extLst>
          </p:cNvPr>
          <p:cNvSpPr txBox="1"/>
          <p:nvPr/>
        </p:nvSpPr>
        <p:spPr>
          <a:xfrm>
            <a:off x="2595861" y="529827"/>
            <a:ext cx="70884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Discussion &amp; Implications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D239D-560E-E90D-624D-F9FC88AD6E79}"/>
              </a:ext>
            </a:extLst>
          </p:cNvPr>
          <p:cNvSpPr txBox="1"/>
          <p:nvPr/>
        </p:nvSpPr>
        <p:spPr>
          <a:xfrm>
            <a:off x="544363" y="1670767"/>
            <a:ext cx="7018446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proposed model successfully reduces over-speeding in diverse zones.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DQN-based control adapts to uncertain environments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Our contribution to demonstrate zone-specific Deep RL-Based Speed control.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Practical Impact is that it supports safer autonomous and semi-autonomous driving systems.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F766223-9ED0-C66C-00C7-68146E536468}"/>
                  </a:ext>
                </a:extLst>
              </p14:cNvPr>
              <p14:cNvContentPartPr/>
              <p14:nvPr/>
            </p14:nvContentPartPr>
            <p14:xfrm>
              <a:off x="11016782" y="2092053"/>
              <a:ext cx="355320" cy="71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F766223-9ED0-C66C-00C7-68146E5364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3782" y="2029053"/>
                <a:ext cx="48096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2E6C0B7-BFCA-09AA-39F6-4D94D1CF61C2}"/>
              </a:ext>
            </a:extLst>
          </p:cNvPr>
          <p:cNvGrpSpPr/>
          <p:nvPr/>
        </p:nvGrpSpPr>
        <p:grpSpPr>
          <a:xfrm>
            <a:off x="10795742" y="1900533"/>
            <a:ext cx="693720" cy="292320"/>
            <a:chOff x="10795742" y="1900533"/>
            <a:chExt cx="6937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D19193-F513-39B9-F4D9-3B09459ABB77}"/>
                    </a:ext>
                  </a:extLst>
                </p14:cNvPr>
                <p14:cNvContentPartPr/>
                <p14:nvPr/>
              </p14:nvContentPartPr>
              <p14:xfrm>
                <a:off x="10804022" y="1900533"/>
                <a:ext cx="658080" cy="27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D19193-F513-39B9-F4D9-3B09459ABB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41382" y="1837893"/>
                  <a:ext cx="7837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F234AD-1DB3-F073-C821-C17BED29A008}"/>
                    </a:ext>
                  </a:extLst>
                </p14:cNvPr>
                <p14:cNvContentPartPr/>
                <p14:nvPr/>
              </p14:nvContentPartPr>
              <p14:xfrm>
                <a:off x="11414942" y="215289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F234AD-1DB3-F073-C821-C17BED29A0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52302" y="209025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887FFC-4EF9-AD6B-B6DB-DA5E7D240354}"/>
                    </a:ext>
                  </a:extLst>
                </p14:cNvPr>
                <p14:cNvContentPartPr/>
                <p14:nvPr/>
              </p14:nvContentPartPr>
              <p14:xfrm>
                <a:off x="10795742" y="1954173"/>
                <a:ext cx="693720" cy="238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887FFC-4EF9-AD6B-B6DB-DA5E7D2403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33102" y="1891533"/>
                  <a:ext cx="81936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81B00F-202F-8ADC-160D-AAD9EA97DC75}"/>
                  </a:ext>
                </a:extLst>
              </p14:cNvPr>
              <p14:cNvContentPartPr/>
              <p14:nvPr/>
            </p14:nvContentPartPr>
            <p14:xfrm>
              <a:off x="11208662" y="1583013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81B00F-202F-8ADC-160D-AAD9EA97D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46022" y="152001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04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8E4DF2-946D-312E-731B-72D10DFB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E894B700-A7FC-4436-95C8-00A27ABA8C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FE52526-6890-A32D-9BB2-D49D062B67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D712BA-AE88-1A95-31D0-8996415BB2B8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8A3D4070-2433-C54F-CC74-6744DF3282FA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8A3244C1-C686-92CB-A46B-7EB55CB92B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2D813FBE-8427-122A-C174-1DDCC6DE27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DF537DC-89FB-82C5-1252-57364524FC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D23966-52ED-2136-3428-12F49E37FEF0}"/>
              </a:ext>
            </a:extLst>
          </p:cNvPr>
          <p:cNvSpPr txBox="1"/>
          <p:nvPr/>
        </p:nvSpPr>
        <p:spPr>
          <a:xfrm>
            <a:off x="2278546" y="625651"/>
            <a:ext cx="6107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15FE4F-0B3E-7B1F-22C3-30297EE965B9}"/>
              </a:ext>
            </a:extLst>
          </p:cNvPr>
          <p:cNvSpPr txBox="1"/>
          <p:nvPr/>
        </p:nvSpPr>
        <p:spPr>
          <a:xfrm>
            <a:off x="1040277" y="1911456"/>
            <a:ext cx="11111083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mishaps can be mitigated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DQN-based Deep RL speed control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LSTM-DQN effectively selects deceleration levels under varied conditions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speed control improves road safety.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simulation results validate effectiveness</a:t>
            </a:r>
          </a:p>
        </p:txBody>
      </p:sp>
    </p:spTree>
    <p:extLst>
      <p:ext uri="{BB962C8B-B14F-4D97-AF65-F5344CB8AC3E}">
        <p14:creationId xmlns:p14="http://schemas.microsoft.com/office/powerpoint/2010/main" val="314190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DE8FD-252D-C142-0D6B-6349D261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552501FF-7454-F48C-E827-22E134D8E3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BEE3DF4-115B-312C-58B1-1F7FD71939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D873C-9F12-6362-1966-FEECC9323A7E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08998AEB-3D25-6639-B585-F6569B6F729B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7EE5574F-4E8B-1715-224E-E22512B0716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9562BD5F-E09C-AF78-24C6-E2E8131100D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10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24A6C4A-795D-5F8E-B07D-93FFD6803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744EBC-1500-59F1-1EF9-D79683A1E65F}"/>
              </a:ext>
            </a:extLst>
          </p:cNvPr>
          <p:cNvSpPr txBox="1"/>
          <p:nvPr/>
        </p:nvSpPr>
        <p:spPr>
          <a:xfrm>
            <a:off x="2278546" y="625651"/>
            <a:ext cx="6107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70600-0B6E-58E6-9066-EAAEBFF0F14C}"/>
              </a:ext>
            </a:extLst>
          </p:cNvPr>
          <p:cNvSpPr txBox="1"/>
          <p:nvPr/>
        </p:nvSpPr>
        <p:spPr>
          <a:xfrm>
            <a:off x="1036320" y="1679714"/>
            <a:ext cx="9822700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to real-world driving datasets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complex traffic scenarios.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pedestrian/collision detection modules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real-time deployment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43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05D9C7-7A69-E215-D9E5-C7CCEC0A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1F56C45E-87DA-C591-9F1F-08471A630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441885"/>
          </a:xfrm>
          <a:prstGeom prst="flowChartProcess">
            <a:avLst/>
          </a:prstGeom>
          <a:solidFill>
            <a:srgbClr val="FAA4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D639E0C4-E558-003B-6BCA-EE67A884E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9086" y="441885"/>
            <a:ext cx="4992913" cy="183766"/>
          </a:xfrm>
          <a:prstGeom prst="flowChartProcess">
            <a:avLst/>
          </a:prstGeom>
          <a:solidFill>
            <a:srgbClr val="4544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3A95F-1FE1-4141-E3C4-44FFBDB9ABDA}"/>
              </a:ext>
            </a:extLst>
          </p:cNvPr>
          <p:cNvSpPr/>
          <p:nvPr/>
        </p:nvSpPr>
        <p:spPr>
          <a:xfrm>
            <a:off x="71120" y="6228080"/>
            <a:ext cx="12080240" cy="627648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Education Club,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Rajshahi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Bangladesh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 7</a:t>
            </a:r>
            <a:r>
              <a:rPr lang="en-GB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2025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C74BC91B-A9F5-729D-8CE1-6523C98465C1}"/>
              </a:ext>
            </a:extLst>
          </p:cNvPr>
          <p:cNvGrpSpPr/>
          <p:nvPr/>
        </p:nvGrpSpPr>
        <p:grpSpPr>
          <a:xfrm>
            <a:off x="11538857" y="5828369"/>
            <a:ext cx="338772" cy="362537"/>
            <a:chOff x="0" y="0"/>
            <a:chExt cx="812800" cy="869819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8051FACB-F7B3-01DD-21CD-755BD0DF6A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A9F72F04-074F-EDDA-2E55-8B0E62B7B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7"/>
                </a:lnSpc>
                <a:spcBef>
                  <a:spcPct val="0"/>
                </a:spcBef>
              </a:pPr>
              <a:r>
                <a:rPr lang="en-US" sz="1133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11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DAE0DFB-5F5C-3073-78C2-9FBD8BF307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032"/>
            <a:ext cx="2072640" cy="627648"/>
          </a:xfrm>
          <a:prstGeom prst="rect">
            <a:avLst/>
          </a:prstGeom>
        </p:spPr>
      </p:pic>
      <p:sp>
        <p:nvSpPr>
          <p:cNvPr id="2" name="Title 12">
            <a:extLst>
              <a:ext uri="{FF2B5EF4-FFF2-40B4-BE49-F238E27FC236}">
                <a16:creationId xmlns:a16="http://schemas.microsoft.com/office/drawing/2014/main" id="{3CC0DB22-899F-A913-A453-5786488FF444}"/>
              </a:ext>
            </a:extLst>
          </p:cNvPr>
          <p:cNvSpPr txBox="1">
            <a:spLocks/>
          </p:cNvSpPr>
          <p:nvPr/>
        </p:nvSpPr>
        <p:spPr>
          <a:xfrm>
            <a:off x="1839924" y="2201500"/>
            <a:ext cx="7880272" cy="2372106"/>
          </a:xfrm>
          <a:prstGeom prst="rect">
            <a:avLst/>
          </a:prstGeom>
        </p:spPr>
        <p:txBody>
          <a:bodyPr vert="horz" anchor="ctr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itchFamily="66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68200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f03460604_win32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tf03460604_win32</Template>
  <TotalTime>595</TotalTime>
  <Words>566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Bahnschrift</vt:lpstr>
      <vt:lpstr>Baskerville Old Face</vt:lpstr>
      <vt:lpstr>Calibri</vt:lpstr>
      <vt:lpstr>Edwardian Script ITC</vt:lpstr>
      <vt:lpstr>Garamond</vt:lpstr>
      <vt:lpstr>Georgia</vt:lpstr>
      <vt:lpstr>Gotham</vt:lpstr>
      <vt:lpstr>Poppins</vt:lpstr>
      <vt:lpstr>Times New Roman</vt:lpstr>
      <vt:lpstr>Wingdings</vt:lpstr>
      <vt:lpstr>Wingdings 2</vt:lpstr>
      <vt:lpstr>tf03460604_win32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joo</dc:creator>
  <cp:lastModifiedBy>Md Rifat Hossen</cp:lastModifiedBy>
  <cp:revision>37</cp:revision>
  <dcterms:created xsi:type="dcterms:W3CDTF">2021-03-30T06:05:31Z</dcterms:created>
  <dcterms:modified xsi:type="dcterms:W3CDTF">2025-09-05T13:27:01Z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